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61ce037f064ff5" /><Relationship Type="http://schemas.openxmlformats.org/officeDocument/2006/relationships/extended-properties" Target="/docProps/app.xml" Id="R3d75314d0db84032" /><Relationship Type="http://schemas.openxmlformats.org/officeDocument/2006/relationships/officeDocument" Target="/ppt/presentation.xml" Id="R4bd1e337536b40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1791008f584ab8"/>
  </p:sldMasterIdLst>
  <p:notesMasterIdLst>
    <p:notesMasterId xmlns:r="http://schemas.openxmlformats.org/officeDocument/2006/relationships" r:id="R0c668909c6b245a3"/>
  </p:notesMasterIdLst>
  <p:sldIdLst>
    <p:sldId xmlns:r="http://schemas.openxmlformats.org/officeDocument/2006/relationships" id="256" r:id="R5b85581b120141c4"/>
    <p:sldId xmlns:r="http://schemas.openxmlformats.org/officeDocument/2006/relationships" id="257" r:id="R25e93e1780f34434"/>
    <p:sldId xmlns:r="http://schemas.openxmlformats.org/officeDocument/2006/relationships" id="258" r:id="R1b7580d7dd4e41d7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d252e33f1d413f" /><Relationship Type="http://schemas.openxmlformats.org/officeDocument/2006/relationships/slideMaster" Target="/ppt/slideMasters/slideMaster1.xml" Id="Rd51791008f584ab8" /><Relationship Type="http://schemas.openxmlformats.org/officeDocument/2006/relationships/notesMaster" Target="/ppt/notesMasters/notesMaster1.xml" Id="R0c668909c6b245a3" /><Relationship Type="http://schemas.openxmlformats.org/officeDocument/2006/relationships/presProps" Target="/ppt/presProps.xml" Id="R7f7bb3c26515427e" /><Relationship Type="http://schemas.openxmlformats.org/officeDocument/2006/relationships/tableStyles" Target="/ppt/tableStyles.xml" Id="Rb09751ed3591443c" /><Relationship Type="http://schemas.openxmlformats.org/officeDocument/2006/relationships/slide" Target="/ppt/slides/slide1.xml" Id="R5b85581b120141c4" /><Relationship Type="http://schemas.openxmlformats.org/officeDocument/2006/relationships/slide" Target="/ppt/slides/slide2.xml" Id="R25e93e1780f34434" /><Relationship Type="http://schemas.openxmlformats.org/officeDocument/2006/relationships/slide" Target="/ppt/slides/slide3.xml" Id="R1b7580d7dd4e41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84c865ad2445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ee921ff9504ad2" /><Relationship Type="http://schemas.openxmlformats.org/officeDocument/2006/relationships/notesMaster" Target="/ppt/notesMasters/notesMaster1.xml" Id="Rfe3c21db54fb4b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298a051b0a4d18" /><Relationship Type="http://schemas.openxmlformats.org/officeDocument/2006/relationships/notesMaster" Target="/ppt/notesMasters/notesMaster1.xml" Id="R69f69f7bdbd14f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94808652db4da1" /><Relationship Type="http://schemas.openxmlformats.org/officeDocument/2006/relationships/notesMaster" Target="/ppt/notesMasters/notesMaster1.xml" Id="R8b7b094d5d5146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主图对应 submission.fit_final/infer 默认路径，非旧的 CLS 单帧基线。C 表示通道拼接 concat，时序加号为残差相加。图像来自本地数据集 video01 frame042030，仅作输入示例。输出阶段条是示意，非模型实际预测。N 为有效帧，T 为含缺帧秒的时间线长度。线性头训练时用留视频交叉拟合，推理只加载一个全训练侧拟合头。51=13+32+6，头证据经过 log_softmax/截断/缩放。网络输出在有效帧处提取，再平均5个种子的最终 log_softmax 并进行精确约束解码。默认最终提交无 motion 输入。Advanced 额外边界吸附、30fps分段扩展与x覆盖未画在神经主图中。</a:t>
            </a:r>
          </a:p>
          <a:p xmlns:a="http://schemas.openxmlformats.org/drawingml/2006/main">
            <a:r>
              <a:t>代码依据（工作区 2026-10-07）：</a:t>
            </a:r>
          </a:p>
          <a:p xmlns:a="http://schemas.openxmlformats.org/drawingml/2006/main">
            <a:r>
              <a:t>D:/medical-project/SurgeNetDINO/surgenet_dino/temporal/tokens.py:42</a:t>
            </a:r>
          </a:p>
          <a:p xmlns:a="http://schemas.openxmlformats.org/drawingml/2006/main">
            <a:r>
              <a:t>D:/medical-project/SurgeNetDINO/surgenet_dino/temporal/emissions.py:16</a:t>
            </a:r>
          </a:p>
          <a:p xmlns:a="http://schemas.openxmlformats.org/drawingml/2006/main">
            <a:r>
              <a:t>D:/medical-project/SurgeNetDINO/surgenet_dino/temporal/emissions.py:96</a:t>
            </a:r>
          </a:p>
          <a:p xmlns:a="http://schemas.openxmlformats.org/drawingml/2006/main">
            <a:r>
              <a:t>D:/medical-project/SurgeNetDINO/surgenet_dino/temporal/tcn.py:95</a:t>
            </a:r>
          </a:p>
          <a:p xmlns:a="http://schemas.openxmlformats.org/drawingml/2006/main">
            <a:r>
              <a:t>D:/medical-project/SurgeNetDINO/surgenet_dino/temporal/tcn.py:131</a:t>
            </a:r>
          </a:p>
          <a:p xmlns:a="http://schemas.openxmlformats.org/drawingml/2006/main">
            <a:r>
              <a:t>D:/medical-project/SurgeNetDINO/surgenet_dino/temporal/tcn.py:158</a:t>
            </a:r>
          </a:p>
          <a:p xmlns:a="http://schemas.openxmlformats.org/drawingml/2006/main">
            <a:r>
              <a:t>D:/medical-project/SurgeNetDINO/surgenet_dino/temporal/tcn.py:257</a:t>
            </a:r>
          </a:p>
          <a:p xmlns:a="http://schemas.openxmlformats.org/drawingml/2006/main">
            <a:r>
              <a:t>D:/medical-project/SurgeNetDINO/surgenet_dino/temporal/submission.py:93</a:t>
            </a:r>
          </a:p>
          <a:p xmlns:a="http://schemas.openxmlformats.org/drawingml/2006/main">
            <a:r>
              <a:t>D:/medical-project/SurgeNetDINO/surgenet_dino/temporal/submission.py:184</a:t>
            </a:r>
          </a:p>
          <a:p xmlns:a="http://schemas.openxmlformats.org/drawingml/2006/main">
            <a:r>
              <a:t>D:/medical-project/SurgeNetDINO/surgenet_dino/temporal/constraints.py:62</a:t>
            </a:r>
          </a:p>
          <a:p xmlns:a="http://schemas.openxmlformats.org/drawingml/2006/main">
            <a:r>
              <a:t>文献：</a:t>
            </a:r>
          </a:p>
          <a:p xmlns:a="http://schemas.openxmlformats.org/drawingml/2006/main">
            <a:r>
              <a:t>surge: https://proceedings.mlr.press/v315/jong26a.html</a:t>
            </a:r>
          </a:p>
          <a:p xmlns:a="http://schemas.openxmlformats.org/drawingml/2006/main">
            <a:r>
              <a:t>surgeFull: https://openreview.net/pdf/584b9c41b9e35f139e9653262ea229c9ff4981a4.pdf</a:t>
            </a:r>
          </a:p>
          <a:p xmlns:a="http://schemas.openxmlformats.org/drawingml/2006/main">
            <a:r>
              <a:t>dino: https://arxiv.org/html/2304.07193v2</a:t>
            </a:r>
          </a:p>
          <a:p xmlns:a="http://schemas.openxmlformats.org/drawingml/2006/main">
            <a:r>
              <a:t>mstcn: https://arxiv.org/pdf/1903.01945</a:t>
            </a:r>
          </a:p>
          <a:p xmlns:a="http://schemas.openxmlformats.org/drawingml/2006/main">
            <a:r>
              <a:t>tecno: https://arxiv.org/pdf/2003.10751</a:t>
            </a:r>
          </a:p>
          <a:p xmlns:a="http://schemas.openxmlformats.org/drawingml/2006/main">
            <a:r>
              <a:t>tunes: https://arxiv.org/html/2307.09997v2</a:t>
            </a:r>
          </a:p>
          <a:p xmlns:a="http://schemas.openxmlformats.org/drawingml/2006/main">
            <a:r>
              <a:t>橙色标记表示相对引用方法的实现差异，不能单凭此图宣称学术创新。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Prediction stage: input_dropout0.15→Conv1×1→10 DilatedBlock→x+GlobalContext(x)→ChannelNorm→Conv1×1(classes)。Refinement stage输入 first.softmax(1)，Conv1×1 13→48→10同类残差block→ChannelNorm→Conv1×1。attention_factor16、heads4、layers1。GlobalContext平均池化ceil_mode，PreNorm MHSA加相对位置偏置，再MLP，两部分均残差，然后线性插值回T。图下半右侧显式画出两个子层的残差相加。Q/K/V Linear64→192，注意力投影64→64，MLP64→128→64、GELU和dropout.15。卷积RF=1+2×sum(2^i,i=0..9)=2047，每侧1023秒。全局分支进一步提供完整同视频的上下文。损失为两级 CE(标签平滑.05)+.15*min((logp_t-stopgrad(logp_t-1))²,16) 的均值，两级相加。缺标签CE ignore=-1，平滑损失仍在相邻秒计算。</a:t>
            </a:r>
          </a:p>
          <a:p xmlns:a="http://schemas.openxmlformats.org/drawingml/2006/main">
            <a:r>
              <a:t>代码依据（工作区 2026-10-07）：</a:t>
            </a:r>
          </a:p>
          <a:p xmlns:a="http://schemas.openxmlformats.org/drawingml/2006/main">
            <a:r>
              <a:t>D:/medical-project/SurgeNetDINO/surgenet_dino/temporal/tcn.py:27</a:t>
            </a:r>
          </a:p>
          <a:p xmlns:a="http://schemas.openxmlformats.org/drawingml/2006/main">
            <a:r>
              <a:t>D:/medical-project/SurgeNetDINO/surgenet_dino/temporal/tcn.py:38</a:t>
            </a:r>
          </a:p>
          <a:p xmlns:a="http://schemas.openxmlformats.org/drawingml/2006/main">
            <a:r>
              <a:t>D:/medical-project/SurgeNetDINO/surgenet_dino/temporal/tcn.py:71</a:t>
            </a:r>
          </a:p>
          <a:p xmlns:a="http://schemas.openxmlformats.org/drawingml/2006/main">
            <a:r>
              <a:t>D:/medical-project/SurgeNetDINO/surgenet_dino/temporal/tcn.py:95</a:t>
            </a:r>
          </a:p>
          <a:p xmlns:a="http://schemas.openxmlformats.org/drawingml/2006/main">
            <a:r>
              <a:t>D:/medical-project/SurgeNetDINO/surgenet_dino/temporal/tcn.py:113</a:t>
            </a:r>
          </a:p>
          <a:p xmlns:a="http://schemas.openxmlformats.org/drawingml/2006/main">
            <a:r>
              <a:t>D:/medical-project/SurgeNetDINO/surgenet_dino/temporal/tcn.py:131</a:t>
            </a:r>
          </a:p>
          <a:p xmlns:a="http://schemas.openxmlformats.org/drawingml/2006/main">
            <a:r>
              <a:t>D:/medical-project/SurgeNetDINO/surgenet_dino/temporal/tcn.py:240</a:t>
            </a:r>
          </a:p>
          <a:p xmlns:a="http://schemas.openxmlformats.org/drawingml/2006/main">
            <a:r>
              <a:t>文献：</a:t>
            </a:r>
          </a:p>
          <a:p xmlns:a="http://schemas.openxmlformats.org/drawingml/2006/main">
            <a:r>
              <a:t>mstcn: https://arxiv.org/pdf/1903.01945</a:t>
            </a:r>
          </a:p>
          <a:p xmlns:a="http://schemas.openxmlformats.org/drawingml/2006/main">
            <a:r>
              <a:t>tecno: https://arxiv.org/pdf/2003.10751</a:t>
            </a:r>
          </a:p>
          <a:p xmlns:a="http://schemas.openxmlformats.org/drawingml/2006/main">
            <a:r>
              <a:t>tunes: https://arxiv.org/html/2307.09997v2</a:t>
            </a:r>
          </a:p>
          <a:p xmlns:a="http://schemas.openxmlformats.org/drawingml/2006/main">
            <a:r>
              <a:t>橙色标记表示相对引用方法的实现差异，不能单凭此图宣称学术创新。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比较原则：文献设计与本地实现分别取各自公开方法正文与实际代码。1 SurgeNet公开全文3.4.2首先以阶段标签微调backbone，再以因果MS-TCN处理整视频特征；本地冻结。CLS+mean是DINOv2已存在的特征选项，不能声称本地首创。2 MS-TCN/TeCNO以帧特征进入时序预测，本地改为交叉拟合分类证据13+PCA32+flags6组合，视频自身统计标准化；只在训练侧拟合PCA。3 原始MS-TCN4级，每级10层64ch ReLU，本地2级64/48、LN/GELU且非因果。TeCNO也是2级但因果，本地双向。截断平滑损失来自MS-TCN。4 TUNeS是Temporal U-Net和瓶颈注意力、skip与多尺度解码；本地是TCN后pool16注意力插值残差，联系是结构对照推断而非完整复现。5 本地 learn_rules 和 exact_decode 额外读训练标签生成规则，无概率转移矩阵或学习的时长分布，不能理解成固定0..13递增链。文献基线这里仅指相应网络方法，未断言文献作者所有实验都无后处理。当前默认不含motion67维实验。Advanced输出还包括mask约束边界吸附、30fps展开和x覆盖。</a:t>
            </a:r>
          </a:p>
          <a:p xmlns:a="http://schemas.openxmlformats.org/drawingml/2006/main">
            <a:r>
              <a:t>代码依据（工作区 2026-10-07）：</a:t>
            </a:r>
          </a:p>
          <a:p xmlns:a="http://schemas.openxmlformats.org/drawingml/2006/main">
            <a:r>
              <a:t>D:/medical-project/SurgeNetDINO/docs/UPSTREAM_REFERENCES.md</a:t>
            </a:r>
          </a:p>
          <a:p xmlns:a="http://schemas.openxmlformats.org/drawingml/2006/main">
            <a:r>
              <a:t>D:/medical-project/SurgeNetDINO/surgenet_dino/temporal/emissions.py:96</a:t>
            </a:r>
          </a:p>
          <a:p xmlns:a="http://schemas.openxmlformats.org/drawingml/2006/main">
            <a:r>
              <a:t>D:/medical-project/SurgeNetDINO/surgenet_dino/temporal/tcn.py:131</a:t>
            </a:r>
          </a:p>
          <a:p xmlns:a="http://schemas.openxmlformats.org/drawingml/2006/main">
            <a:r>
              <a:t>D:/medical-project/SurgeNetDINO/surgenet_dino/temporal/tcn.py:158</a:t>
            </a:r>
          </a:p>
          <a:p xmlns:a="http://schemas.openxmlformats.org/drawingml/2006/main">
            <a:r>
              <a:t>D:/medical-project/SurgeNetDINO/surgenet_dino/temporal/constraints.py:39</a:t>
            </a:r>
          </a:p>
          <a:p xmlns:a="http://schemas.openxmlformats.org/drawingml/2006/main">
            <a:r>
              <a:t>D:/medical-project/SurgeNetDINO/surgenet_dino/temporal/constraints.py:62</a:t>
            </a:r>
          </a:p>
          <a:p xmlns:a="http://schemas.openxmlformats.org/drawingml/2006/main">
            <a:r>
              <a:t>D:/medical-project/SurgeNetDINO/surgenet_dino/temporal/submission.py:184</a:t>
            </a:r>
          </a:p>
          <a:p xmlns:a="http://schemas.openxmlformats.org/drawingml/2006/main">
            <a:r>
              <a:t>文献：</a:t>
            </a:r>
          </a:p>
          <a:p xmlns:a="http://schemas.openxmlformats.org/drawingml/2006/main">
            <a:r>
              <a:t>surge: https://proceedings.mlr.press/v315/jong26a.html</a:t>
            </a:r>
          </a:p>
          <a:p xmlns:a="http://schemas.openxmlformats.org/drawingml/2006/main">
            <a:r>
              <a:t>surgeFull: https://openreview.net/pdf/584b9c41b9e35f139e9653262ea229c9ff4981a4.pdf</a:t>
            </a:r>
          </a:p>
          <a:p xmlns:a="http://schemas.openxmlformats.org/drawingml/2006/main">
            <a:r>
              <a:t>dino: https://arxiv.org/html/2304.07193v2</a:t>
            </a:r>
          </a:p>
          <a:p xmlns:a="http://schemas.openxmlformats.org/drawingml/2006/main">
            <a:r>
              <a:t>mstcn: https://arxiv.org/pdf/1903.01945</a:t>
            </a:r>
          </a:p>
          <a:p xmlns:a="http://schemas.openxmlformats.org/drawingml/2006/main">
            <a:r>
              <a:t>tecno: https://arxiv.org/pdf/2003.10751</a:t>
            </a:r>
          </a:p>
          <a:p xmlns:a="http://schemas.openxmlformats.org/drawingml/2006/main">
            <a:r>
              <a:t>tunes: https://arxiv.org/html/2307.09997v2</a:t>
            </a:r>
          </a:p>
          <a:p xmlns:a="http://schemas.openxmlformats.org/drawingml/2006/main">
            <a:r>
              <a:t>橙色标记表示相对引用方法的实现差异，不能单凭此图宣称学术创新。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c0501934864b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5ddd096af94d8b" /><Relationship Type="http://schemas.openxmlformats.org/officeDocument/2006/relationships/slideLayout" Target="/ppt/slideLayouts/slideLayout1.xml" Id="R29f749d53f724e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f749d53f724e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aa0822a474118" /><Relationship Type="http://schemas.openxmlformats.org/officeDocument/2006/relationships/image" Target="/ppt/media/image.png" Id="R25f87cffceeb41a1" /><Relationship Type="http://schemas.openxmlformats.org/officeDocument/2006/relationships/notesSlide" Target="/ppt/notesSlides/notesSlide1.xml" Id="Rf26ecb809c6949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feed1aa7647c1" /><Relationship Type="http://schemas.openxmlformats.org/officeDocument/2006/relationships/notesSlide" Target="/ppt/notesSlides/notesSlide2.xml" Id="R3c040c6f096b4e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e7304a2404e1c" /><Relationship Type="http://schemas.openxmlformats.org/officeDocument/2006/relationships/notesSlide" Target="/ppt/notesSlides/notesSlide3.xml" Id="Rf6f89ff4e4174e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4" name="SurgeNetDINO 神经网络架构">
            <a:extLst xmlns:a="http://schemas.openxmlformats.org/drawingml/2006/main">
              <a:ext uri="{FF2B5EF4-FFF2-40B4-BE49-F238E27FC236}">
                <a16:creationId xmlns:a16="http://schemas.microsoft.com/office/drawing/2014/main" id="{34A10061-6195-45AD-8CD0-40720E7B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1724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rPr>
              <a:t>SurgeNetDINO 神经网络架构</a:t>
            </a:r>
          </a:p>
        </p:txBody>
      </p:sp>
      <p:sp>
        <p:nvSpPr>
          <p:cNvPr id="2" name="当前默认提交路径   冻结视觉主干 + 两级离线时序网络">
            <a:extLst xmlns:a="http://schemas.openxmlformats.org/drawingml/2006/main">
              <a:ext uri="{FF2B5EF4-FFF2-40B4-BE49-F238E27FC236}">
                <a16:creationId xmlns:a16="http://schemas.microsoft.com/office/drawing/2014/main" id="{AD6B05FD-0FFF-42B1-BD2F-D82EAC30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1714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当前默认提交路径   冻结视觉主干 + 两级离线时序网络</a:t>
            </a:r>
          </a:p>
        </p:txBody>
      </p:sp>
      <p:sp>
        <p:nvSpPr>
          <p:cNvPr id="3" name="1/3">
            <a:extLst xmlns:a="http://schemas.openxmlformats.org/drawingml/2006/main">
              <a:ext uri="{FF2B5EF4-FFF2-40B4-BE49-F238E27FC236}">
                <a16:creationId xmlns:a16="http://schemas.microsoft.com/office/drawing/2014/main" id="{2A0F9391-BCC0-43C1-9861-3A2D44C7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7917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1/3</a:t>
            </a:r>
          </a:p>
        </p:txBody>
      </p:sp>
      <p:sp>
        <p:nvSpPr>
          <p:cNvPr id="4" name="逐帧视觉编码">
            <a:extLst xmlns:a="http://schemas.openxmlformats.org/drawingml/2006/main">
              <a:ext uri="{FF2B5EF4-FFF2-40B4-BE49-F238E27FC236}">
                <a16:creationId xmlns:a16="http://schemas.microsoft.com/office/drawing/2014/main" id="{1AFFCD67-6D70-42E4-BE33-6B45D0FA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rPr>
              <a:t>逐帧视觉编码</a:t>
            </a:r>
          </a:p>
        </p:txBody>
      </p:sp>
      <p:sp>
        <p:nvSpPr>
          <p:cNvPr id="5" name="difference 1">
            <a:extLst xmlns:a="http://schemas.openxmlformats.org/drawingml/2006/main">
              <a:ext uri="{FF2B5EF4-FFF2-40B4-BE49-F238E27FC236}">
                <a16:creationId xmlns:a16="http://schemas.microsoft.com/office/drawing/2014/main" id="{ED984894-A70D-4B22-A531-7308BDC2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562100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A2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SurgeNet 下游微调，本项目冻结主干">
            <a:extLst xmlns:a="http://schemas.openxmlformats.org/drawingml/2006/main">
              <a:ext uri="{FF2B5EF4-FFF2-40B4-BE49-F238E27FC236}">
                <a16:creationId xmlns:a16="http://schemas.microsoft.com/office/drawing/2014/main" id="{83776360-6C01-461B-91FA-F121419B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33525"/>
            <a:ext cx="5934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SurgeNet 下游微调，本项目冻结主干</a:t>
            </a:r>
          </a:p>
        </p:txBody>
      </p:sp>
      <p:sp>
        <p:nvSpPr>
          <p:cNvPr id="7" name="橙色编号：与文献设计的差异">
            <a:extLst xmlns:a="http://schemas.openxmlformats.org/drawingml/2006/main">
              <a:ext uri="{FF2B5EF4-FFF2-40B4-BE49-F238E27FC236}">
                <a16:creationId xmlns:a16="http://schemas.microsoft.com/office/drawing/2014/main" id="{FC958F22-7EB5-4BC7-A5E8-A9423CA5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619250"/>
            <a:ext cx="4333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橙色编号：与文献设计的差异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15438-13DE-4DD3-AD3B-C4DCF377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F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996D1-8FA4-4A1C-B988-6E1E4179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FE5"/>
            </a:solidFill>
          </a:ln>
        </p:spPr>
      </p:sp>
      <p:pic>
        <p:nvPicPr>
          <p:cNvPr id="2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87cffceeb41a1"/>
          <a:srcRect xmlns:a="http://schemas.openxmlformats.org/drawingml/2006/main" l="5804" t="0" r="58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686050"/>
            <a:ext cx="1676400" cy="1066800"/>
          </a:xfrm>
          <a:prstGeom xmlns:a="http://schemas.openxmlformats.org/drawingml/2006/main" prst="rect">
            <a:avLst/>
          </a:prstGeom>
        </p:spPr>
      </p:pic>
      <p:sp>
        <p:nvSpPr>
          <p:cNvPr id="11" name="视频帧 1 fps">
            <a:extLst xmlns:a="http://schemas.openxmlformats.org/drawingml/2006/main">
              <a:ext uri="{FF2B5EF4-FFF2-40B4-BE49-F238E27FC236}">
                <a16:creationId xmlns:a16="http://schemas.microsoft.com/office/drawing/2014/main" id="{E70EAF76-19D7-4377-A933-0F9DEE6D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71925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rPr>
              <a:t>视频帧 1 fps</a:t>
            </a:r>
          </a:p>
        </p:txBody>
      </p:sp>
      <p:sp>
        <p:nvSpPr>
          <p:cNvPr id="12" name="336 × 336 × 3">
            <a:extLst xmlns:a="http://schemas.openxmlformats.org/drawingml/2006/main">
              <a:ext uri="{FF2B5EF4-FFF2-40B4-BE49-F238E27FC236}">
                <a16:creationId xmlns:a16="http://schemas.microsoft.com/office/drawing/2014/main" id="{CA00A1B3-AED6-4EF5-95C3-353D76F1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5292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336 × 336 × 3</a:t>
            </a:r>
          </a:p>
        </p:txBody>
      </p:sp>
      <p:sp>
        <p:nvSpPr>
          <p:cNvPr id="13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49759546-067D-48E2-86D0-348C0452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219450"/>
            <a:ext cx="447675" cy="9525"/>
          </a:xfrm>
          <a:custGeom xmlns:a="http://schemas.openxmlformats.org/drawingml/2006/main">
            <a:pathLst>
              <a:path w="447675" h="952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14" name="arrowhead">
            <a:extLst xmlns:a="http://schemas.openxmlformats.org/drawingml/2006/main">
              <a:ext uri="{FF2B5EF4-FFF2-40B4-BE49-F238E27FC236}">
                <a16:creationId xmlns:a16="http://schemas.microsoft.com/office/drawing/2014/main" id="{09F0588D-E4EC-4133-8C64-51B15B65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17182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15" name="image patch">
            <a:extLst xmlns:a="http://schemas.openxmlformats.org/drawingml/2006/main">
              <a:ext uri="{FF2B5EF4-FFF2-40B4-BE49-F238E27FC236}">
                <a16:creationId xmlns:a16="http://schemas.microsoft.com/office/drawing/2014/main" id="{57FFB763-B10E-4A49-A688-F4D26F36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7241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16" name="image patch">
            <a:extLst xmlns:a="http://schemas.openxmlformats.org/drawingml/2006/main">
              <a:ext uri="{FF2B5EF4-FFF2-40B4-BE49-F238E27FC236}">
                <a16:creationId xmlns:a16="http://schemas.microsoft.com/office/drawing/2014/main" id="{31DDA087-C887-4FDE-8F11-E8D4F4D5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241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17" name="image patch">
            <a:extLst xmlns:a="http://schemas.openxmlformats.org/drawingml/2006/main">
              <a:ext uri="{FF2B5EF4-FFF2-40B4-BE49-F238E27FC236}">
                <a16:creationId xmlns:a16="http://schemas.microsoft.com/office/drawing/2014/main" id="{562EECF6-9681-4B08-A004-7AB12260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7241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18" name="image patch">
            <a:extLst xmlns:a="http://schemas.openxmlformats.org/drawingml/2006/main">
              <a:ext uri="{FF2B5EF4-FFF2-40B4-BE49-F238E27FC236}">
                <a16:creationId xmlns:a16="http://schemas.microsoft.com/office/drawing/2014/main" id="{E738EC57-70BB-4A88-849B-C2D86FE3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19" name="image patch">
            <a:extLst xmlns:a="http://schemas.openxmlformats.org/drawingml/2006/main">
              <a:ext uri="{FF2B5EF4-FFF2-40B4-BE49-F238E27FC236}">
                <a16:creationId xmlns:a16="http://schemas.microsoft.com/office/drawing/2014/main" id="{88A38C9B-BE35-42D3-A147-BA71D080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241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20" name="image patch">
            <a:extLst xmlns:a="http://schemas.openxmlformats.org/drawingml/2006/main">
              <a:ext uri="{FF2B5EF4-FFF2-40B4-BE49-F238E27FC236}">
                <a16:creationId xmlns:a16="http://schemas.microsoft.com/office/drawing/2014/main" id="{00D60A69-0A9B-432F-B671-5CD5507E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241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21" name="image patch">
            <a:extLst xmlns:a="http://schemas.openxmlformats.org/drawingml/2006/main">
              <a:ext uri="{FF2B5EF4-FFF2-40B4-BE49-F238E27FC236}">
                <a16:creationId xmlns:a16="http://schemas.microsoft.com/office/drawing/2014/main" id="{68369E42-66F6-4EDB-BB29-9C5C6A09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86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22" name="image patch">
            <a:extLst xmlns:a="http://schemas.openxmlformats.org/drawingml/2006/main">
              <a:ext uri="{FF2B5EF4-FFF2-40B4-BE49-F238E27FC236}">
                <a16:creationId xmlns:a16="http://schemas.microsoft.com/office/drawing/2014/main" id="{DE964E0B-3A84-438A-8B6A-D18A7C8F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86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23" name="image patch">
            <a:extLst xmlns:a="http://schemas.openxmlformats.org/drawingml/2006/main">
              <a:ext uri="{FF2B5EF4-FFF2-40B4-BE49-F238E27FC236}">
                <a16:creationId xmlns:a16="http://schemas.microsoft.com/office/drawing/2014/main" id="{0379BDE9-F7DE-4C3D-A269-8C0431ED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886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24" name="image patch">
            <a:extLst xmlns:a="http://schemas.openxmlformats.org/drawingml/2006/main">
              <a:ext uri="{FF2B5EF4-FFF2-40B4-BE49-F238E27FC236}">
                <a16:creationId xmlns:a16="http://schemas.microsoft.com/office/drawing/2014/main" id="{A373DEED-A99D-4271-9805-45AD2C32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86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25" name="image patch">
            <a:extLst xmlns:a="http://schemas.openxmlformats.org/drawingml/2006/main">
              <a:ext uri="{FF2B5EF4-FFF2-40B4-BE49-F238E27FC236}">
                <a16:creationId xmlns:a16="http://schemas.microsoft.com/office/drawing/2014/main" id="{B5FCBD6D-93CD-43D7-BD3F-B3B011E0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886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26" name="image patch">
            <a:extLst xmlns:a="http://schemas.openxmlformats.org/drawingml/2006/main">
              <a:ext uri="{FF2B5EF4-FFF2-40B4-BE49-F238E27FC236}">
                <a16:creationId xmlns:a16="http://schemas.microsoft.com/office/drawing/2014/main" id="{72CB9A0E-CF1C-4C2D-A10D-C541F9A8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860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27" name="image patch">
            <a:extLst xmlns:a="http://schemas.openxmlformats.org/drawingml/2006/main">
              <a:ext uri="{FF2B5EF4-FFF2-40B4-BE49-F238E27FC236}">
                <a16:creationId xmlns:a16="http://schemas.microsoft.com/office/drawing/2014/main" id="{442D2A7E-453C-404E-8685-505A0F71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0480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28" name="image patch">
            <a:extLst xmlns:a="http://schemas.openxmlformats.org/drawingml/2006/main">
              <a:ext uri="{FF2B5EF4-FFF2-40B4-BE49-F238E27FC236}">
                <a16:creationId xmlns:a16="http://schemas.microsoft.com/office/drawing/2014/main" id="{F1543B00-1ED2-4D90-8F30-D7C390D1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480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29" name="image patch">
            <a:extLst xmlns:a="http://schemas.openxmlformats.org/drawingml/2006/main">
              <a:ext uri="{FF2B5EF4-FFF2-40B4-BE49-F238E27FC236}">
                <a16:creationId xmlns:a16="http://schemas.microsoft.com/office/drawing/2014/main" id="{3F6CB18C-DFFE-4904-BCA9-49CD7653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0480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30" name="image patch">
            <a:extLst xmlns:a="http://schemas.openxmlformats.org/drawingml/2006/main">
              <a:ext uri="{FF2B5EF4-FFF2-40B4-BE49-F238E27FC236}">
                <a16:creationId xmlns:a16="http://schemas.microsoft.com/office/drawing/2014/main" id="{91939230-357A-4D82-BB97-CE862E4E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480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31" name="image patch">
            <a:extLst xmlns:a="http://schemas.openxmlformats.org/drawingml/2006/main">
              <a:ext uri="{FF2B5EF4-FFF2-40B4-BE49-F238E27FC236}">
                <a16:creationId xmlns:a16="http://schemas.microsoft.com/office/drawing/2014/main" id="{478BBCC2-6BF2-44E2-A172-A86FD0EE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480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32" name="image patch">
            <a:extLst xmlns:a="http://schemas.openxmlformats.org/drawingml/2006/main">
              <a:ext uri="{FF2B5EF4-FFF2-40B4-BE49-F238E27FC236}">
                <a16:creationId xmlns:a16="http://schemas.microsoft.com/office/drawing/2014/main" id="{C992FA2C-BA94-4FDA-8EC7-439B1B6A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480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33" name="image patch">
            <a:extLst xmlns:a="http://schemas.openxmlformats.org/drawingml/2006/main">
              <a:ext uri="{FF2B5EF4-FFF2-40B4-BE49-F238E27FC236}">
                <a16:creationId xmlns:a16="http://schemas.microsoft.com/office/drawing/2014/main" id="{9EA04F0D-2F2A-4DCE-95C3-5FCFB299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09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34" name="image patch">
            <a:extLst xmlns:a="http://schemas.openxmlformats.org/drawingml/2006/main">
              <a:ext uri="{FF2B5EF4-FFF2-40B4-BE49-F238E27FC236}">
                <a16:creationId xmlns:a16="http://schemas.microsoft.com/office/drawing/2014/main" id="{6079FCB0-F13B-4CA7-ABCE-227894BF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09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35" name="image patch">
            <a:extLst xmlns:a="http://schemas.openxmlformats.org/drawingml/2006/main">
              <a:ext uri="{FF2B5EF4-FFF2-40B4-BE49-F238E27FC236}">
                <a16:creationId xmlns:a16="http://schemas.microsoft.com/office/drawing/2014/main" id="{BCD114F3-C8DF-4347-B798-8FBBF7B7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209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36" name="image patch">
            <a:extLst xmlns:a="http://schemas.openxmlformats.org/drawingml/2006/main">
              <a:ext uri="{FF2B5EF4-FFF2-40B4-BE49-F238E27FC236}">
                <a16:creationId xmlns:a16="http://schemas.microsoft.com/office/drawing/2014/main" id="{6865AE1F-B38D-49FB-83E3-CB7F8AE9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09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37" name="image patch">
            <a:extLst xmlns:a="http://schemas.openxmlformats.org/drawingml/2006/main">
              <a:ext uri="{FF2B5EF4-FFF2-40B4-BE49-F238E27FC236}">
                <a16:creationId xmlns:a16="http://schemas.microsoft.com/office/drawing/2014/main" id="{5895610A-BB56-45F8-8A98-47618187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209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38" name="image patch">
            <a:extLst xmlns:a="http://schemas.openxmlformats.org/drawingml/2006/main">
              <a:ext uri="{FF2B5EF4-FFF2-40B4-BE49-F238E27FC236}">
                <a16:creationId xmlns:a16="http://schemas.microsoft.com/office/drawing/2014/main" id="{BC170CA9-6CCD-4A35-A0CC-404740BD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09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39" name="image patch">
            <a:extLst xmlns:a="http://schemas.openxmlformats.org/drawingml/2006/main">
              <a:ext uri="{FF2B5EF4-FFF2-40B4-BE49-F238E27FC236}">
                <a16:creationId xmlns:a16="http://schemas.microsoft.com/office/drawing/2014/main" id="{F1ABCE3E-293E-422A-B525-CD1D5CDA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3718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40" name="image patch">
            <a:extLst xmlns:a="http://schemas.openxmlformats.org/drawingml/2006/main">
              <a:ext uri="{FF2B5EF4-FFF2-40B4-BE49-F238E27FC236}">
                <a16:creationId xmlns:a16="http://schemas.microsoft.com/office/drawing/2014/main" id="{E53D0A41-7336-45CE-8943-AE0AFBFC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718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41" name="image patch">
            <a:extLst xmlns:a="http://schemas.openxmlformats.org/drawingml/2006/main">
              <a:ext uri="{FF2B5EF4-FFF2-40B4-BE49-F238E27FC236}">
                <a16:creationId xmlns:a16="http://schemas.microsoft.com/office/drawing/2014/main" id="{31B22871-7E5D-4499-971E-0F45B73E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3718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42" name="image patch">
            <a:extLst xmlns:a="http://schemas.openxmlformats.org/drawingml/2006/main">
              <a:ext uri="{FF2B5EF4-FFF2-40B4-BE49-F238E27FC236}">
                <a16:creationId xmlns:a16="http://schemas.microsoft.com/office/drawing/2014/main" id="{AF39F640-F817-49AD-B963-E95AE2B8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718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43" name="image patch">
            <a:extLst xmlns:a="http://schemas.openxmlformats.org/drawingml/2006/main">
              <a:ext uri="{FF2B5EF4-FFF2-40B4-BE49-F238E27FC236}">
                <a16:creationId xmlns:a16="http://schemas.microsoft.com/office/drawing/2014/main" id="{EF2CC5C7-D900-45E0-A42F-93C88E5B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3718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44" name="image patch">
            <a:extLst xmlns:a="http://schemas.openxmlformats.org/drawingml/2006/main">
              <a:ext uri="{FF2B5EF4-FFF2-40B4-BE49-F238E27FC236}">
                <a16:creationId xmlns:a16="http://schemas.microsoft.com/office/drawing/2014/main" id="{76CA4F52-23C8-4672-8B08-2D33CF8C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18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45" name="image patch">
            <a:extLst xmlns:a="http://schemas.openxmlformats.org/drawingml/2006/main">
              <a:ext uri="{FF2B5EF4-FFF2-40B4-BE49-F238E27FC236}">
                <a16:creationId xmlns:a16="http://schemas.microsoft.com/office/drawing/2014/main" id="{813E6D86-B6C1-4252-B4CA-6C415C4A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5337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46" name="image patch">
            <a:extLst xmlns:a="http://schemas.openxmlformats.org/drawingml/2006/main">
              <a:ext uri="{FF2B5EF4-FFF2-40B4-BE49-F238E27FC236}">
                <a16:creationId xmlns:a16="http://schemas.microsoft.com/office/drawing/2014/main" id="{3180F64E-2013-466E-9BBB-EED3C932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337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47" name="image patch">
            <a:extLst xmlns:a="http://schemas.openxmlformats.org/drawingml/2006/main">
              <a:ext uri="{FF2B5EF4-FFF2-40B4-BE49-F238E27FC236}">
                <a16:creationId xmlns:a16="http://schemas.microsoft.com/office/drawing/2014/main" id="{BBBECC51-871D-4813-A887-EAF0D307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5337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48" name="image patch">
            <a:extLst xmlns:a="http://schemas.openxmlformats.org/drawingml/2006/main">
              <a:ext uri="{FF2B5EF4-FFF2-40B4-BE49-F238E27FC236}">
                <a16:creationId xmlns:a16="http://schemas.microsoft.com/office/drawing/2014/main" id="{975EBBD0-B30E-4AAD-9218-277077A9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337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49" name="image patch">
            <a:extLst xmlns:a="http://schemas.openxmlformats.org/drawingml/2006/main">
              <a:ext uri="{FF2B5EF4-FFF2-40B4-BE49-F238E27FC236}">
                <a16:creationId xmlns:a16="http://schemas.microsoft.com/office/drawing/2014/main" id="{E6BA22C0-3767-4A63-9D06-AA058DA5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5337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50" name="image patch">
            <a:extLst xmlns:a="http://schemas.openxmlformats.org/drawingml/2006/main">
              <a:ext uri="{FF2B5EF4-FFF2-40B4-BE49-F238E27FC236}">
                <a16:creationId xmlns:a16="http://schemas.microsoft.com/office/drawing/2014/main" id="{47372159-4E35-46C2-936C-AFDFB4D3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337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6668">
            <a:solidFill>
              <a:srgbClr val="356899"/>
            </a:solidFill>
          </a:ln>
        </p:spPr>
      </p:sp>
      <p:sp>
        <p:nvSpPr>
          <p:cNvPr id="51" name="Patch embedding">
            <a:extLst xmlns:a="http://schemas.openxmlformats.org/drawingml/2006/main">
              <a:ext uri="{FF2B5EF4-FFF2-40B4-BE49-F238E27FC236}">
                <a16:creationId xmlns:a16="http://schemas.microsoft.com/office/drawing/2014/main" id="{ADD88F16-03B8-4ECD-A944-7E866F11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971925"/>
            <a:ext cx="15335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Patch embedding</a:t>
            </a:r>
          </a:p>
        </p:txBody>
      </p:sp>
      <p:sp>
        <p:nvSpPr>
          <p:cNvPr id="52" name="24 × 24 patches">
            <a:extLst xmlns:a="http://schemas.openxmlformats.org/drawingml/2006/main">
              <a:ext uri="{FF2B5EF4-FFF2-40B4-BE49-F238E27FC236}">
                <a16:creationId xmlns:a16="http://schemas.microsoft.com/office/drawing/2014/main" id="{F94F2086-4B3C-469A-BE61-EE8672A4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352925"/>
            <a:ext cx="172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24 × 24 patches</a:t>
            </a:r>
          </a:p>
        </p:txBody>
      </p:sp>
      <p:sp>
        <p:nvSpPr>
          <p:cNvPr id="53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3CD1AF26-BE56-4C01-9E24-39E06226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219450"/>
            <a:ext cx="523875" cy="9525"/>
          </a:xfrm>
          <a:custGeom xmlns:a="http://schemas.openxmlformats.org/drawingml/2006/main">
            <a:pathLst>
              <a:path w="523875" h="9525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54" name="arrowhead">
            <a:extLst xmlns:a="http://schemas.openxmlformats.org/drawingml/2006/main">
              <a:ext uri="{FF2B5EF4-FFF2-40B4-BE49-F238E27FC236}">
                <a16:creationId xmlns:a16="http://schemas.microsoft.com/office/drawing/2014/main" id="{67B006CC-1663-4A76-A6EC-93702B15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17182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55" name="dilated temporal layers">
            <a:extLst xmlns:a="http://schemas.openxmlformats.org/drawingml/2006/main">
              <a:ext uri="{FF2B5EF4-FFF2-40B4-BE49-F238E27FC236}">
                <a16:creationId xmlns:a16="http://schemas.microsoft.com/office/drawing/2014/main" id="{E3E02C9C-4EC8-495D-978F-801DA87D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00275"/>
            <a:ext cx="2143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14288">
            <a:solidFill>
              <a:srgbClr val="356899"/>
            </a:solidFill>
          </a:ln>
        </p:spPr>
      </p:sp>
      <p:sp>
        <p:nvSpPr>
          <p:cNvPr id="56" name="dilated temporal layers">
            <a:extLst xmlns:a="http://schemas.openxmlformats.org/drawingml/2006/main">
              <a:ext uri="{FF2B5EF4-FFF2-40B4-BE49-F238E27FC236}">
                <a16:creationId xmlns:a16="http://schemas.microsoft.com/office/drawing/2014/main" id="{CE824132-0225-41BB-9F5D-10751CA8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86000"/>
            <a:ext cx="2143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14288">
            <a:solidFill>
              <a:srgbClr val="356899"/>
            </a:solidFill>
          </a:ln>
        </p:spPr>
      </p:sp>
      <p:sp>
        <p:nvSpPr>
          <p:cNvPr id="57" name="dilated temporal layers">
            <a:extLst xmlns:a="http://schemas.openxmlformats.org/drawingml/2006/main">
              <a:ext uri="{FF2B5EF4-FFF2-40B4-BE49-F238E27FC236}">
                <a16:creationId xmlns:a16="http://schemas.microsoft.com/office/drawing/2014/main" id="{F8F7CB1A-9750-49EE-8F40-BBF8BB91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371725"/>
            <a:ext cx="2143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14288">
            <a:solidFill>
              <a:srgbClr val="356899"/>
            </a:solidFill>
          </a:ln>
        </p:spPr>
      </p:sp>
      <p:sp>
        <p:nvSpPr>
          <p:cNvPr id="58" name="Transformer">
            <a:extLst xmlns:a="http://schemas.openxmlformats.org/drawingml/2006/main">
              <a:ext uri="{FF2B5EF4-FFF2-40B4-BE49-F238E27FC236}">
                <a16:creationId xmlns:a16="http://schemas.microsoft.com/office/drawing/2014/main" id="{420355EA-F1BA-4756-A32F-804198C7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955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Transformer</a:t>
            </a:r>
          </a:p>
        </p:txBody>
      </p:sp>
      <p:sp>
        <p:nvSpPr>
          <p:cNvPr id="59" name="Multi-head attention">
            <a:extLst xmlns:a="http://schemas.openxmlformats.org/drawingml/2006/main">
              <a:ext uri="{FF2B5EF4-FFF2-40B4-BE49-F238E27FC236}">
                <a16:creationId xmlns:a16="http://schemas.microsoft.com/office/drawing/2014/main" id="{06F12CED-5E44-47CE-A3E4-2CE45822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914650"/>
            <a:ext cx="1762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Multi-head attention</a:t>
            </a:r>
          </a:p>
        </p:txBody>
      </p:sp>
      <p:sp>
        <p:nvSpPr>
          <p:cNvPr id="60" name="MLP">
            <a:extLst xmlns:a="http://schemas.openxmlformats.org/drawingml/2006/main">
              <a:ext uri="{FF2B5EF4-FFF2-40B4-BE49-F238E27FC236}">
                <a16:creationId xmlns:a16="http://schemas.microsoft.com/office/drawing/2014/main" id="{B92A092C-D14C-4F86-B960-23A489D2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524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MLP</a:t>
            </a:r>
          </a:p>
        </p:txBody>
      </p:sp>
      <p:sp>
        <p:nvSpPr>
          <p:cNvPr id="61" name="ViT-B/14 × 12">
            <a:extLst xmlns:a="http://schemas.openxmlformats.org/drawingml/2006/main">
              <a:ext uri="{FF2B5EF4-FFF2-40B4-BE49-F238E27FC236}">
                <a16:creationId xmlns:a16="http://schemas.microsoft.com/office/drawing/2014/main" id="{BEE6BFF5-DD2A-44CB-BFEF-D6053B55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391025"/>
            <a:ext cx="24860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ViT-B/14 × 12</a:t>
            </a:r>
          </a:p>
        </p:txBody>
      </p:sp>
      <p:sp>
        <p:nvSpPr>
          <p:cNvPr id="62" name="768 维 / 12 heads">
            <a:extLst xmlns:a="http://schemas.openxmlformats.org/drawingml/2006/main">
              <a:ext uri="{FF2B5EF4-FFF2-40B4-BE49-F238E27FC236}">
                <a16:creationId xmlns:a16="http://schemas.microsoft.com/office/drawing/2014/main" id="{FDC7A8F8-D985-49E4-A3E1-D99A7349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762500"/>
            <a:ext cx="2486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768 维 / 12 heads</a:t>
            </a:r>
          </a:p>
        </p:txBody>
      </p:sp>
      <p:sp>
        <p:nvSpPr>
          <p:cNvPr id="63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207B1010-CE75-4763-9A6E-F3261CF0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219450"/>
            <a:ext cx="447675" cy="9525"/>
          </a:xfrm>
          <a:custGeom xmlns:a="http://schemas.openxmlformats.org/drawingml/2006/main">
            <a:pathLst>
              <a:path w="447675" h="952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64" name="arrowhead">
            <a:extLst xmlns:a="http://schemas.openxmlformats.org/drawingml/2006/main">
              <a:ext uri="{FF2B5EF4-FFF2-40B4-BE49-F238E27FC236}">
                <a16:creationId xmlns:a16="http://schemas.microsoft.com/office/drawing/2014/main" id="{1CBA5692-6E80-4BC3-A768-E2BF0479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17182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65" name="tensor face">
            <a:extLst xmlns:a="http://schemas.openxmlformats.org/drawingml/2006/main">
              <a:ext uri="{FF2B5EF4-FFF2-40B4-BE49-F238E27FC236}">
                <a16:creationId xmlns:a16="http://schemas.microsoft.com/office/drawing/2014/main" id="{6A3AFDCD-85D1-4E16-8ABE-E41DD338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62200"/>
            <a:ext cx="704850" cy="123825"/>
          </a:xfrm>
          <a:custGeom xmlns:a="http://schemas.openxmlformats.org/drawingml/2006/main">
            <a:pathLst>
              <a:path w="704850" h="123825">
                <a:moveTo>
                  <a:pt x="0" y="123825"/>
                </a:moveTo>
                <a:lnTo>
                  <a:pt x="123825" y="0"/>
                </a:lnTo>
                <a:lnTo>
                  <a:pt x="704850" y="0"/>
                </a:lnTo>
                <a:lnTo>
                  <a:pt x="581025" y="123825"/>
                </a:lnTo>
                <a:close/>
              </a:path>
            </a:pathLst>
          </a:custGeom>
          <a:solidFill xmlns:a="http://schemas.openxmlformats.org/drawingml/2006/main">
            <a:srgbClr val="DCEAF5"/>
          </a:solidFill>
          <a:ln xmlns:a="http://schemas.openxmlformats.org/drawingml/2006/main" w="10478">
            <a:solidFill>
              <a:srgbClr val="356899"/>
            </a:solidFill>
          </a:ln>
        </p:spPr>
      </p:sp>
      <p:sp>
        <p:nvSpPr>
          <p:cNvPr id="66" name="tensor face">
            <a:extLst xmlns:a="http://schemas.openxmlformats.org/drawingml/2006/main">
              <a:ext uri="{FF2B5EF4-FFF2-40B4-BE49-F238E27FC236}">
                <a16:creationId xmlns:a16="http://schemas.microsoft.com/office/drawing/2014/main" id="{2E3413D5-CB9A-4440-8817-665A290A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362200"/>
            <a:ext cx="123825" cy="1685925"/>
          </a:xfrm>
          <a:custGeom xmlns:a="http://schemas.openxmlformats.org/drawingml/2006/main">
            <a:pathLst>
              <a:path w="123825" h="1685925">
                <a:moveTo>
                  <a:pt x="0" y="123825"/>
                </a:moveTo>
                <a:lnTo>
                  <a:pt x="123825" y="0"/>
                </a:lnTo>
                <a:lnTo>
                  <a:pt x="123825" y="1562100"/>
                </a:lnTo>
                <a:lnTo>
                  <a:pt x="0" y="1685925"/>
                </a:lnTo>
                <a:close/>
              </a:path>
            </a:pathLst>
          </a:custGeom>
          <a:solidFill xmlns:a="http://schemas.openxmlformats.org/drawingml/2006/main">
            <a:srgbClr val="DCEAF5"/>
          </a:solidFill>
          <a:ln xmlns:a="http://schemas.openxmlformats.org/drawingml/2006/main" w="10478">
            <a:solidFill>
              <a:srgbClr val="356899"/>
            </a:solidFill>
          </a:ln>
        </p:spPr>
      </p:sp>
      <p:sp>
        <p:nvSpPr>
          <p:cNvPr id="67" name="feature tensor">
            <a:extLst xmlns:a="http://schemas.openxmlformats.org/drawingml/2006/main">
              <a:ext uri="{FF2B5EF4-FFF2-40B4-BE49-F238E27FC236}">
                <a16:creationId xmlns:a16="http://schemas.microsoft.com/office/drawing/2014/main" id="{1A6B4444-77D2-4026-A380-CABDEC59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86025"/>
            <a:ext cx="5810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2383">
            <a:solidFill>
              <a:srgbClr val="356899"/>
            </a:solidFill>
          </a:ln>
        </p:spPr>
      </p:sp>
      <p:sp>
        <p:nvSpPr>
          <p:cNvPr id="68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F4F1232E-BFE5-453A-B975-809B0F26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09182"/>
            <a:ext cx="581025" cy="9525"/>
          </a:xfrm>
          <a:custGeom xmlns:a="http://schemas.openxmlformats.org/drawingml/2006/main">
            <a:pathLst>
              <a:path w="581025" h="9525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356899"/>
            </a:solidFill>
            <a:prstDash val="solid"/>
          </a:ln>
        </p:spPr>
      </p:sp>
      <p:sp>
        <p:nvSpPr>
          <p:cNvPr id="69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9C8544E9-AC6C-425B-9BC7-D063112A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32339"/>
            <a:ext cx="581025" cy="9525"/>
          </a:xfrm>
          <a:custGeom xmlns:a="http://schemas.openxmlformats.org/drawingml/2006/main">
            <a:pathLst>
              <a:path w="581025" h="9525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356899"/>
            </a:solidFill>
            <a:prstDash val="solid"/>
          </a:ln>
        </p:spPr>
      </p:sp>
      <p:sp>
        <p:nvSpPr>
          <p:cNvPr id="70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685DFC25-31E0-4CEF-9604-666B50B6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55496"/>
            <a:ext cx="581025" cy="9525"/>
          </a:xfrm>
          <a:custGeom xmlns:a="http://schemas.openxmlformats.org/drawingml/2006/main">
            <a:pathLst>
              <a:path w="581025" h="9525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356899"/>
            </a:solidFill>
            <a:prstDash val="solid"/>
          </a:ln>
        </p:spPr>
      </p:sp>
      <p:sp>
        <p:nvSpPr>
          <p:cNvPr id="71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2AAD0351-AF1A-4065-8F16-B1C93415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8654"/>
            <a:ext cx="581025" cy="9525"/>
          </a:xfrm>
          <a:custGeom xmlns:a="http://schemas.openxmlformats.org/drawingml/2006/main">
            <a:pathLst>
              <a:path w="581025" h="9525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356899"/>
            </a:solidFill>
            <a:prstDash val="solid"/>
          </a:ln>
        </p:spPr>
      </p:sp>
      <p:sp>
        <p:nvSpPr>
          <p:cNvPr id="72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FA0D7A7B-BAAA-4549-8DAC-CD97BA46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1811"/>
            <a:ext cx="581025" cy="9525"/>
          </a:xfrm>
          <a:custGeom xmlns:a="http://schemas.openxmlformats.org/drawingml/2006/main">
            <a:pathLst>
              <a:path w="581025" h="9525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356899"/>
            </a:solidFill>
            <a:prstDash val="solid"/>
          </a:ln>
        </p:spPr>
      </p:sp>
      <p:sp>
        <p:nvSpPr>
          <p:cNvPr id="73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C7220FAC-17B1-47C8-B452-32C0A1C1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24968"/>
            <a:ext cx="581025" cy="9525"/>
          </a:xfrm>
          <a:custGeom xmlns:a="http://schemas.openxmlformats.org/drawingml/2006/main">
            <a:pathLst>
              <a:path w="581025" h="9525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356899"/>
            </a:solidFill>
            <a:prstDash val="solid"/>
          </a:ln>
        </p:spPr>
      </p:sp>
      <p:sp>
        <p:nvSpPr>
          <p:cNvPr id="74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77CE2932-5C99-4A89-B497-7F4E8B13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506" y="2486025"/>
            <a:ext cx="9525" cy="1562100"/>
          </a:xfrm>
          <a:custGeom xmlns:a="http://schemas.openxmlformats.org/drawingml/2006/main">
            <a:pathLst>
              <a:path w="9525" h="1562100">
                <a:moveTo>
                  <a:pt x="0" y="0"/>
                </a:moveTo>
                <a:lnTo>
                  <a:pt x="0" y="156210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356899"/>
            </a:solidFill>
            <a:prstDash val="solid"/>
          </a:ln>
        </p:spPr>
      </p:sp>
      <p:sp>
        <p:nvSpPr>
          <p:cNvPr id="75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1F16AF65-135B-4450-AC71-A277BAA0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763" y="2486025"/>
            <a:ext cx="9525" cy="1562100"/>
          </a:xfrm>
          <a:custGeom xmlns:a="http://schemas.openxmlformats.org/drawingml/2006/main">
            <a:pathLst>
              <a:path w="9525" h="1562100">
                <a:moveTo>
                  <a:pt x="0" y="0"/>
                </a:moveTo>
                <a:lnTo>
                  <a:pt x="0" y="156210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356899"/>
            </a:solidFill>
            <a:prstDash val="solid"/>
          </a:ln>
        </p:spPr>
      </p:sp>
      <p:sp>
        <p:nvSpPr>
          <p:cNvPr id="76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0C9BA20C-1848-4054-90D8-7A6B693D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0019" y="2486025"/>
            <a:ext cx="9525" cy="1562100"/>
          </a:xfrm>
          <a:custGeom xmlns:a="http://schemas.openxmlformats.org/drawingml/2006/main">
            <a:pathLst>
              <a:path w="9525" h="1562100">
                <a:moveTo>
                  <a:pt x="0" y="0"/>
                </a:moveTo>
                <a:lnTo>
                  <a:pt x="0" y="156210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356899"/>
            </a:solidFill>
            <a:prstDash val="solid"/>
          </a:ln>
        </p:spPr>
      </p:sp>
      <p:sp>
        <p:nvSpPr>
          <p:cNvPr id="77" name="577 × 768">
            <a:extLst xmlns:a="http://schemas.openxmlformats.org/drawingml/2006/main">
              <a:ext uri="{FF2B5EF4-FFF2-40B4-BE49-F238E27FC236}">
                <a16:creationId xmlns:a16="http://schemas.microsoft.com/office/drawing/2014/main" id="{A9F86614-C08D-40B0-ACC2-297FF2EF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9575"/>
            <a:ext cx="1533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577 × 768</a:t>
            </a:r>
          </a:p>
        </p:txBody>
      </p:sp>
      <p:sp>
        <p:nvSpPr>
          <p:cNvPr id="78" name="每帧 tokens">
            <a:extLst xmlns:a="http://schemas.openxmlformats.org/drawingml/2006/main">
              <a:ext uri="{FF2B5EF4-FFF2-40B4-BE49-F238E27FC236}">
                <a16:creationId xmlns:a16="http://schemas.microsoft.com/office/drawing/2014/main" id="{23B41956-045C-45D1-B85F-61A03669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52950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每帧 tokens</a:t>
            </a:r>
          </a:p>
        </p:txBody>
      </p:sp>
      <p:sp>
        <p:nvSpPr>
          <p:cNvPr id="79" name="CLS token">
            <a:extLst xmlns:a="http://schemas.openxmlformats.org/drawingml/2006/main">
              <a:ext uri="{FF2B5EF4-FFF2-40B4-BE49-F238E27FC236}">
                <a16:creationId xmlns:a16="http://schemas.microsoft.com/office/drawing/2014/main" id="{009167E7-EA7C-430C-B17C-F7CFC461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86025"/>
            <a:ext cx="5810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DCF"/>
          </a:solidFill>
          <a:ln xmlns:a="http://schemas.openxmlformats.org/drawingml/2006/main" w="11430">
            <a:solidFill>
              <a:srgbClr val="B79334"/>
            </a:solidFill>
          </a:ln>
        </p:spPr>
      </p:sp>
      <p:sp>
        <p:nvSpPr>
          <p:cNvPr id="80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53DFA925-2A88-4D1F-BFCD-2D410007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14600"/>
            <a:ext cx="666750" cy="85725"/>
          </a:xfrm>
          <a:custGeom xmlns:a="http://schemas.openxmlformats.org/drawingml/2006/main">
            <a:pathLst>
              <a:path w="666750" h="85725">
                <a:moveTo>
                  <a:pt x="0" y="85725"/>
                </a:moveTo>
                <a:lnTo>
                  <a:pt x="323850" y="85725"/>
                </a:lnTo>
                <a:lnTo>
                  <a:pt x="323850" y="0"/>
                </a:ln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81" name="arrowhead">
            <a:extLst xmlns:a="http://schemas.openxmlformats.org/drawingml/2006/main">
              <a:ext uri="{FF2B5EF4-FFF2-40B4-BE49-F238E27FC236}">
                <a16:creationId xmlns:a16="http://schemas.microsoft.com/office/drawing/2014/main" id="{6BDDB741-AD6E-44EB-8123-25605AFF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46697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82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39307692-EBF7-4601-B013-94A9AB17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29000"/>
            <a:ext cx="666750" cy="371475"/>
          </a:xfrm>
          <a:custGeom xmlns:a="http://schemas.openxmlformats.org/drawingml/2006/main">
            <a:pathLst>
              <a:path w="666750" h="371475">
                <a:moveTo>
                  <a:pt x="0" y="0"/>
                </a:moveTo>
                <a:lnTo>
                  <a:pt x="333375" y="0"/>
                </a:lnTo>
                <a:lnTo>
                  <a:pt x="333375" y="371475"/>
                </a:lnTo>
                <a:lnTo>
                  <a:pt x="66675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83" name="arrowhead">
            <a:extLst xmlns:a="http://schemas.openxmlformats.org/drawingml/2006/main">
              <a:ext uri="{FF2B5EF4-FFF2-40B4-BE49-F238E27FC236}">
                <a16:creationId xmlns:a16="http://schemas.microsoft.com/office/drawing/2014/main" id="{22E4DE6C-CFE0-42C3-AADC-B994607D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7528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84" name="CLS 768">
            <a:extLst xmlns:a="http://schemas.openxmlformats.org/drawingml/2006/main">
              <a:ext uri="{FF2B5EF4-FFF2-40B4-BE49-F238E27FC236}">
                <a16:creationId xmlns:a16="http://schemas.microsoft.com/office/drawing/2014/main" id="{798D95A2-79F3-468E-BA38-B3577C92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28850"/>
            <a:ext cx="14954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DCF"/>
          </a:solidFill>
          <a:ln xmlns:a="http://schemas.openxmlformats.org/drawingml/2006/main" w="14288">
            <a:solidFill>
              <a:srgbClr val="B79334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B79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B79334"/>
                </a:solidFill>
                <a:latin typeface="Microsoft YaHei"/>
                <a:ea typeface="Microsoft YaHei"/>
                <a:cs typeface="Microsoft YaHei"/>
              </a:rPr>
              <a:t>CLS 768</a:t>
            </a:r>
          </a:p>
        </p:txBody>
      </p:sp>
      <p:sp>
        <p:nvSpPr>
          <p:cNvPr id="85" name="Mean 768">
            <a:extLst xmlns:a="http://schemas.openxmlformats.org/drawingml/2006/main">
              <a:ext uri="{FF2B5EF4-FFF2-40B4-BE49-F238E27FC236}">
                <a16:creationId xmlns:a16="http://schemas.microsoft.com/office/drawing/2014/main" id="{CFBF3D0A-8A9E-4123-B46A-797A97F8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14725"/>
            <a:ext cx="14954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Mean 768</a:t>
            </a:r>
          </a:p>
        </p:txBody>
      </p:sp>
      <p:sp>
        <p:nvSpPr>
          <p:cNvPr id="86" name="576 个 patch 均值">
            <a:extLst xmlns:a="http://schemas.openxmlformats.org/drawingml/2006/main">
              <a:ext uri="{FF2B5EF4-FFF2-40B4-BE49-F238E27FC236}">
                <a16:creationId xmlns:a16="http://schemas.microsoft.com/office/drawing/2014/main" id="{8306C3DB-DA2B-43DD-8D22-0184C98D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00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576 个 patch 均值</a:t>
            </a:r>
          </a:p>
        </p:txBody>
      </p:sp>
      <p:sp>
        <p:nvSpPr>
          <p:cNvPr id="87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A252144B-CF23-438C-B57C-1C404083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514600"/>
            <a:ext cx="723900" cy="666750"/>
          </a:xfrm>
          <a:custGeom xmlns:a="http://schemas.openxmlformats.org/drawingml/2006/main">
            <a:pathLst>
              <a:path w="723900" h="666750">
                <a:moveTo>
                  <a:pt x="0" y="0"/>
                </a:moveTo>
                <a:lnTo>
                  <a:pt x="419100" y="0"/>
                </a:lnTo>
                <a:lnTo>
                  <a:pt x="419100" y="666750"/>
                </a:lnTo>
                <a:lnTo>
                  <a:pt x="72390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88" name="arrowhead">
            <a:extLst xmlns:a="http://schemas.openxmlformats.org/drawingml/2006/main">
              <a:ext uri="{FF2B5EF4-FFF2-40B4-BE49-F238E27FC236}">
                <a16:creationId xmlns:a16="http://schemas.microsoft.com/office/drawing/2014/main" id="{915E5C5F-901A-4D01-8D61-A8B1F55F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13372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89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3154ABC9-7969-4AF7-BCC4-9DE41C9E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181350"/>
            <a:ext cx="419100" cy="619125"/>
          </a:xfrm>
          <a:custGeom xmlns:a="http://schemas.openxmlformats.org/drawingml/2006/main">
            <a:pathLst>
              <a:path w="419100" h="619125">
                <a:moveTo>
                  <a:pt x="0" y="619125"/>
                </a:moveTo>
                <a:lnTo>
                  <a:pt x="419100" y="619125"/>
                </a:ln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90" name="concatenation">
            <a:extLst xmlns:a="http://schemas.openxmlformats.org/drawingml/2006/main">
              <a:ext uri="{FF2B5EF4-FFF2-40B4-BE49-F238E27FC236}">
                <a16:creationId xmlns:a16="http://schemas.microsoft.com/office/drawing/2014/main" id="{906ADF97-AEBE-4484-B035-BF391FDD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3009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861A1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786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>
                <a:solidFill>
                  <a:srgbClr val="7861A1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91" name="concat">
            <a:extLst xmlns:a="http://schemas.openxmlformats.org/drawingml/2006/main">
              <a:ext uri="{FF2B5EF4-FFF2-40B4-BE49-F238E27FC236}">
                <a16:creationId xmlns:a16="http://schemas.microsoft.com/office/drawing/2014/main" id="{EF810B4B-2F66-4275-ABAC-4C300794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4766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86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861A1"/>
                </a:solidFill>
                <a:latin typeface="Microsoft YaHei"/>
                <a:ea typeface="Microsoft YaHei"/>
                <a:cs typeface="Microsoft YaHei"/>
              </a:rPr>
              <a:t>concat</a:t>
            </a:r>
          </a:p>
        </p:txBody>
      </p:sp>
      <p:sp>
        <p:nvSpPr>
          <p:cNvPr id="92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6BAE53C1-DDC2-46DB-9E89-DD09EB7F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181350"/>
            <a:ext cx="342900" cy="9525"/>
          </a:xfrm>
          <a:custGeom xmlns:a="http://schemas.openxmlformats.org/drawingml/2006/main"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93" name="arrowhead">
            <a:extLst xmlns:a="http://schemas.openxmlformats.org/drawingml/2006/main">
              <a:ext uri="{FF2B5EF4-FFF2-40B4-BE49-F238E27FC236}">
                <a16:creationId xmlns:a16="http://schemas.microsoft.com/office/drawing/2014/main" id="{38C9F015-5E5E-4F31-8B20-C618E6B0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13372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94" name="tensor face">
            <a:extLst xmlns:a="http://schemas.openxmlformats.org/drawingml/2006/main">
              <a:ext uri="{FF2B5EF4-FFF2-40B4-BE49-F238E27FC236}">
                <a16:creationId xmlns:a16="http://schemas.microsoft.com/office/drawing/2014/main" id="{3140E8EB-F70A-4556-9823-F8E4E454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95525"/>
            <a:ext cx="638175" cy="123825"/>
          </a:xfrm>
          <a:custGeom xmlns:a="http://schemas.openxmlformats.org/drawingml/2006/main">
            <a:pathLst>
              <a:path w="638175" h="123825">
                <a:moveTo>
                  <a:pt x="0" y="123825"/>
                </a:moveTo>
                <a:lnTo>
                  <a:pt x="123825" y="0"/>
                </a:lnTo>
                <a:lnTo>
                  <a:pt x="638175" y="0"/>
                </a:lnTo>
                <a:lnTo>
                  <a:pt x="514350" y="123825"/>
                </a:lnTo>
                <a:close/>
              </a:path>
            </a:pathLst>
          </a:custGeom>
          <a:solidFill xmlns:a="http://schemas.openxmlformats.org/drawingml/2006/main">
            <a:srgbClr val="EDE6F4"/>
          </a:solidFill>
          <a:ln xmlns:a="http://schemas.openxmlformats.org/drawingml/2006/main" w="10478">
            <a:solidFill>
              <a:srgbClr val="7861A1"/>
            </a:solidFill>
          </a:ln>
        </p:spPr>
      </p:sp>
      <p:sp>
        <p:nvSpPr>
          <p:cNvPr id="95" name="tensor face">
            <a:extLst xmlns:a="http://schemas.openxmlformats.org/drawingml/2006/main">
              <a:ext uri="{FF2B5EF4-FFF2-40B4-BE49-F238E27FC236}">
                <a16:creationId xmlns:a16="http://schemas.microsoft.com/office/drawing/2014/main" id="{63824E5F-8ADD-4B8C-A854-30348191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295525"/>
            <a:ext cx="123825" cy="1752600"/>
          </a:xfrm>
          <a:custGeom xmlns:a="http://schemas.openxmlformats.org/drawingml/2006/main">
            <a:pathLst>
              <a:path w="123825" h="1752600">
                <a:moveTo>
                  <a:pt x="0" y="123825"/>
                </a:moveTo>
                <a:lnTo>
                  <a:pt x="123825" y="0"/>
                </a:lnTo>
                <a:lnTo>
                  <a:pt x="123825" y="1628775"/>
                </a:lnTo>
                <a:lnTo>
                  <a:pt x="0" y="1752600"/>
                </a:lnTo>
                <a:close/>
              </a:path>
            </a:pathLst>
          </a:custGeom>
          <a:solidFill xmlns:a="http://schemas.openxmlformats.org/drawingml/2006/main">
            <a:srgbClr val="EDE6F4"/>
          </a:solidFill>
          <a:ln xmlns:a="http://schemas.openxmlformats.org/drawingml/2006/main" w="10478">
            <a:solidFill>
              <a:srgbClr val="7861A1"/>
            </a:solidFill>
          </a:ln>
        </p:spPr>
      </p:sp>
      <p:sp>
        <p:nvSpPr>
          <p:cNvPr id="96" name="feature tensor">
            <a:extLst xmlns:a="http://schemas.openxmlformats.org/drawingml/2006/main">
              <a:ext uri="{FF2B5EF4-FFF2-40B4-BE49-F238E27FC236}">
                <a16:creationId xmlns:a16="http://schemas.microsoft.com/office/drawing/2014/main" id="{0ED3078E-0466-454D-AB6F-14A72627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419350"/>
            <a:ext cx="51435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6F4"/>
          </a:solidFill>
          <a:ln xmlns:a="http://schemas.openxmlformats.org/drawingml/2006/main" w="12383">
            <a:solidFill>
              <a:srgbClr val="7861A1"/>
            </a:solidFill>
          </a:ln>
        </p:spPr>
      </p:sp>
      <p:sp>
        <p:nvSpPr>
          <p:cNvPr id="97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222195B4-B028-4F3D-BC5D-96F09901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622947"/>
            <a:ext cx="514350" cy="9525"/>
          </a:xfrm>
          <a:custGeom xmlns:a="http://schemas.openxmlformats.org/drawingml/2006/main">
            <a:pathLst>
              <a:path w="514350" h="9525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861A1"/>
            </a:solidFill>
            <a:prstDash val="solid"/>
          </a:ln>
        </p:spPr>
      </p:sp>
      <p:sp>
        <p:nvSpPr>
          <p:cNvPr id="98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5D4C0078-2188-4C87-A9AF-F4845CAE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826544"/>
            <a:ext cx="514350" cy="9525"/>
          </a:xfrm>
          <a:custGeom xmlns:a="http://schemas.openxmlformats.org/drawingml/2006/main">
            <a:pathLst>
              <a:path w="514350" h="9525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861A1"/>
            </a:solidFill>
            <a:prstDash val="solid"/>
          </a:ln>
        </p:spPr>
      </p:sp>
      <p:sp>
        <p:nvSpPr>
          <p:cNvPr id="99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32A5805E-80F6-47EC-9D8A-182983BB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030141"/>
            <a:ext cx="514350" cy="9525"/>
          </a:xfrm>
          <a:custGeom xmlns:a="http://schemas.openxmlformats.org/drawingml/2006/main">
            <a:pathLst>
              <a:path w="514350" h="9525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861A1"/>
            </a:solidFill>
            <a:prstDash val="solid"/>
          </a:ln>
        </p:spPr>
      </p:sp>
      <p:sp>
        <p:nvSpPr>
          <p:cNvPr id="100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2F37AB04-432A-4F3D-9B68-815C65A0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233738"/>
            <a:ext cx="514350" cy="9525"/>
          </a:xfrm>
          <a:custGeom xmlns:a="http://schemas.openxmlformats.org/drawingml/2006/main">
            <a:pathLst>
              <a:path w="514350" h="9525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861A1"/>
            </a:solidFill>
            <a:prstDash val="solid"/>
          </a:ln>
        </p:spPr>
      </p:sp>
      <p:sp>
        <p:nvSpPr>
          <p:cNvPr id="101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9B89A925-22C5-456E-97BA-C11471A3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437334"/>
            <a:ext cx="514350" cy="9525"/>
          </a:xfrm>
          <a:custGeom xmlns:a="http://schemas.openxmlformats.org/drawingml/2006/main">
            <a:pathLst>
              <a:path w="514350" h="9525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861A1"/>
            </a:solidFill>
            <a:prstDash val="solid"/>
          </a:ln>
        </p:spPr>
      </p:sp>
      <p:sp>
        <p:nvSpPr>
          <p:cNvPr id="102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1D4CCDFA-3229-45A1-BE83-FE27D5F8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640931"/>
            <a:ext cx="514350" cy="9525"/>
          </a:xfrm>
          <a:custGeom xmlns:a="http://schemas.openxmlformats.org/drawingml/2006/main">
            <a:pathLst>
              <a:path w="514350" h="9525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861A1"/>
            </a:solidFill>
            <a:prstDash val="solid"/>
          </a:ln>
        </p:spPr>
      </p:sp>
      <p:sp>
        <p:nvSpPr>
          <p:cNvPr id="103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832B17A1-BD0D-42EE-B7A7-3498D42C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844528"/>
            <a:ext cx="514350" cy="9525"/>
          </a:xfrm>
          <a:custGeom xmlns:a="http://schemas.openxmlformats.org/drawingml/2006/main">
            <a:pathLst>
              <a:path w="514350" h="9525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861A1"/>
            </a:solidFill>
            <a:prstDash val="solid"/>
          </a:ln>
        </p:spPr>
      </p:sp>
      <p:sp>
        <p:nvSpPr>
          <p:cNvPr id="104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382CD815-663B-4257-8084-AF4E0EBA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7188" y="2419350"/>
            <a:ext cx="9525" cy="1628775"/>
          </a:xfrm>
          <a:custGeom xmlns:a="http://schemas.openxmlformats.org/drawingml/2006/main">
            <a:pathLst>
              <a:path w="9525" h="1628775">
                <a:moveTo>
                  <a:pt x="0" y="0"/>
                </a:moveTo>
                <a:lnTo>
                  <a:pt x="0" y="1628775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7861A1"/>
            </a:solidFill>
            <a:prstDash val="solid"/>
          </a:ln>
        </p:spPr>
      </p:sp>
      <p:sp>
        <p:nvSpPr>
          <p:cNvPr id="105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B0C99993-C537-4771-81C0-4ADBFA81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419350"/>
            <a:ext cx="9525" cy="1628775"/>
          </a:xfrm>
          <a:custGeom xmlns:a="http://schemas.openxmlformats.org/drawingml/2006/main">
            <a:pathLst>
              <a:path w="9525" h="1628775">
                <a:moveTo>
                  <a:pt x="0" y="0"/>
                </a:moveTo>
                <a:lnTo>
                  <a:pt x="0" y="1628775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7861A1"/>
            </a:solidFill>
            <a:prstDash val="solid"/>
          </a:ln>
        </p:spPr>
      </p:sp>
      <p:sp>
        <p:nvSpPr>
          <p:cNvPr id="106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A358B003-6ABF-4E9A-AD10-FE40B032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4363" y="2419350"/>
            <a:ext cx="9525" cy="1628775"/>
          </a:xfrm>
          <a:custGeom xmlns:a="http://schemas.openxmlformats.org/drawingml/2006/main">
            <a:pathLst>
              <a:path w="9525" h="1628775">
                <a:moveTo>
                  <a:pt x="0" y="0"/>
                </a:moveTo>
                <a:lnTo>
                  <a:pt x="0" y="1628775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7861A1"/>
            </a:solidFill>
            <a:prstDash val="solid"/>
          </a:ln>
        </p:spPr>
      </p:sp>
      <p:sp>
        <p:nvSpPr>
          <p:cNvPr id="107" name="1536 × N">
            <a:extLst xmlns:a="http://schemas.openxmlformats.org/drawingml/2006/main">
              <a:ext uri="{FF2B5EF4-FFF2-40B4-BE49-F238E27FC236}">
                <a16:creationId xmlns:a16="http://schemas.microsoft.com/office/drawing/2014/main" id="{3A82261F-AE8F-49FD-835A-3B18EA4A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219575"/>
            <a:ext cx="1466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86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861A1"/>
                </a:solidFill>
                <a:latin typeface="Microsoft YaHei"/>
                <a:ea typeface="Microsoft YaHei"/>
                <a:cs typeface="Microsoft YaHei"/>
              </a:rPr>
              <a:t>1536 × N</a:t>
            </a:r>
          </a:p>
        </p:txBody>
      </p:sp>
      <p:sp>
        <p:nvSpPr>
          <p:cNvPr id="108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E37580FE-1C44-4BC2-A46D-4A8EF93B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3181350"/>
            <a:ext cx="276225" cy="9525"/>
          </a:xfrm>
          <a:custGeom xmlns:a="http://schemas.openxmlformats.org/drawingml/2006/main">
            <a:pathLst>
              <a:path w="276225" h="952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109" name="arrowhead">
            <a:extLst xmlns:a="http://schemas.openxmlformats.org/drawingml/2006/main">
              <a:ext uri="{FF2B5EF4-FFF2-40B4-BE49-F238E27FC236}">
                <a16:creationId xmlns:a16="http://schemas.microsoft.com/office/drawing/2014/main" id="{14CDF3B3-F375-4FCC-8CD6-920595B9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225" y="313372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110" name="Z-score&#10;每视频">
            <a:extLst xmlns:a="http://schemas.openxmlformats.org/drawingml/2006/main">
              <a:ext uri="{FF2B5EF4-FFF2-40B4-BE49-F238E27FC236}">
                <a16:creationId xmlns:a16="http://schemas.microsoft.com/office/drawing/2014/main" id="{476DAF73-9183-4711-92A0-80FCC103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752725"/>
            <a:ext cx="1219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6F4"/>
          </a:solidFill>
          <a:ln xmlns:a="http://schemas.openxmlformats.org/drawingml/2006/main" w="14288">
            <a:solidFill>
              <a:srgbClr val="7861A1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786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7861A1"/>
                </a:solidFill>
                <a:latin typeface="Microsoft YaHei"/>
                <a:ea typeface="Microsoft YaHei"/>
                <a:cs typeface="Microsoft YaHei"/>
              </a:rPr>
              <a:t>Z-score</a:t>
            </a:r>
          </a:p>
          <a:p xmlns:a="http://schemas.openxmlformats.org/drawingml/2006/main">
            <a:pPr algn="ctr">
              <a:defRPr sz="1875">
                <a:solidFill>
                  <a:srgbClr val="786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7861A1"/>
                </a:solidFill>
                <a:latin typeface="Microsoft YaHei"/>
                <a:ea typeface="Microsoft YaHei"/>
                <a:cs typeface="Microsoft YaHei"/>
              </a:rPr>
              <a:t>每视频</a:t>
            </a:r>
          </a:p>
        </p:txBody>
      </p:sp>
      <p:sp>
        <p:nvSpPr>
          <p:cNvPr id="111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5C2BBEED-AFBA-4126-876B-08919328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2562225"/>
            <a:ext cx="590550" cy="619125"/>
          </a:xfrm>
          <a:custGeom xmlns:a="http://schemas.openxmlformats.org/drawingml/2006/main">
            <a:pathLst>
              <a:path w="590550" h="619125">
                <a:moveTo>
                  <a:pt x="0" y="619125"/>
                </a:moveTo>
                <a:lnTo>
                  <a:pt x="238125" y="619125"/>
                </a:lnTo>
                <a:lnTo>
                  <a:pt x="238125" y="0"/>
                </a:lnTo>
                <a:lnTo>
                  <a:pt x="590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112" name="arrowhead">
            <a:extLst xmlns:a="http://schemas.openxmlformats.org/drawingml/2006/main">
              <a:ext uri="{FF2B5EF4-FFF2-40B4-BE49-F238E27FC236}">
                <a16:creationId xmlns:a16="http://schemas.microsoft.com/office/drawing/2014/main" id="{A45BD50C-4DF5-400B-9D72-EB0130B4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975" y="251460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113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AA7521FF-177E-47B0-9EFF-60B90613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3181350"/>
            <a:ext cx="352425" cy="628650"/>
          </a:xfrm>
          <a:custGeom xmlns:a="http://schemas.openxmlformats.org/drawingml/2006/main">
            <a:pathLst>
              <a:path w="352425" h="628650">
                <a:moveTo>
                  <a:pt x="0" y="0"/>
                </a:moveTo>
                <a:lnTo>
                  <a:pt x="0" y="628650"/>
                </a:lnTo>
                <a:lnTo>
                  <a:pt x="352425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114" name="arrowhead">
            <a:extLst xmlns:a="http://schemas.openxmlformats.org/drawingml/2006/main">
              <a:ext uri="{FF2B5EF4-FFF2-40B4-BE49-F238E27FC236}">
                <a16:creationId xmlns:a16="http://schemas.microsoft.com/office/drawing/2014/main" id="{B19C8A85-23FF-42B4-8A98-17D5042A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975" y="376237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115" name="Linear head">
            <a:extLst xmlns:a="http://schemas.openxmlformats.org/drawingml/2006/main">
              <a:ext uri="{FF2B5EF4-FFF2-40B4-BE49-F238E27FC236}">
                <a16:creationId xmlns:a16="http://schemas.microsoft.com/office/drawing/2014/main" id="{15798860-B5E5-4CE1-B8C5-DEB7E5CA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2266950"/>
            <a:ext cx="16859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DEA"/>
          </a:solidFill>
          <a:ln xmlns:a="http://schemas.openxmlformats.org/drawingml/2006/main" w="14288">
            <a:solidFill>
              <a:srgbClr val="2D877F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2D87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D877F"/>
                </a:solidFill>
                <a:latin typeface="Microsoft YaHei"/>
                <a:ea typeface="Microsoft YaHei"/>
                <a:cs typeface="Microsoft YaHei"/>
              </a:rPr>
              <a:t>Linear head</a:t>
            </a:r>
          </a:p>
        </p:txBody>
      </p:sp>
      <p:sp>
        <p:nvSpPr>
          <p:cNvPr id="116" name="1536 → 13">
            <a:extLst xmlns:a="http://schemas.openxmlformats.org/drawingml/2006/main">
              <a:ext uri="{FF2B5EF4-FFF2-40B4-BE49-F238E27FC236}">
                <a16:creationId xmlns:a16="http://schemas.microsoft.com/office/drawing/2014/main" id="{85F2BCF6-B32F-4B30-B28E-62180874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2924175"/>
            <a:ext cx="1685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D87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D877F"/>
                </a:solidFill>
                <a:latin typeface="Microsoft YaHei"/>
                <a:ea typeface="Microsoft YaHei"/>
                <a:cs typeface="Microsoft YaHei"/>
              </a:rPr>
              <a:t>1536 → 13</a:t>
            </a:r>
          </a:p>
        </p:txBody>
      </p:sp>
      <p:sp>
        <p:nvSpPr>
          <p:cNvPr id="117" name="PCA + whitening">
            <a:extLst xmlns:a="http://schemas.openxmlformats.org/drawingml/2006/main">
              <a:ext uri="{FF2B5EF4-FFF2-40B4-BE49-F238E27FC236}">
                <a16:creationId xmlns:a16="http://schemas.microsoft.com/office/drawing/2014/main" id="{83FDF0D5-357C-49C7-BF79-3EBEFCD3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3514725"/>
            <a:ext cx="16859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6F4"/>
          </a:solidFill>
          <a:ln xmlns:a="http://schemas.openxmlformats.org/drawingml/2006/main" w="14288">
            <a:solidFill>
              <a:srgbClr val="7861A1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786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7861A1"/>
                </a:solidFill>
                <a:latin typeface="Microsoft YaHei"/>
                <a:ea typeface="Microsoft YaHei"/>
                <a:cs typeface="Microsoft YaHei"/>
              </a:rPr>
              <a:t>PCA + whitening</a:t>
            </a:r>
          </a:p>
        </p:txBody>
      </p:sp>
      <p:sp>
        <p:nvSpPr>
          <p:cNvPr id="118" name="训练侧拟合">
            <a:extLst xmlns:a="http://schemas.openxmlformats.org/drawingml/2006/main">
              <a:ext uri="{FF2B5EF4-FFF2-40B4-BE49-F238E27FC236}">
                <a16:creationId xmlns:a16="http://schemas.microsoft.com/office/drawing/2014/main" id="{31B2BB4D-905C-4ACF-B0E8-4EA749C0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4171950"/>
            <a:ext cx="1685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训练侧拟合</a:t>
            </a:r>
          </a:p>
        </p:txBody>
      </p:sp>
      <p:sp>
        <p:nvSpPr>
          <p:cNvPr id="119" name="Time / gap flags">
            <a:extLst xmlns:a="http://schemas.openxmlformats.org/drawingml/2006/main">
              <a:ext uri="{FF2B5EF4-FFF2-40B4-BE49-F238E27FC236}">
                <a16:creationId xmlns:a16="http://schemas.microsoft.com/office/drawing/2014/main" id="{D1F13714-8E00-478E-B984-C1A244C2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4733925"/>
            <a:ext cx="16859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DCF"/>
          </a:solidFill>
          <a:ln xmlns:a="http://schemas.openxmlformats.org/drawingml/2006/main" w="14288">
            <a:solidFill>
              <a:srgbClr val="B79334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B79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B79334"/>
                </a:solidFill>
                <a:latin typeface="Microsoft YaHei"/>
                <a:ea typeface="Microsoft YaHei"/>
                <a:cs typeface="Microsoft YaHei"/>
              </a:rPr>
              <a:t>Time / gap flags</a:t>
            </a:r>
          </a:p>
        </p:txBody>
      </p:sp>
      <p:sp>
        <p:nvSpPr>
          <p:cNvPr id="120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4A19B342-092F-4174-8D94-AB1298AD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8675" y="2562225"/>
            <a:ext cx="504825" cy="9525"/>
          </a:xfrm>
          <a:custGeom xmlns:a="http://schemas.openxmlformats.org/drawingml/2006/main">
            <a:pathLst>
              <a:path w="504825" h="952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121" name="arrowhead">
            <a:extLst xmlns:a="http://schemas.openxmlformats.org/drawingml/2006/main">
              <a:ext uri="{FF2B5EF4-FFF2-40B4-BE49-F238E27FC236}">
                <a16:creationId xmlns:a16="http://schemas.microsoft.com/office/drawing/2014/main" id="{57A78E66-1C15-4AC1-B008-9C01DAFD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25" y="251460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122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0D4AC978-8631-4083-B924-232EBBF9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8675" y="3810000"/>
            <a:ext cx="504825" cy="9525"/>
          </a:xfrm>
          <a:custGeom xmlns:a="http://schemas.openxmlformats.org/drawingml/2006/main">
            <a:pathLst>
              <a:path w="504825" h="952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123" name="arrowhead">
            <a:extLst xmlns:a="http://schemas.openxmlformats.org/drawingml/2006/main">
              <a:ext uri="{FF2B5EF4-FFF2-40B4-BE49-F238E27FC236}">
                <a16:creationId xmlns:a16="http://schemas.microsoft.com/office/drawing/2014/main" id="{3D6AC045-2C00-46D9-8F17-279BA018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25" y="376237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124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0AC25AF5-832D-4DFF-9683-3DA5A479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8675" y="5029200"/>
            <a:ext cx="504825" cy="9525"/>
          </a:xfrm>
          <a:custGeom xmlns:a="http://schemas.openxmlformats.org/drawingml/2006/main">
            <a:pathLst>
              <a:path w="504825" h="952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125" name="arrowhead">
            <a:extLst xmlns:a="http://schemas.openxmlformats.org/drawingml/2006/main">
              <a:ext uri="{FF2B5EF4-FFF2-40B4-BE49-F238E27FC236}">
                <a16:creationId xmlns:a16="http://schemas.microsoft.com/office/drawing/2014/main" id="{71332862-5343-4B3D-8F92-BBDB6C62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25" y="498157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126" name="tensor face">
            <a:extLst xmlns:a="http://schemas.openxmlformats.org/drawingml/2006/main">
              <a:ext uri="{FF2B5EF4-FFF2-40B4-BE49-F238E27FC236}">
                <a16:creationId xmlns:a16="http://schemas.microsoft.com/office/drawing/2014/main" id="{22ED5964-E8F1-44F6-8BE1-E6DAC771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25" y="2105025"/>
            <a:ext cx="885825" cy="123825"/>
          </a:xfrm>
          <a:custGeom xmlns:a="http://schemas.openxmlformats.org/drawingml/2006/main">
            <a:pathLst>
              <a:path w="885825" h="123825">
                <a:moveTo>
                  <a:pt x="0" y="123825"/>
                </a:moveTo>
                <a:lnTo>
                  <a:pt x="123825" y="0"/>
                </a:lnTo>
                <a:lnTo>
                  <a:pt x="885825" y="0"/>
                </a:lnTo>
                <a:lnTo>
                  <a:pt x="762000" y="123825"/>
                </a:lnTo>
                <a:close/>
              </a:path>
            </a:pathLst>
          </a:custGeom>
          <a:solidFill xmlns:a="http://schemas.openxmlformats.org/drawingml/2006/main">
            <a:srgbClr val="D6EDEA"/>
          </a:solidFill>
          <a:ln xmlns:a="http://schemas.openxmlformats.org/drawingml/2006/main" w="10478">
            <a:solidFill>
              <a:srgbClr val="2D877F"/>
            </a:solidFill>
          </a:ln>
        </p:spPr>
      </p:sp>
      <p:sp>
        <p:nvSpPr>
          <p:cNvPr id="127" name="tensor face">
            <a:extLst xmlns:a="http://schemas.openxmlformats.org/drawingml/2006/main">
              <a:ext uri="{FF2B5EF4-FFF2-40B4-BE49-F238E27FC236}">
                <a16:creationId xmlns:a16="http://schemas.microsoft.com/office/drawing/2014/main" id="{2A1A8B9B-A625-4088-8BD4-1A66A53C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25" y="2105025"/>
            <a:ext cx="123825" cy="790575"/>
          </a:xfrm>
          <a:custGeom xmlns:a="http://schemas.openxmlformats.org/drawingml/2006/main">
            <a:pathLst>
              <a:path w="123825" h="790575">
                <a:moveTo>
                  <a:pt x="0" y="123825"/>
                </a:moveTo>
                <a:lnTo>
                  <a:pt x="123825" y="0"/>
                </a:lnTo>
                <a:lnTo>
                  <a:pt x="123825" y="666750"/>
                </a:lnTo>
                <a:lnTo>
                  <a:pt x="0" y="790575"/>
                </a:lnTo>
                <a:close/>
              </a:path>
            </a:pathLst>
          </a:custGeom>
          <a:solidFill xmlns:a="http://schemas.openxmlformats.org/drawingml/2006/main">
            <a:srgbClr val="D6EDEA"/>
          </a:solidFill>
          <a:ln xmlns:a="http://schemas.openxmlformats.org/drawingml/2006/main" w="10478">
            <a:solidFill>
              <a:srgbClr val="2D877F"/>
            </a:solidFill>
          </a:ln>
        </p:spPr>
      </p:sp>
      <p:sp>
        <p:nvSpPr>
          <p:cNvPr id="128" name="feature tensor">
            <a:extLst xmlns:a="http://schemas.openxmlformats.org/drawingml/2006/main">
              <a:ext uri="{FF2B5EF4-FFF2-40B4-BE49-F238E27FC236}">
                <a16:creationId xmlns:a16="http://schemas.microsoft.com/office/drawing/2014/main" id="{98624817-119F-473F-9248-9D115264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25" y="2228850"/>
            <a:ext cx="76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DEA"/>
          </a:solidFill>
          <a:ln xmlns:a="http://schemas.openxmlformats.org/drawingml/2006/main" w="12383">
            <a:solidFill>
              <a:srgbClr val="2D877F"/>
            </a:solidFill>
          </a:ln>
        </p:spPr>
      </p:sp>
      <p:sp>
        <p:nvSpPr>
          <p:cNvPr id="129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E5452538-D907-4B61-8B2A-D6E70DB0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25" y="2362200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2D877F"/>
            </a:solidFill>
            <a:prstDash val="solid"/>
          </a:ln>
        </p:spPr>
      </p:sp>
      <p:sp>
        <p:nvSpPr>
          <p:cNvPr id="130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46CB49E2-DB16-491B-94E5-7906F7B7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25" y="2495550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2D877F"/>
            </a:solidFill>
            <a:prstDash val="solid"/>
          </a:ln>
        </p:spPr>
      </p:sp>
      <p:sp>
        <p:nvSpPr>
          <p:cNvPr id="131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2608F949-1573-4051-A576-DA026247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25" y="2628900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2D877F"/>
            </a:solidFill>
            <a:prstDash val="solid"/>
          </a:ln>
        </p:spPr>
      </p:sp>
      <p:sp>
        <p:nvSpPr>
          <p:cNvPr id="132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A589412D-2119-4DDF-940E-019F8836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25" y="2762250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2D877F"/>
            </a:solidFill>
            <a:prstDash val="solid"/>
          </a:ln>
        </p:spPr>
      </p:sp>
      <p:sp>
        <p:nvSpPr>
          <p:cNvPr id="133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BBE70454-CB80-4C5F-86C4-4E39DF3E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2228850"/>
            <a:ext cx="9525" cy="666750"/>
          </a:xfrm>
          <a:custGeom xmlns:a="http://schemas.openxmlformats.org/drawingml/2006/main"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2D877F"/>
            </a:solidFill>
            <a:prstDash val="solid"/>
          </a:ln>
        </p:spPr>
      </p:sp>
      <p:sp>
        <p:nvSpPr>
          <p:cNvPr id="134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13C73723-7BC4-4F3B-B98C-384D8DC2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25" y="2228850"/>
            <a:ext cx="9525" cy="666750"/>
          </a:xfrm>
          <a:custGeom xmlns:a="http://schemas.openxmlformats.org/drawingml/2006/main"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2D877F"/>
            </a:solidFill>
            <a:prstDash val="solid"/>
          </a:ln>
        </p:spPr>
      </p:sp>
      <p:sp>
        <p:nvSpPr>
          <p:cNvPr id="135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F9E7C048-D346-40C8-9EDF-E8BD128E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25" y="2228850"/>
            <a:ext cx="9525" cy="666750"/>
          </a:xfrm>
          <a:custGeom xmlns:a="http://schemas.openxmlformats.org/drawingml/2006/main"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2D877F"/>
            </a:solidFill>
            <a:prstDash val="solid"/>
          </a:ln>
        </p:spPr>
      </p:sp>
      <p:sp>
        <p:nvSpPr>
          <p:cNvPr id="136" name="13 × N">
            <a:extLst xmlns:a="http://schemas.openxmlformats.org/drawingml/2006/main">
              <a:ext uri="{FF2B5EF4-FFF2-40B4-BE49-F238E27FC236}">
                <a16:creationId xmlns:a16="http://schemas.microsoft.com/office/drawing/2014/main" id="{B5879C03-1F28-49D0-911A-F2DAAC2D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75" y="30670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D87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D877F"/>
                </a:solidFill>
                <a:latin typeface="Microsoft YaHei"/>
                <a:ea typeface="Microsoft YaHei"/>
                <a:cs typeface="Microsoft YaHei"/>
              </a:rPr>
              <a:t>13 × N</a:t>
            </a:r>
          </a:p>
        </p:txBody>
      </p:sp>
      <p:sp>
        <p:nvSpPr>
          <p:cNvPr id="137" name="tensor face">
            <a:extLst xmlns:a="http://schemas.openxmlformats.org/drawingml/2006/main">
              <a:ext uri="{FF2B5EF4-FFF2-40B4-BE49-F238E27FC236}">
                <a16:creationId xmlns:a16="http://schemas.microsoft.com/office/drawing/2014/main" id="{D42C9613-9735-460E-B9DF-4843CD97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25" y="3352800"/>
            <a:ext cx="885825" cy="123825"/>
          </a:xfrm>
          <a:custGeom xmlns:a="http://schemas.openxmlformats.org/drawingml/2006/main">
            <a:pathLst>
              <a:path w="885825" h="123825">
                <a:moveTo>
                  <a:pt x="0" y="123825"/>
                </a:moveTo>
                <a:lnTo>
                  <a:pt x="123825" y="0"/>
                </a:lnTo>
                <a:lnTo>
                  <a:pt x="885825" y="0"/>
                </a:lnTo>
                <a:lnTo>
                  <a:pt x="762000" y="123825"/>
                </a:lnTo>
                <a:close/>
              </a:path>
            </a:pathLst>
          </a:custGeom>
          <a:solidFill xmlns:a="http://schemas.openxmlformats.org/drawingml/2006/main">
            <a:srgbClr val="EDE6F4"/>
          </a:solidFill>
          <a:ln xmlns:a="http://schemas.openxmlformats.org/drawingml/2006/main" w="10478">
            <a:solidFill>
              <a:srgbClr val="7861A1"/>
            </a:solidFill>
          </a:ln>
        </p:spPr>
      </p:sp>
      <p:sp>
        <p:nvSpPr>
          <p:cNvPr id="138" name="tensor face">
            <a:extLst xmlns:a="http://schemas.openxmlformats.org/drawingml/2006/main">
              <a:ext uri="{FF2B5EF4-FFF2-40B4-BE49-F238E27FC236}">
                <a16:creationId xmlns:a16="http://schemas.microsoft.com/office/drawing/2014/main" id="{655E419C-8497-4D7C-944C-2820111A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25" y="3352800"/>
            <a:ext cx="123825" cy="790575"/>
          </a:xfrm>
          <a:custGeom xmlns:a="http://schemas.openxmlformats.org/drawingml/2006/main">
            <a:pathLst>
              <a:path w="123825" h="790575">
                <a:moveTo>
                  <a:pt x="0" y="123825"/>
                </a:moveTo>
                <a:lnTo>
                  <a:pt x="123825" y="0"/>
                </a:lnTo>
                <a:lnTo>
                  <a:pt x="123825" y="666750"/>
                </a:lnTo>
                <a:lnTo>
                  <a:pt x="0" y="790575"/>
                </a:lnTo>
                <a:close/>
              </a:path>
            </a:pathLst>
          </a:custGeom>
          <a:solidFill xmlns:a="http://schemas.openxmlformats.org/drawingml/2006/main">
            <a:srgbClr val="EDE6F4"/>
          </a:solidFill>
          <a:ln xmlns:a="http://schemas.openxmlformats.org/drawingml/2006/main" w="10478">
            <a:solidFill>
              <a:srgbClr val="7861A1"/>
            </a:solidFill>
          </a:ln>
        </p:spPr>
      </p:sp>
      <p:sp>
        <p:nvSpPr>
          <p:cNvPr id="139" name="feature tensor">
            <a:extLst xmlns:a="http://schemas.openxmlformats.org/drawingml/2006/main">
              <a:ext uri="{FF2B5EF4-FFF2-40B4-BE49-F238E27FC236}">
                <a16:creationId xmlns:a16="http://schemas.microsoft.com/office/drawing/2014/main" id="{065880A1-C1F4-48F7-9B33-02C48932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25" y="3476625"/>
            <a:ext cx="76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6F4"/>
          </a:solidFill>
          <a:ln xmlns:a="http://schemas.openxmlformats.org/drawingml/2006/main" w="12383">
            <a:solidFill>
              <a:srgbClr val="7861A1"/>
            </a:solidFill>
          </a:ln>
        </p:spPr>
      </p:sp>
      <p:sp>
        <p:nvSpPr>
          <p:cNvPr id="140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E55DBEF6-A798-43F0-82B3-9307356E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25" y="3587750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861A1"/>
            </a:solidFill>
            <a:prstDash val="solid"/>
          </a:ln>
        </p:spPr>
      </p:sp>
      <p:sp>
        <p:nvSpPr>
          <p:cNvPr id="141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4DF48FF2-0A2B-49BD-847F-A18A6062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25" y="3698875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861A1"/>
            </a:solidFill>
            <a:prstDash val="solid"/>
          </a:ln>
        </p:spPr>
      </p:sp>
      <p:sp>
        <p:nvSpPr>
          <p:cNvPr id="142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AE4855D3-2849-4C69-9FE0-82392D0B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25" y="3810000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861A1"/>
            </a:solidFill>
            <a:prstDash val="solid"/>
          </a:ln>
        </p:spPr>
      </p:sp>
      <p:sp>
        <p:nvSpPr>
          <p:cNvPr id="143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CFAF6F0F-5763-4D98-AC95-6D7ED4EC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25" y="3921125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861A1"/>
            </a:solidFill>
            <a:prstDash val="solid"/>
          </a:ln>
        </p:spPr>
      </p:sp>
      <p:sp>
        <p:nvSpPr>
          <p:cNvPr id="144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A6138878-29EB-42A3-B223-76AB271B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25" y="4032250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861A1"/>
            </a:solidFill>
            <a:prstDash val="solid"/>
          </a:ln>
        </p:spPr>
      </p:sp>
      <p:sp>
        <p:nvSpPr>
          <p:cNvPr id="145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86ED6642-65E3-4F7D-B18F-19637688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3476625"/>
            <a:ext cx="9525" cy="666750"/>
          </a:xfrm>
          <a:custGeom xmlns:a="http://schemas.openxmlformats.org/drawingml/2006/main"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7861A1"/>
            </a:solidFill>
            <a:prstDash val="solid"/>
          </a:ln>
        </p:spPr>
      </p:sp>
      <p:sp>
        <p:nvSpPr>
          <p:cNvPr id="146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CA342A10-1282-4A7E-9589-2560BC23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25" y="3476625"/>
            <a:ext cx="9525" cy="666750"/>
          </a:xfrm>
          <a:custGeom xmlns:a="http://schemas.openxmlformats.org/drawingml/2006/main"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7861A1"/>
            </a:solidFill>
            <a:prstDash val="solid"/>
          </a:ln>
        </p:spPr>
      </p:sp>
      <p:sp>
        <p:nvSpPr>
          <p:cNvPr id="147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BDFC75DB-2AD9-478B-9F8C-7237DF6D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25" y="3476625"/>
            <a:ext cx="9525" cy="666750"/>
          </a:xfrm>
          <a:custGeom xmlns:a="http://schemas.openxmlformats.org/drawingml/2006/main"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7861A1"/>
            </a:solidFill>
            <a:prstDash val="solid"/>
          </a:ln>
        </p:spPr>
      </p:sp>
      <p:sp>
        <p:nvSpPr>
          <p:cNvPr id="148" name="32 × N">
            <a:extLst xmlns:a="http://schemas.openxmlformats.org/drawingml/2006/main">
              <a:ext uri="{FF2B5EF4-FFF2-40B4-BE49-F238E27FC236}">
                <a16:creationId xmlns:a16="http://schemas.microsoft.com/office/drawing/2014/main" id="{F6BF5EF8-4633-4486-B1C4-4D538002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75" y="43148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86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861A1"/>
                </a:solidFill>
                <a:latin typeface="Microsoft YaHei"/>
                <a:ea typeface="Microsoft YaHei"/>
                <a:cs typeface="Microsoft YaHei"/>
              </a:rPr>
              <a:t>32 × N</a:t>
            </a:r>
          </a:p>
        </p:txBody>
      </p:sp>
      <p:sp>
        <p:nvSpPr>
          <p:cNvPr id="149" name="tensor face">
            <a:extLst xmlns:a="http://schemas.openxmlformats.org/drawingml/2006/main">
              <a:ext uri="{FF2B5EF4-FFF2-40B4-BE49-F238E27FC236}">
                <a16:creationId xmlns:a16="http://schemas.microsoft.com/office/drawing/2014/main" id="{42152F2C-3213-410A-8B03-755980AA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25" y="4572000"/>
            <a:ext cx="885825" cy="123825"/>
          </a:xfrm>
          <a:custGeom xmlns:a="http://schemas.openxmlformats.org/drawingml/2006/main">
            <a:pathLst>
              <a:path w="885825" h="123825">
                <a:moveTo>
                  <a:pt x="0" y="123825"/>
                </a:moveTo>
                <a:lnTo>
                  <a:pt x="123825" y="0"/>
                </a:lnTo>
                <a:lnTo>
                  <a:pt x="885825" y="0"/>
                </a:lnTo>
                <a:lnTo>
                  <a:pt x="762000" y="123825"/>
                </a:lnTo>
                <a:close/>
              </a:path>
            </a:pathLst>
          </a:custGeom>
          <a:solidFill xmlns:a="http://schemas.openxmlformats.org/drawingml/2006/main">
            <a:srgbClr val="F6EDCF"/>
          </a:solidFill>
          <a:ln xmlns:a="http://schemas.openxmlformats.org/drawingml/2006/main" w="10478">
            <a:solidFill>
              <a:srgbClr val="B79334"/>
            </a:solidFill>
          </a:ln>
        </p:spPr>
      </p:sp>
      <p:sp>
        <p:nvSpPr>
          <p:cNvPr id="150" name="tensor face">
            <a:extLst xmlns:a="http://schemas.openxmlformats.org/drawingml/2006/main">
              <a:ext uri="{FF2B5EF4-FFF2-40B4-BE49-F238E27FC236}">
                <a16:creationId xmlns:a16="http://schemas.microsoft.com/office/drawing/2014/main" id="{9FF08C41-7C6F-418A-8A04-A1E4F226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25" y="4572000"/>
            <a:ext cx="123825" cy="790575"/>
          </a:xfrm>
          <a:custGeom xmlns:a="http://schemas.openxmlformats.org/drawingml/2006/main">
            <a:pathLst>
              <a:path w="123825" h="790575">
                <a:moveTo>
                  <a:pt x="0" y="123825"/>
                </a:moveTo>
                <a:lnTo>
                  <a:pt x="123825" y="0"/>
                </a:lnTo>
                <a:lnTo>
                  <a:pt x="123825" y="666750"/>
                </a:lnTo>
                <a:lnTo>
                  <a:pt x="0" y="790575"/>
                </a:lnTo>
                <a:close/>
              </a:path>
            </a:pathLst>
          </a:custGeom>
          <a:solidFill xmlns:a="http://schemas.openxmlformats.org/drawingml/2006/main">
            <a:srgbClr val="F6EDCF"/>
          </a:solidFill>
          <a:ln xmlns:a="http://schemas.openxmlformats.org/drawingml/2006/main" w="10478">
            <a:solidFill>
              <a:srgbClr val="B79334"/>
            </a:solidFill>
          </a:ln>
        </p:spPr>
      </p:sp>
      <p:sp>
        <p:nvSpPr>
          <p:cNvPr id="151" name="feature tensor">
            <a:extLst xmlns:a="http://schemas.openxmlformats.org/drawingml/2006/main">
              <a:ext uri="{FF2B5EF4-FFF2-40B4-BE49-F238E27FC236}">
                <a16:creationId xmlns:a16="http://schemas.microsoft.com/office/drawing/2014/main" id="{3AE85799-E2A8-49BD-A080-F226C4FD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25" y="4695825"/>
            <a:ext cx="76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DCF"/>
          </a:solidFill>
          <a:ln xmlns:a="http://schemas.openxmlformats.org/drawingml/2006/main" w="12383">
            <a:solidFill>
              <a:srgbClr val="B79334"/>
            </a:solidFill>
          </a:ln>
        </p:spPr>
      </p:sp>
      <p:sp>
        <p:nvSpPr>
          <p:cNvPr id="152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C70D5F73-1311-4588-AFE4-BDC0766A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25" y="4918075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9334"/>
            </a:solidFill>
            <a:prstDash val="solid"/>
          </a:ln>
        </p:spPr>
      </p:sp>
      <p:sp>
        <p:nvSpPr>
          <p:cNvPr id="153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1AB2669F-A454-4E30-ACCD-C3847855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25" y="5140325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9334"/>
            </a:solidFill>
            <a:prstDash val="solid"/>
          </a:ln>
        </p:spPr>
      </p:sp>
      <p:sp>
        <p:nvSpPr>
          <p:cNvPr id="154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F9DB050E-A69A-41F5-AD6B-5AE63268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4695825"/>
            <a:ext cx="9525" cy="666750"/>
          </a:xfrm>
          <a:custGeom xmlns:a="http://schemas.openxmlformats.org/drawingml/2006/main"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B79334"/>
            </a:solidFill>
            <a:prstDash val="solid"/>
          </a:ln>
        </p:spPr>
      </p:sp>
      <p:sp>
        <p:nvSpPr>
          <p:cNvPr id="155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78476829-7BC6-47BA-84AF-715737D4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25" y="4695825"/>
            <a:ext cx="9525" cy="666750"/>
          </a:xfrm>
          <a:custGeom xmlns:a="http://schemas.openxmlformats.org/drawingml/2006/main"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B79334"/>
            </a:solidFill>
            <a:prstDash val="solid"/>
          </a:ln>
        </p:spPr>
      </p:sp>
      <p:sp>
        <p:nvSpPr>
          <p:cNvPr id="156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E4552A6B-6FA6-42AD-AC81-8F066166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25" y="4695825"/>
            <a:ext cx="9525" cy="666750"/>
          </a:xfrm>
          <a:custGeom xmlns:a="http://schemas.openxmlformats.org/drawingml/2006/main"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B79334"/>
            </a:solidFill>
            <a:prstDash val="solid"/>
          </a:ln>
        </p:spPr>
      </p:sp>
      <p:sp>
        <p:nvSpPr>
          <p:cNvPr id="157" name="6 × T">
            <a:extLst xmlns:a="http://schemas.openxmlformats.org/drawingml/2006/main">
              <a:ext uri="{FF2B5EF4-FFF2-40B4-BE49-F238E27FC236}">
                <a16:creationId xmlns:a16="http://schemas.microsoft.com/office/drawing/2014/main" id="{0AE48EF7-DEAA-412E-84A3-8FA1C02D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75" y="55340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9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79334"/>
                </a:solidFill>
                <a:latin typeface="Microsoft YaHei"/>
                <a:ea typeface="Microsoft YaHei"/>
                <a:cs typeface="Microsoft YaHei"/>
              </a:rPr>
              <a:t>6 × T</a:t>
            </a:r>
          </a:p>
        </p:txBody>
      </p:sp>
      <p:sp>
        <p:nvSpPr>
          <p:cNvPr id="158" name="difference 2">
            <a:extLst xmlns:a="http://schemas.openxmlformats.org/drawingml/2006/main">
              <a:ext uri="{FF2B5EF4-FFF2-40B4-BE49-F238E27FC236}">
                <a16:creationId xmlns:a16="http://schemas.microsoft.com/office/drawing/2014/main" id="{ED058C4A-511E-4C71-B51F-5D2569A3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334000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A2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9" name="视频标准化 + 交叉拟合头 + PCA / 时间通道">
            <a:extLst xmlns:a="http://schemas.openxmlformats.org/drawingml/2006/main">
              <a:ext uri="{FF2B5EF4-FFF2-40B4-BE49-F238E27FC236}">
                <a16:creationId xmlns:a16="http://schemas.microsoft.com/office/drawing/2014/main" id="{15971DB2-7378-4D23-9618-D0C97BE5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05425"/>
            <a:ext cx="7172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视频标准化 + 交叉拟合头 + PCA / 时间通道</a:t>
            </a:r>
          </a:p>
        </p:txBody>
      </p:sp>
      <p:sp>
        <p:nvSpPr>
          <p:cNvPr id="160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C6C160DD-B2AB-4C8D-A0D8-1DE8B7E9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16840200" cy="4905375"/>
          </a:xfrm>
          <a:custGeom xmlns:a="http://schemas.openxmlformats.org/drawingml/2006/main">
            <a:pathLst>
              <a:path w="16840200" h="4905375">
                <a:moveTo>
                  <a:pt x="16535400" y="0"/>
                </a:moveTo>
                <a:lnTo>
                  <a:pt x="16840200" y="0"/>
                </a:lnTo>
                <a:lnTo>
                  <a:pt x="16840200" y="3257550"/>
                </a:lnTo>
                <a:lnTo>
                  <a:pt x="0" y="3257550"/>
                </a:lnTo>
                <a:lnTo>
                  <a:pt x="0" y="490537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7861A1"/>
            </a:solidFill>
            <a:prstDash val="solid"/>
          </a:ln>
        </p:spPr>
      </p:sp>
      <p:sp>
        <p:nvSpPr>
          <p:cNvPr id="161" name="arrowhead">
            <a:extLst xmlns:a="http://schemas.openxmlformats.org/drawingml/2006/main">
              <a:ext uri="{FF2B5EF4-FFF2-40B4-BE49-F238E27FC236}">
                <a16:creationId xmlns:a16="http://schemas.microsoft.com/office/drawing/2014/main" id="{997D2D50-6281-4224-A731-0D7A5132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7353300"/>
            <a:ext cx="95250" cy="104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861A1"/>
          </a:solidFill>
          <a:ln xmlns:a="http://schemas.openxmlformats.org/drawingml/2006/main" w="0">
            <a:solidFill>
              <a:srgbClr val="7861A1"/>
            </a:solidFill>
          </a:ln>
        </p:spPr>
      </p:sp>
      <p:sp>
        <p:nvSpPr>
          <p:cNvPr id="162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75FB8714-63AF-4CB4-83A9-C538DC75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6950" y="3810000"/>
            <a:ext cx="304800" cy="9525"/>
          </a:xfrm>
          <a:custGeom xmlns:a="http://schemas.openxmlformats.org/drawingml/2006/main"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7861A1"/>
            </a:solidFill>
            <a:prstDash val="solid"/>
          </a:ln>
        </p:spPr>
      </p:sp>
      <p:sp>
        <p:nvSpPr>
          <p:cNvPr id="163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BA74102F-8BCC-4571-97F4-13AB22F8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6950" y="5029200"/>
            <a:ext cx="304800" cy="9525"/>
          </a:xfrm>
          <a:custGeom xmlns:a="http://schemas.openxmlformats.org/drawingml/2006/main"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7861A1"/>
            </a:solidFill>
            <a:prstDash val="solid"/>
          </a:ln>
        </p:spPr>
      </p:sp>
      <p:sp>
        <p:nvSpPr>
          <p:cNvPr id="164" name="按秒排列，拼接 13 + 32 + 6 通道">
            <a:extLst xmlns:a="http://schemas.openxmlformats.org/drawingml/2006/main">
              <a:ext uri="{FF2B5EF4-FFF2-40B4-BE49-F238E27FC236}">
                <a16:creationId xmlns:a16="http://schemas.microsoft.com/office/drawing/2014/main" id="{F550BE9F-857B-4AE9-BFE8-83DE2F51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467350"/>
            <a:ext cx="5743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86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861A1"/>
                </a:solidFill>
                <a:latin typeface="Microsoft YaHei"/>
                <a:ea typeface="Microsoft YaHei"/>
                <a:cs typeface="Microsoft YaHei"/>
              </a:rPr>
              <a:t>按秒排列，拼接 13 + 32 + 6 通道</a:t>
            </a:r>
          </a:p>
        </p:txBody>
      </p:sp>
      <p:sp>
        <p:nvSpPr>
          <p:cNvPr id="165" name="T 含缺帧秒，N 为有效帧数">
            <a:extLst xmlns:a="http://schemas.openxmlformats.org/drawingml/2006/main">
              <a:ext uri="{FF2B5EF4-FFF2-40B4-BE49-F238E27FC236}">
                <a16:creationId xmlns:a16="http://schemas.microsoft.com/office/drawing/2014/main" id="{08B90C55-105F-4AA4-99C6-0937BA68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05500"/>
            <a:ext cx="586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T 含缺帧秒，N 为有效帧数</a:t>
            </a:r>
          </a:p>
        </p:txBody>
      </p:sp>
      <p:sp>
        <p:nvSpPr>
          <p:cNvPr id="166" name="整视频时序网络">
            <a:extLst xmlns:a="http://schemas.openxmlformats.org/drawingml/2006/main">
              <a:ext uri="{FF2B5EF4-FFF2-40B4-BE49-F238E27FC236}">
                <a16:creationId xmlns:a16="http://schemas.microsoft.com/office/drawing/2014/main" id="{51B20C53-6B56-45E2-84D8-1247DE49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6305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rPr>
              <a:t>整视频时序网络</a:t>
            </a:r>
          </a:p>
        </p:txBody>
      </p:sp>
      <p:sp>
        <p:nvSpPr>
          <p:cNvPr id="167" name="difference 3">
            <a:extLst xmlns:a="http://schemas.openxmlformats.org/drawingml/2006/main">
              <a:ext uri="{FF2B5EF4-FFF2-40B4-BE49-F238E27FC236}">
                <a16:creationId xmlns:a16="http://schemas.microsoft.com/office/drawing/2014/main" id="{3C8DB74E-0A82-4C59-9F32-1A7E252C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296025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A2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8" name="两级非因果 TCN">
            <a:extLst xmlns:a="http://schemas.openxmlformats.org/drawingml/2006/main">
              <a:ext uri="{FF2B5EF4-FFF2-40B4-BE49-F238E27FC236}">
                <a16:creationId xmlns:a16="http://schemas.microsoft.com/office/drawing/2014/main" id="{C5897E61-0EAA-4EBD-92BD-BCEA6BF3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267450"/>
            <a:ext cx="28670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两级非因果 TCN</a:t>
            </a:r>
          </a:p>
        </p:txBody>
      </p:sp>
      <p:sp>
        <p:nvSpPr>
          <p:cNvPr id="169" name="difference 4">
            <a:extLst xmlns:a="http://schemas.openxmlformats.org/drawingml/2006/main">
              <a:ext uri="{FF2B5EF4-FFF2-40B4-BE49-F238E27FC236}">
                <a16:creationId xmlns:a16="http://schemas.microsoft.com/office/drawing/2014/main" id="{DDFAA0A0-9ED5-4751-9CA6-24581BE4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296025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A2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0" name="池化后的全局注意力">
            <a:extLst xmlns:a="http://schemas.openxmlformats.org/drawingml/2006/main">
              <a:ext uri="{FF2B5EF4-FFF2-40B4-BE49-F238E27FC236}">
                <a16:creationId xmlns:a16="http://schemas.microsoft.com/office/drawing/2014/main" id="{90BA6265-611A-4CD5-8FE1-733A2FFD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6267450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池化后的全局注意力</a:t>
            </a:r>
          </a:p>
        </p:txBody>
      </p:sp>
      <p:sp>
        <p:nvSpPr>
          <p:cNvPr id="171" name="tensor face">
            <a:extLst xmlns:a="http://schemas.openxmlformats.org/drawingml/2006/main">
              <a:ext uri="{FF2B5EF4-FFF2-40B4-BE49-F238E27FC236}">
                <a16:creationId xmlns:a16="http://schemas.microsoft.com/office/drawing/2014/main" id="{928D4B7F-0CF6-496E-9A2E-166356C8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467600"/>
            <a:ext cx="733425" cy="123825"/>
          </a:xfrm>
          <a:custGeom xmlns:a="http://schemas.openxmlformats.org/drawingml/2006/main">
            <a:pathLst>
              <a:path w="733425" h="123825">
                <a:moveTo>
                  <a:pt x="0" y="123825"/>
                </a:moveTo>
                <a:lnTo>
                  <a:pt x="123825" y="0"/>
                </a:lnTo>
                <a:lnTo>
                  <a:pt x="733425" y="0"/>
                </a:lnTo>
                <a:lnTo>
                  <a:pt x="609600" y="123825"/>
                </a:lnTo>
                <a:close/>
              </a:path>
            </a:pathLst>
          </a:custGeom>
          <a:solidFill xmlns:a="http://schemas.openxmlformats.org/drawingml/2006/main">
            <a:srgbClr val="EDE6F4"/>
          </a:solidFill>
          <a:ln xmlns:a="http://schemas.openxmlformats.org/drawingml/2006/main" w="10478">
            <a:solidFill>
              <a:srgbClr val="7861A1"/>
            </a:solidFill>
          </a:ln>
        </p:spPr>
      </p:sp>
      <p:sp>
        <p:nvSpPr>
          <p:cNvPr id="172" name="tensor face">
            <a:extLst xmlns:a="http://schemas.openxmlformats.org/drawingml/2006/main">
              <a:ext uri="{FF2B5EF4-FFF2-40B4-BE49-F238E27FC236}">
                <a16:creationId xmlns:a16="http://schemas.microsoft.com/office/drawing/2014/main" id="{07ADB674-A472-440A-A547-377A42D4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7467600"/>
            <a:ext cx="123825" cy="1266825"/>
          </a:xfrm>
          <a:custGeom xmlns:a="http://schemas.openxmlformats.org/drawingml/2006/main">
            <a:pathLst>
              <a:path w="123825" h="1266825">
                <a:moveTo>
                  <a:pt x="0" y="123825"/>
                </a:moveTo>
                <a:lnTo>
                  <a:pt x="123825" y="0"/>
                </a:lnTo>
                <a:lnTo>
                  <a:pt x="123825" y="1143000"/>
                </a:lnTo>
                <a:lnTo>
                  <a:pt x="0" y="1266825"/>
                </a:lnTo>
                <a:close/>
              </a:path>
            </a:pathLst>
          </a:custGeom>
          <a:solidFill xmlns:a="http://schemas.openxmlformats.org/drawingml/2006/main">
            <a:srgbClr val="EDE6F4"/>
          </a:solidFill>
          <a:ln xmlns:a="http://schemas.openxmlformats.org/drawingml/2006/main" w="10478">
            <a:solidFill>
              <a:srgbClr val="7861A1"/>
            </a:solidFill>
          </a:ln>
        </p:spPr>
      </p:sp>
      <p:sp>
        <p:nvSpPr>
          <p:cNvPr id="173" name="feature tensor">
            <a:extLst xmlns:a="http://schemas.openxmlformats.org/drawingml/2006/main">
              <a:ext uri="{FF2B5EF4-FFF2-40B4-BE49-F238E27FC236}">
                <a16:creationId xmlns:a16="http://schemas.microsoft.com/office/drawing/2014/main" id="{B95A70FF-7926-420C-8022-FD383B5D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591425"/>
            <a:ext cx="609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6F4"/>
          </a:solidFill>
          <a:ln xmlns:a="http://schemas.openxmlformats.org/drawingml/2006/main" w="12383">
            <a:solidFill>
              <a:srgbClr val="7861A1"/>
            </a:solidFill>
          </a:ln>
        </p:spPr>
      </p:sp>
      <p:sp>
        <p:nvSpPr>
          <p:cNvPr id="174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AE216A19-CA25-4743-8773-83A44120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734300"/>
            <a:ext cx="609600" cy="9525"/>
          </a:xfrm>
          <a:custGeom xmlns:a="http://schemas.openxmlformats.org/drawingml/2006/main"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861A1"/>
            </a:solidFill>
            <a:prstDash val="solid"/>
          </a:ln>
        </p:spPr>
      </p:sp>
      <p:sp>
        <p:nvSpPr>
          <p:cNvPr id="175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619BE389-0E6D-44BE-8013-2D391FB9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877175"/>
            <a:ext cx="609600" cy="9525"/>
          </a:xfrm>
          <a:custGeom xmlns:a="http://schemas.openxmlformats.org/drawingml/2006/main"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861A1"/>
            </a:solidFill>
            <a:prstDash val="solid"/>
          </a:ln>
        </p:spPr>
      </p:sp>
      <p:sp>
        <p:nvSpPr>
          <p:cNvPr id="176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F2BAD9DD-7607-4A6B-8BDB-26D3106A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8020050"/>
            <a:ext cx="609600" cy="9525"/>
          </a:xfrm>
          <a:custGeom xmlns:a="http://schemas.openxmlformats.org/drawingml/2006/main"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861A1"/>
            </a:solidFill>
            <a:prstDash val="solid"/>
          </a:ln>
        </p:spPr>
      </p:sp>
      <p:sp>
        <p:nvSpPr>
          <p:cNvPr id="177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99D95403-D0AE-4B0D-A58D-57D2B6B2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8162925"/>
            <a:ext cx="609600" cy="9525"/>
          </a:xfrm>
          <a:custGeom xmlns:a="http://schemas.openxmlformats.org/drawingml/2006/main"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861A1"/>
            </a:solidFill>
            <a:prstDash val="solid"/>
          </a:ln>
        </p:spPr>
      </p:sp>
      <p:sp>
        <p:nvSpPr>
          <p:cNvPr id="178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1C3C4FC1-0AD9-40D5-9B75-151FE96B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8305800"/>
            <a:ext cx="609600" cy="9525"/>
          </a:xfrm>
          <a:custGeom xmlns:a="http://schemas.openxmlformats.org/drawingml/2006/main"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861A1"/>
            </a:solidFill>
            <a:prstDash val="solid"/>
          </a:ln>
        </p:spPr>
      </p:sp>
      <p:sp>
        <p:nvSpPr>
          <p:cNvPr id="179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DFDCC79D-2BC4-4C68-9BA0-877A97B2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8448675"/>
            <a:ext cx="609600" cy="9525"/>
          </a:xfrm>
          <a:custGeom xmlns:a="http://schemas.openxmlformats.org/drawingml/2006/main"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861A1"/>
            </a:solidFill>
            <a:prstDash val="solid"/>
          </a:ln>
        </p:spPr>
      </p:sp>
      <p:sp>
        <p:nvSpPr>
          <p:cNvPr id="180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2E0BCF51-52FC-4690-8201-F083E37C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8591550"/>
            <a:ext cx="609600" cy="9525"/>
          </a:xfrm>
          <a:custGeom xmlns:a="http://schemas.openxmlformats.org/drawingml/2006/main"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861A1"/>
            </a:solidFill>
            <a:prstDash val="solid"/>
          </a:ln>
        </p:spPr>
      </p:sp>
      <p:sp>
        <p:nvSpPr>
          <p:cNvPr id="181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8049DAE8-CB92-4263-816E-E8B59DFE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7591425"/>
            <a:ext cx="9525" cy="1143000"/>
          </a:xfrm>
          <a:custGeom xmlns:a="http://schemas.openxmlformats.org/drawingml/2006/main">
            <a:pathLst>
              <a:path w="9525"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7861A1"/>
            </a:solidFill>
            <a:prstDash val="solid"/>
          </a:ln>
        </p:spPr>
      </p:sp>
      <p:sp>
        <p:nvSpPr>
          <p:cNvPr id="182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56E2887A-0475-4113-B669-F404596E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91425"/>
            <a:ext cx="9525" cy="1143000"/>
          </a:xfrm>
          <a:custGeom xmlns:a="http://schemas.openxmlformats.org/drawingml/2006/main">
            <a:pathLst>
              <a:path w="9525"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7861A1"/>
            </a:solidFill>
            <a:prstDash val="solid"/>
          </a:ln>
        </p:spPr>
      </p:sp>
      <p:sp>
        <p:nvSpPr>
          <p:cNvPr id="183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7319FA2E-682B-42C2-AC29-57A03615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7591425"/>
            <a:ext cx="9525" cy="1143000"/>
          </a:xfrm>
          <a:custGeom xmlns:a="http://schemas.openxmlformats.org/drawingml/2006/main">
            <a:pathLst>
              <a:path w="9525"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7861A1"/>
            </a:solidFill>
            <a:prstDash val="solid"/>
          </a:ln>
        </p:spPr>
      </p:sp>
      <p:sp>
        <p:nvSpPr>
          <p:cNvPr id="184" name="51 × T">
            <a:extLst xmlns:a="http://schemas.openxmlformats.org/drawingml/2006/main">
              <a:ext uri="{FF2B5EF4-FFF2-40B4-BE49-F238E27FC236}">
                <a16:creationId xmlns:a16="http://schemas.microsoft.com/office/drawing/2014/main" id="{F3646817-14A3-4993-A7A0-7C5BAD42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8905875"/>
            <a:ext cx="1562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86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861A1"/>
                </a:solidFill>
                <a:latin typeface="Microsoft YaHei"/>
                <a:ea typeface="Microsoft YaHei"/>
                <a:cs typeface="Microsoft YaHei"/>
              </a:rPr>
              <a:t>51 × T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8378DF0-C196-4303-8A65-40D11B04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591425"/>
            <a:ext cx="609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DEA"/>
          </a:solidFill>
          <a:ln xmlns:a="http://schemas.openxmlformats.org/drawingml/2006/main" w="9525">
            <a:solidFill>
              <a:srgbClr val="2D877F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F2D9A9D-21D0-489F-ABBC-CC04E038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886700"/>
            <a:ext cx="609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6F4"/>
          </a:solidFill>
          <a:ln xmlns:a="http://schemas.openxmlformats.org/drawingml/2006/main" w="9525">
            <a:solidFill>
              <a:srgbClr val="7861A1"/>
            </a:solidFill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781F392C-EE5C-4F30-B0AF-4230900B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8582025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DCF"/>
          </a:solidFill>
          <a:ln xmlns:a="http://schemas.openxmlformats.org/drawingml/2006/main" w="9525">
            <a:solidFill>
              <a:srgbClr val="B79334"/>
            </a:solidFill>
          </a:ln>
        </p:spPr>
      </p:sp>
      <p:sp>
        <p:nvSpPr>
          <p:cNvPr id="188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9CD1E441-93A6-47B6-BE9A-F5ACA698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162925"/>
            <a:ext cx="542925" cy="9525"/>
          </a:xfrm>
          <a:custGeom xmlns:a="http://schemas.openxmlformats.org/drawingml/2006/main">
            <a:pathLst>
              <a:path w="542925" h="952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189" name="arrowhead">
            <a:extLst xmlns:a="http://schemas.openxmlformats.org/drawingml/2006/main">
              <a:ext uri="{FF2B5EF4-FFF2-40B4-BE49-F238E27FC236}">
                <a16:creationId xmlns:a16="http://schemas.microsoft.com/office/drawing/2014/main" id="{320F484E-FA8C-4B7D-9AC1-3A591221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811530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190" name="Dropout&#10;0.15">
            <a:extLst xmlns:a="http://schemas.openxmlformats.org/drawingml/2006/main">
              <a:ext uri="{FF2B5EF4-FFF2-40B4-BE49-F238E27FC236}">
                <a16:creationId xmlns:a16="http://schemas.microsoft.com/office/drawing/2014/main" id="{320B4D1C-053E-40CF-A853-505D3551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7410450"/>
            <a:ext cx="819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Dropout</a:t>
            </a:r>
          </a:p>
          <a:p xmlns:a="http://schemas.openxmlformats.org/drawingml/2006/main">
            <a:pPr algn="ctr">
              <a:defRPr sz="135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0.15</a:t>
            </a:r>
          </a:p>
        </p:txBody>
      </p:sp>
      <p:sp>
        <p:nvSpPr>
          <p:cNvPr id="191" name="prediction stage boundary">
            <a:extLst xmlns:a="http://schemas.openxmlformats.org/drawingml/2006/main">
              <a:ext uri="{FF2B5EF4-FFF2-40B4-BE49-F238E27FC236}">
                <a16:creationId xmlns:a16="http://schemas.microsoft.com/office/drawing/2014/main" id="{012D8D1C-5EAE-459F-95FE-B1D01037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829425"/>
            <a:ext cx="6200775" cy="2562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56899"/>
            </a:solidFill>
          </a:ln>
        </p:spPr>
      </p:sp>
      <p:sp>
        <p:nvSpPr>
          <p:cNvPr id="192" name="Prediction stage">
            <a:extLst xmlns:a="http://schemas.openxmlformats.org/drawingml/2006/main">
              <a:ext uri="{FF2B5EF4-FFF2-40B4-BE49-F238E27FC236}">
                <a16:creationId xmlns:a16="http://schemas.microsoft.com/office/drawing/2014/main" id="{E293749D-625D-4452-B853-E88AD2A1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70770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Prediction stage</a:t>
            </a:r>
          </a:p>
        </p:txBody>
      </p:sp>
      <p:sp>
        <p:nvSpPr>
          <p:cNvPr id="193" name="1×1">
            <a:extLst xmlns:a="http://schemas.openxmlformats.org/drawingml/2006/main">
              <a:ext uri="{FF2B5EF4-FFF2-40B4-BE49-F238E27FC236}">
                <a16:creationId xmlns:a16="http://schemas.microsoft.com/office/drawing/2014/main" id="{1FF827A1-B796-47E1-8115-A3A6F494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7743825"/>
            <a:ext cx="5238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1×1</a:t>
            </a:r>
          </a:p>
        </p:txBody>
      </p:sp>
      <p:sp>
        <p:nvSpPr>
          <p:cNvPr id="194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CDC9C850-5A17-427C-A73D-C876A92C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8162925"/>
            <a:ext cx="504825" cy="9525"/>
          </a:xfrm>
          <a:custGeom xmlns:a="http://schemas.openxmlformats.org/drawingml/2006/main">
            <a:pathLst>
              <a:path w="504825" h="952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195" name="arrowhead">
            <a:extLst xmlns:a="http://schemas.openxmlformats.org/drawingml/2006/main">
              <a:ext uri="{FF2B5EF4-FFF2-40B4-BE49-F238E27FC236}">
                <a16:creationId xmlns:a16="http://schemas.microsoft.com/office/drawing/2014/main" id="{0BA553C5-5AD0-413D-8CC8-1B948076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811530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196" name="dilated temporal layers">
            <a:extLst xmlns:a="http://schemas.openxmlformats.org/drawingml/2006/main">
              <a:ext uri="{FF2B5EF4-FFF2-40B4-BE49-F238E27FC236}">
                <a16:creationId xmlns:a16="http://schemas.microsoft.com/office/drawing/2014/main" id="{48D01403-398A-4BB0-86D6-54FBD790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7343775"/>
            <a:ext cx="11715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</p:sp>
      <p:sp>
        <p:nvSpPr>
          <p:cNvPr id="197" name="dilated temporal layers">
            <a:extLst xmlns:a="http://schemas.openxmlformats.org/drawingml/2006/main">
              <a:ext uri="{FF2B5EF4-FFF2-40B4-BE49-F238E27FC236}">
                <a16:creationId xmlns:a16="http://schemas.microsoft.com/office/drawing/2014/main" id="{B45EB290-C460-4EA6-AC6E-316B5841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7429500"/>
            <a:ext cx="11715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</p:sp>
      <p:sp>
        <p:nvSpPr>
          <p:cNvPr id="198" name="dilated temporal layers">
            <a:extLst xmlns:a="http://schemas.openxmlformats.org/drawingml/2006/main">
              <a:ext uri="{FF2B5EF4-FFF2-40B4-BE49-F238E27FC236}">
                <a16:creationId xmlns:a16="http://schemas.microsoft.com/office/drawing/2014/main" id="{F61EA339-A69F-4C29-B547-6FEA8397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7515225"/>
            <a:ext cx="11715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</p:sp>
      <p:sp>
        <p:nvSpPr>
          <p:cNvPr id="199" name="dilated temporal layers">
            <a:extLst xmlns:a="http://schemas.openxmlformats.org/drawingml/2006/main">
              <a:ext uri="{FF2B5EF4-FFF2-40B4-BE49-F238E27FC236}">
                <a16:creationId xmlns:a16="http://schemas.microsoft.com/office/drawing/2014/main" id="{E6DE3AF3-AC28-4366-90A7-F6CA30A9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7600950"/>
            <a:ext cx="11715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</p:sp>
      <p:sp>
        <p:nvSpPr>
          <p:cNvPr id="200" name="dilated temporal layers">
            <a:extLst xmlns:a="http://schemas.openxmlformats.org/drawingml/2006/main">
              <a:ext uri="{FF2B5EF4-FFF2-40B4-BE49-F238E27FC236}">
                <a16:creationId xmlns:a16="http://schemas.microsoft.com/office/drawing/2014/main" id="{0B4B6DCC-9FBF-42DC-8FAD-BF334E4C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7686675"/>
            <a:ext cx="11715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</p:sp>
      <p:sp>
        <p:nvSpPr>
          <p:cNvPr id="201" name="dilated temporal layers">
            <a:extLst xmlns:a="http://schemas.openxmlformats.org/drawingml/2006/main">
              <a:ext uri="{FF2B5EF4-FFF2-40B4-BE49-F238E27FC236}">
                <a16:creationId xmlns:a16="http://schemas.microsoft.com/office/drawing/2014/main" id="{1728F73D-9944-4FF8-8FB8-D2E0631C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7772400"/>
            <a:ext cx="11715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</p:sp>
      <p:sp>
        <p:nvSpPr>
          <p:cNvPr id="202" name="TCN">
            <a:extLst xmlns:a="http://schemas.openxmlformats.org/drawingml/2006/main">
              <a:ext uri="{FF2B5EF4-FFF2-40B4-BE49-F238E27FC236}">
                <a16:creationId xmlns:a16="http://schemas.microsoft.com/office/drawing/2014/main" id="{B7C3AEAD-1408-4C90-9D9D-B07BDC1F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7848600"/>
            <a:ext cx="10763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TCN</a:t>
            </a:r>
          </a:p>
        </p:txBody>
      </p:sp>
      <p:sp>
        <p:nvSpPr>
          <p:cNvPr id="203" name="64 channels">
            <a:extLst xmlns:a="http://schemas.openxmlformats.org/drawingml/2006/main">
              <a:ext uri="{FF2B5EF4-FFF2-40B4-BE49-F238E27FC236}">
                <a16:creationId xmlns:a16="http://schemas.microsoft.com/office/drawing/2014/main" id="{06924ADA-0CC6-467D-8647-7086D7C3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8201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64 channels</a:t>
            </a:r>
          </a:p>
        </p:txBody>
      </p:sp>
      <p:sp>
        <p:nvSpPr>
          <p:cNvPr id="204" name="10 blocks">
            <a:extLst xmlns:a="http://schemas.openxmlformats.org/drawingml/2006/main">
              <a:ext uri="{FF2B5EF4-FFF2-40B4-BE49-F238E27FC236}">
                <a16:creationId xmlns:a16="http://schemas.microsoft.com/office/drawing/2014/main" id="{578DBD89-6CF4-43C6-BA85-C8EFBF63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105900"/>
            <a:ext cx="1838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10 blocks</a:t>
            </a:r>
          </a:p>
        </p:txBody>
      </p:sp>
      <p:sp>
        <p:nvSpPr>
          <p:cNvPr id="205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03C39331-0E2E-47C5-9D70-7CEC631D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8162925"/>
            <a:ext cx="1771650" cy="9525"/>
          </a:xfrm>
          <a:custGeom xmlns:a="http://schemas.openxmlformats.org/drawingml/2006/main">
            <a:pathLst>
              <a:path w="1771650" h="9525">
                <a:moveTo>
                  <a:pt x="0" y="0"/>
                </a:moveTo>
                <a:lnTo>
                  <a:pt x="1771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206" name="arrowhead">
            <a:extLst xmlns:a="http://schemas.openxmlformats.org/drawingml/2006/main">
              <a:ext uri="{FF2B5EF4-FFF2-40B4-BE49-F238E27FC236}">
                <a16:creationId xmlns:a16="http://schemas.microsoft.com/office/drawing/2014/main" id="{BE5E183B-5CBA-4CCC-BDEF-7E7DAD07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811530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949BD4B0-74E8-459D-83E0-B05D31FC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8124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785"/>
          </a:solidFill>
          <a:ln xmlns:a="http://schemas.openxmlformats.org/drawingml/2006/main" w="0">
            <a:noFill/>
          </a:ln>
        </p:spPr>
      </p:sp>
      <p:sp>
        <p:nvSpPr>
          <p:cNvPr id="208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981E19A7-68BE-4640-8113-AE7EC8D0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7162800"/>
            <a:ext cx="219075" cy="1000125"/>
          </a:xfrm>
          <a:custGeom xmlns:a="http://schemas.openxmlformats.org/drawingml/2006/main">
            <a:pathLst>
              <a:path w="219075" h="1000125">
                <a:moveTo>
                  <a:pt x="0" y="1000125"/>
                </a:moveTo>
                <a:lnTo>
                  <a:pt x="0" y="0"/>
                </a:ln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B44A22"/>
            </a:solidFill>
            <a:prstDash val="solid"/>
          </a:ln>
        </p:spPr>
      </p:sp>
      <p:sp>
        <p:nvSpPr>
          <p:cNvPr id="209" name="arrowhead">
            <a:extLst xmlns:a="http://schemas.openxmlformats.org/drawingml/2006/main">
              <a:ext uri="{FF2B5EF4-FFF2-40B4-BE49-F238E27FC236}">
                <a16:creationId xmlns:a16="http://schemas.microsoft.com/office/drawing/2014/main" id="{D1F1DE78-BF24-490F-9F86-8B260C6F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711517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A22"/>
          </a:solidFill>
          <a:ln xmlns:a="http://schemas.openxmlformats.org/drawingml/2006/main" w="0">
            <a:solidFill>
              <a:srgbClr val="B44A22"/>
            </a:solidFill>
          </a:ln>
        </p:spPr>
      </p:sp>
      <p:sp>
        <p:nvSpPr>
          <p:cNvPr id="210" name="Pool&#10;16">
            <a:extLst xmlns:a="http://schemas.openxmlformats.org/drawingml/2006/main">
              <a:ext uri="{FF2B5EF4-FFF2-40B4-BE49-F238E27FC236}">
                <a16:creationId xmlns:a16="http://schemas.microsoft.com/office/drawing/2014/main" id="{DF066787-2E4E-4BDC-9323-66F1AEE0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858000"/>
            <a:ext cx="714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B44A22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Pool</a:t>
            </a:r>
          </a:p>
          <a:p xmlns:a="http://schemas.openxmlformats.org/drawingml/2006/main">
            <a:pPr algn="ctr">
              <a:defRPr sz="1650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211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D719A76F-9EB0-4325-96D9-CD541E83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7162800"/>
            <a:ext cx="104775" cy="9525"/>
          </a:xfrm>
          <a:custGeom xmlns:a="http://schemas.openxmlformats.org/drawingml/2006/main">
            <a:pathLst>
              <a:path w="104775" h="952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B44A22"/>
            </a:solidFill>
            <a:prstDash val="solid"/>
          </a:ln>
        </p:spPr>
      </p:sp>
      <p:sp>
        <p:nvSpPr>
          <p:cNvPr id="212" name="arrowhead">
            <a:extLst xmlns:a="http://schemas.openxmlformats.org/drawingml/2006/main">
              <a:ext uri="{FF2B5EF4-FFF2-40B4-BE49-F238E27FC236}">
                <a16:creationId xmlns:a16="http://schemas.microsoft.com/office/drawing/2014/main" id="{F2E7CA3D-CB3D-4574-A15E-178A6EB6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711517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A22"/>
          </a:solidFill>
          <a:ln xmlns:a="http://schemas.openxmlformats.org/drawingml/2006/main" w="0">
            <a:solidFill>
              <a:srgbClr val="B44A22"/>
            </a:solidFill>
          </a:ln>
        </p:spPr>
      </p:sp>
      <p:sp>
        <p:nvSpPr>
          <p:cNvPr id="213" name="MHSA">
            <a:extLst xmlns:a="http://schemas.openxmlformats.org/drawingml/2006/main">
              <a:ext uri="{FF2B5EF4-FFF2-40B4-BE49-F238E27FC236}">
                <a16:creationId xmlns:a16="http://schemas.microsoft.com/office/drawing/2014/main" id="{D63E0239-CCBE-45A0-B274-84EC2FFF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858000"/>
            <a:ext cx="828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B44A22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MHSA</a:t>
            </a:r>
          </a:p>
        </p:txBody>
      </p:sp>
      <p:sp>
        <p:nvSpPr>
          <p:cNvPr id="214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913A9D1F-9B72-4847-A40F-9F25C54A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7162800"/>
            <a:ext cx="123825" cy="9525"/>
          </a:xfrm>
          <a:custGeom xmlns:a="http://schemas.openxmlformats.org/drawingml/2006/main">
            <a:pathLst>
              <a:path w="123825" h="952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B44A22"/>
            </a:solidFill>
            <a:prstDash val="solid"/>
          </a:ln>
        </p:spPr>
      </p:sp>
      <p:sp>
        <p:nvSpPr>
          <p:cNvPr id="215" name="arrowhead">
            <a:extLst xmlns:a="http://schemas.openxmlformats.org/drawingml/2006/main">
              <a:ext uri="{FF2B5EF4-FFF2-40B4-BE49-F238E27FC236}">
                <a16:creationId xmlns:a16="http://schemas.microsoft.com/office/drawing/2014/main" id="{2F612598-0455-421C-B021-B533B1F4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711517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A22"/>
          </a:solidFill>
          <a:ln xmlns:a="http://schemas.openxmlformats.org/drawingml/2006/main" w="0">
            <a:solidFill>
              <a:srgbClr val="B44A22"/>
            </a:solidFill>
          </a:ln>
        </p:spPr>
      </p:sp>
      <p:sp>
        <p:nvSpPr>
          <p:cNvPr id="216" name="↑ T">
            <a:extLst xmlns:a="http://schemas.openxmlformats.org/drawingml/2006/main">
              <a:ext uri="{FF2B5EF4-FFF2-40B4-BE49-F238E27FC236}">
                <a16:creationId xmlns:a16="http://schemas.microsoft.com/office/drawing/2014/main" id="{290C266F-FBA6-4678-B4DE-978F250E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858000"/>
            <a:ext cx="704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B44A22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↑ T</a:t>
            </a:r>
          </a:p>
        </p:txBody>
      </p:sp>
      <p:sp>
        <p:nvSpPr>
          <p:cNvPr id="217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7C8C9493-C77D-4B6A-89A9-F7D58547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7467600"/>
            <a:ext cx="638175" cy="514350"/>
          </a:xfrm>
          <a:custGeom xmlns:a="http://schemas.openxmlformats.org/drawingml/2006/main">
            <a:pathLst>
              <a:path w="638175" h="514350">
                <a:moveTo>
                  <a:pt x="638175" y="0"/>
                </a:moveTo>
                <a:lnTo>
                  <a:pt x="638175" y="142875"/>
                </a:lnTo>
                <a:lnTo>
                  <a:pt x="0" y="142875"/>
                </a:ln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B44A22"/>
            </a:solidFill>
            <a:prstDash val="solid"/>
          </a:ln>
        </p:spPr>
      </p:sp>
      <p:sp>
        <p:nvSpPr>
          <p:cNvPr id="218" name="arrowhead">
            <a:extLst xmlns:a="http://schemas.openxmlformats.org/drawingml/2006/main">
              <a:ext uri="{FF2B5EF4-FFF2-40B4-BE49-F238E27FC236}">
                <a16:creationId xmlns:a16="http://schemas.microsoft.com/office/drawing/2014/main" id="{DB47E102-B41A-4FDC-B4AE-E116B1D5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7877175"/>
            <a:ext cx="95250" cy="104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4A22"/>
          </a:solidFill>
          <a:ln xmlns:a="http://schemas.openxmlformats.org/drawingml/2006/main" w="0">
            <a:solidFill>
              <a:srgbClr val="B44A22"/>
            </a:solidFill>
          </a:ln>
        </p:spPr>
      </p:sp>
      <p:sp>
        <p:nvSpPr>
          <p:cNvPr id="219" name="residual addition">
            <a:extLst xmlns:a="http://schemas.openxmlformats.org/drawingml/2006/main">
              <a:ext uri="{FF2B5EF4-FFF2-40B4-BE49-F238E27FC236}">
                <a16:creationId xmlns:a16="http://schemas.microsoft.com/office/drawing/2014/main" id="{24A472B6-A91D-4D36-977E-7AE0933D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981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44A22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220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8AF90642-87B7-47F8-8471-3D400C4C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8162925"/>
            <a:ext cx="209550" cy="9525"/>
          </a:xfrm>
          <a:custGeom xmlns:a="http://schemas.openxmlformats.org/drawingml/2006/main">
            <a:pathLst>
              <a:path w="209550" h="952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221" name="arrowhead">
            <a:extLst xmlns:a="http://schemas.openxmlformats.org/drawingml/2006/main">
              <a:ext uri="{FF2B5EF4-FFF2-40B4-BE49-F238E27FC236}">
                <a16:creationId xmlns:a16="http://schemas.microsoft.com/office/drawing/2014/main" id="{2A690AC2-2C26-4EA5-882A-BCCBDC25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811530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222" name="LN&#10;1×1">
            <a:extLst xmlns:a="http://schemas.openxmlformats.org/drawingml/2006/main">
              <a:ext uri="{FF2B5EF4-FFF2-40B4-BE49-F238E27FC236}">
                <a16:creationId xmlns:a16="http://schemas.microsoft.com/office/drawing/2014/main" id="{7D0F9050-8B67-4891-AB7D-7FA30880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743825"/>
            <a:ext cx="5715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LN</a:t>
            </a:r>
          </a:p>
          <a:p xmlns:a="http://schemas.openxmlformats.org/drawingml/2006/main">
            <a:pPr algn="ctr">
              <a:def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1×1</a:t>
            </a:r>
          </a:p>
        </p:txBody>
      </p:sp>
      <p:sp>
        <p:nvSpPr>
          <p:cNvPr id="223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DFBD9BAB-F6BD-462F-A75C-44FBEE2D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162925"/>
            <a:ext cx="542925" cy="9525"/>
          </a:xfrm>
          <a:custGeom xmlns:a="http://schemas.openxmlformats.org/drawingml/2006/main">
            <a:pathLst>
              <a:path w="542925" h="952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224" name="arrowhead">
            <a:extLst xmlns:a="http://schemas.openxmlformats.org/drawingml/2006/main">
              <a:ext uri="{FF2B5EF4-FFF2-40B4-BE49-F238E27FC236}">
                <a16:creationId xmlns:a16="http://schemas.microsoft.com/office/drawing/2014/main" id="{68A1202C-6EA0-44BA-A999-EF75A811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811530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225" name="Softmax">
            <a:extLst xmlns:a="http://schemas.openxmlformats.org/drawingml/2006/main">
              <a:ext uri="{FF2B5EF4-FFF2-40B4-BE49-F238E27FC236}">
                <a16:creationId xmlns:a16="http://schemas.microsoft.com/office/drawing/2014/main" id="{019A648D-3A54-40FD-A24C-5BB3678C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829550"/>
            <a:ext cx="1066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Softmax</a:t>
            </a:r>
          </a:p>
        </p:txBody>
      </p:sp>
      <p:sp>
        <p:nvSpPr>
          <p:cNvPr id="226" name="13 × T">
            <a:extLst xmlns:a="http://schemas.openxmlformats.org/drawingml/2006/main">
              <a:ext uri="{FF2B5EF4-FFF2-40B4-BE49-F238E27FC236}">
                <a16:creationId xmlns:a16="http://schemas.microsoft.com/office/drawing/2014/main" id="{5A3FFEE3-3C01-4A75-8A73-EF32263B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8724900"/>
            <a:ext cx="1190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13 × T</a:t>
            </a:r>
          </a:p>
        </p:txBody>
      </p:sp>
      <p:sp>
        <p:nvSpPr>
          <p:cNvPr id="227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70CB29F6-3AE3-4A78-8D6E-8AD3D8F8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162925"/>
            <a:ext cx="295275" cy="9525"/>
          </a:xfrm>
          <a:custGeom xmlns:a="http://schemas.openxmlformats.org/drawingml/2006/main">
            <a:pathLst>
              <a:path w="295275" h="952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228" name="arrowhead">
            <a:extLst xmlns:a="http://schemas.openxmlformats.org/drawingml/2006/main">
              <a:ext uri="{FF2B5EF4-FFF2-40B4-BE49-F238E27FC236}">
                <a16:creationId xmlns:a16="http://schemas.microsoft.com/office/drawing/2014/main" id="{4E1E7637-5B54-4060-86C8-C26F4017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811530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229" name="refinement stage boundary">
            <a:extLst xmlns:a="http://schemas.openxmlformats.org/drawingml/2006/main">
              <a:ext uri="{FF2B5EF4-FFF2-40B4-BE49-F238E27FC236}">
                <a16:creationId xmlns:a16="http://schemas.microsoft.com/office/drawing/2014/main" id="{F23D49AD-861A-41D6-89D0-1499062E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829425"/>
            <a:ext cx="3390900" cy="2562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56899"/>
            </a:solidFill>
          </a:ln>
        </p:spPr>
      </p:sp>
      <p:sp>
        <p:nvSpPr>
          <p:cNvPr id="230" name="Refinement stage">
            <a:extLst xmlns:a="http://schemas.openxmlformats.org/drawingml/2006/main">
              <a:ext uri="{FF2B5EF4-FFF2-40B4-BE49-F238E27FC236}">
                <a16:creationId xmlns:a16="http://schemas.microsoft.com/office/drawing/2014/main" id="{A3E4A831-2726-49F4-A65F-A5213F32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077075"/>
            <a:ext cx="2847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Refinement stage</a:t>
            </a:r>
          </a:p>
        </p:txBody>
      </p:sp>
      <p:sp>
        <p:nvSpPr>
          <p:cNvPr id="231" name="1×1">
            <a:extLst xmlns:a="http://schemas.openxmlformats.org/drawingml/2006/main">
              <a:ext uri="{FF2B5EF4-FFF2-40B4-BE49-F238E27FC236}">
                <a16:creationId xmlns:a16="http://schemas.microsoft.com/office/drawing/2014/main" id="{2D40E0A1-ECF1-4763-B1C8-755EEDD8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7743825"/>
            <a:ext cx="4762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1×1</a:t>
            </a:r>
          </a:p>
        </p:txBody>
      </p:sp>
      <p:sp>
        <p:nvSpPr>
          <p:cNvPr id="232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685CD11E-0CB7-4111-AFAA-524B6507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8162925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233" name="arrowhead">
            <a:extLst xmlns:a="http://schemas.openxmlformats.org/drawingml/2006/main">
              <a:ext uri="{FF2B5EF4-FFF2-40B4-BE49-F238E27FC236}">
                <a16:creationId xmlns:a16="http://schemas.microsoft.com/office/drawing/2014/main" id="{B0444F1F-3074-4A9F-92A2-F75A4FAB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811530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234" name="dilated temporal layers">
            <a:extLst xmlns:a="http://schemas.openxmlformats.org/drawingml/2006/main">
              <a:ext uri="{FF2B5EF4-FFF2-40B4-BE49-F238E27FC236}">
                <a16:creationId xmlns:a16="http://schemas.microsoft.com/office/drawing/2014/main" id="{D11F3B0A-4300-45A4-9404-7200D2A3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7515225"/>
            <a:ext cx="1000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</p:sp>
      <p:sp>
        <p:nvSpPr>
          <p:cNvPr id="235" name="dilated temporal layers">
            <a:extLst xmlns:a="http://schemas.openxmlformats.org/drawingml/2006/main">
              <a:ext uri="{FF2B5EF4-FFF2-40B4-BE49-F238E27FC236}">
                <a16:creationId xmlns:a16="http://schemas.microsoft.com/office/drawing/2014/main" id="{6D85B135-65D8-4633-82AB-80B0C506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7600950"/>
            <a:ext cx="1000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</p:sp>
      <p:sp>
        <p:nvSpPr>
          <p:cNvPr id="236" name="dilated temporal layers">
            <a:extLst xmlns:a="http://schemas.openxmlformats.org/drawingml/2006/main">
              <a:ext uri="{FF2B5EF4-FFF2-40B4-BE49-F238E27FC236}">
                <a16:creationId xmlns:a16="http://schemas.microsoft.com/office/drawing/2014/main" id="{222E97D0-0BAF-47F3-B7B6-4087F48A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7686675"/>
            <a:ext cx="1000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</p:sp>
      <p:sp>
        <p:nvSpPr>
          <p:cNvPr id="237" name="dilated temporal layers">
            <a:extLst xmlns:a="http://schemas.openxmlformats.org/drawingml/2006/main">
              <a:ext uri="{FF2B5EF4-FFF2-40B4-BE49-F238E27FC236}">
                <a16:creationId xmlns:a16="http://schemas.microsoft.com/office/drawing/2014/main" id="{AA782A2B-C6A7-499D-B0CA-05812E21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7772400"/>
            <a:ext cx="1000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</p:sp>
      <p:sp>
        <p:nvSpPr>
          <p:cNvPr id="238" name="TCN">
            <a:extLst xmlns:a="http://schemas.openxmlformats.org/drawingml/2006/main">
              <a:ext uri="{FF2B5EF4-FFF2-40B4-BE49-F238E27FC236}">
                <a16:creationId xmlns:a16="http://schemas.microsoft.com/office/drawing/2014/main" id="{22183171-E112-41F0-BA69-9D9A62C7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7848600"/>
            <a:ext cx="9048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TCN</a:t>
            </a:r>
          </a:p>
        </p:txBody>
      </p:sp>
      <p:sp>
        <p:nvSpPr>
          <p:cNvPr id="239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401D54F1-1ABB-4EED-9C69-6E29F97B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8162925"/>
            <a:ext cx="247650" cy="9525"/>
          </a:xfrm>
          <a:custGeom xmlns:a="http://schemas.openxmlformats.org/drawingml/2006/main"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240" name="arrowhead">
            <a:extLst xmlns:a="http://schemas.openxmlformats.org/drawingml/2006/main">
              <a:ext uri="{FF2B5EF4-FFF2-40B4-BE49-F238E27FC236}">
                <a16:creationId xmlns:a16="http://schemas.microsoft.com/office/drawing/2014/main" id="{23E2121F-59F2-4B77-B801-A2062228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275" y="811530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241" name="LN&#10;1×1">
            <a:extLst xmlns:a="http://schemas.openxmlformats.org/drawingml/2006/main">
              <a:ext uri="{FF2B5EF4-FFF2-40B4-BE49-F238E27FC236}">
                <a16:creationId xmlns:a16="http://schemas.microsoft.com/office/drawing/2014/main" id="{83D8FC19-D741-4376-804C-804C82F0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575" y="7743825"/>
            <a:ext cx="61912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LN</a:t>
            </a:r>
          </a:p>
          <a:p xmlns:a="http://schemas.openxmlformats.org/drawingml/2006/main">
            <a:pPr algn="ctr">
              <a:def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1×1</a:t>
            </a:r>
          </a:p>
        </p:txBody>
      </p:sp>
      <p:sp>
        <p:nvSpPr>
          <p:cNvPr id="242" name="48 channels / 10 blocks">
            <a:extLst xmlns:a="http://schemas.openxmlformats.org/drawingml/2006/main">
              <a:ext uri="{FF2B5EF4-FFF2-40B4-BE49-F238E27FC236}">
                <a16:creationId xmlns:a16="http://schemas.microsoft.com/office/drawing/2014/main" id="{3DAA5F70-C9CB-450E-92F5-433FBC91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8896350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48 channels / 10 blocks</a:t>
            </a:r>
          </a:p>
        </p:txBody>
      </p:sp>
      <p:sp>
        <p:nvSpPr>
          <p:cNvPr id="243" name="dilation = 1, 2, 4, …, 512">
            <a:extLst xmlns:a="http://schemas.openxmlformats.org/drawingml/2006/main">
              <a:ext uri="{FF2B5EF4-FFF2-40B4-BE49-F238E27FC236}">
                <a16:creationId xmlns:a16="http://schemas.microsoft.com/office/drawing/2014/main" id="{2ACE077B-FCF1-4F8D-93A4-DC6CA304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95059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dilation = 1, 2, 4, …, 512</a:t>
            </a:r>
          </a:p>
        </p:txBody>
      </p:sp>
      <p:sp>
        <p:nvSpPr>
          <p:cNvPr id="244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767967CC-0F6E-4DDC-BE07-CE448378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8162925"/>
            <a:ext cx="666750" cy="9525"/>
          </a:xfrm>
          <a:custGeom xmlns:a="http://schemas.openxmlformats.org/drawingml/2006/main"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245" name="arrowhead">
            <a:extLst xmlns:a="http://schemas.openxmlformats.org/drawingml/2006/main">
              <a:ext uri="{FF2B5EF4-FFF2-40B4-BE49-F238E27FC236}">
                <a16:creationId xmlns:a16="http://schemas.microsoft.com/office/drawing/2014/main" id="{05A396EB-EB2A-483A-8974-9A9E5515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675" y="811530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246" name="5 seeds&#10;mean log p">
            <a:extLst xmlns:a="http://schemas.openxmlformats.org/drawingml/2006/main">
              <a:ext uri="{FF2B5EF4-FFF2-40B4-BE49-F238E27FC236}">
                <a16:creationId xmlns:a16="http://schemas.microsoft.com/office/drawing/2014/main" id="{B026D764-9146-487D-8BAE-0BDF3EF8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7743825"/>
            <a:ext cx="14954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DEA"/>
          </a:solidFill>
          <a:ln xmlns:a="http://schemas.openxmlformats.org/drawingml/2006/main" w="14288">
            <a:solidFill>
              <a:srgbClr val="2D877F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D87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D877F"/>
                </a:solidFill>
                <a:latin typeface="Microsoft YaHei"/>
                <a:ea typeface="Microsoft YaHei"/>
                <a:cs typeface="Microsoft YaHei"/>
              </a:rPr>
              <a:t>5 seeds</a:t>
            </a:r>
          </a:p>
          <a:p xmlns:a="http://schemas.openxmlformats.org/drawingml/2006/main">
            <a:pPr algn="ctr">
              <a:defRPr sz="1800">
                <a:solidFill>
                  <a:srgbClr val="2D87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D877F"/>
                </a:solidFill>
                <a:latin typeface="Microsoft YaHei"/>
                <a:ea typeface="Microsoft YaHei"/>
                <a:cs typeface="Microsoft YaHei"/>
              </a:rPr>
              <a:t>mean log p</a:t>
            </a:r>
          </a:p>
        </p:txBody>
      </p:sp>
      <p:sp>
        <p:nvSpPr>
          <p:cNvPr id="247" name="13 × N">
            <a:extLst xmlns:a="http://schemas.openxmlformats.org/drawingml/2006/main">
              <a:ext uri="{FF2B5EF4-FFF2-40B4-BE49-F238E27FC236}">
                <a16:creationId xmlns:a16="http://schemas.microsoft.com/office/drawing/2014/main" id="{8BEEEE43-47C3-4204-BC5E-A77E5E0C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8867775"/>
            <a:ext cx="1495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D87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D877F"/>
                </a:solidFill>
                <a:latin typeface="Microsoft YaHei"/>
                <a:ea typeface="Microsoft YaHei"/>
                <a:cs typeface="Microsoft YaHei"/>
              </a:rPr>
              <a:t>13 × N</a:t>
            </a:r>
          </a:p>
        </p:txBody>
      </p:sp>
      <p:sp>
        <p:nvSpPr>
          <p:cNvPr id="248" name="difference 5">
            <a:extLst xmlns:a="http://schemas.openxmlformats.org/drawingml/2006/main">
              <a:ext uri="{FF2B5EF4-FFF2-40B4-BE49-F238E27FC236}">
                <a16:creationId xmlns:a16="http://schemas.microsoft.com/office/drawing/2014/main" id="{7A536339-B168-417C-A60B-6E810A09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6962775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A2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9" name="训练规则约束">
            <a:extLst xmlns:a="http://schemas.openxmlformats.org/drawingml/2006/main">
              <a:ext uri="{FF2B5EF4-FFF2-40B4-BE49-F238E27FC236}">
                <a16:creationId xmlns:a16="http://schemas.microsoft.com/office/drawing/2014/main" id="{69BFA2E7-311E-46E0-969E-D2ED7837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75" y="69342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训练规则约束</a:t>
            </a:r>
          </a:p>
        </p:txBody>
      </p:sp>
      <p:sp>
        <p:nvSpPr>
          <p:cNvPr id="250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5788C559-7585-46E2-B589-0EB58CFE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8162925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251" name="arrowhead">
            <a:extLst xmlns:a="http://schemas.openxmlformats.org/drawingml/2006/main">
              <a:ext uri="{FF2B5EF4-FFF2-40B4-BE49-F238E27FC236}">
                <a16:creationId xmlns:a16="http://schemas.microsoft.com/office/drawing/2014/main" id="{43C11B95-9EAF-48A2-8E5A-9C012767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1975" y="811530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252" name="Exact decode">
            <a:extLst xmlns:a="http://schemas.openxmlformats.org/drawingml/2006/main">
              <a:ext uri="{FF2B5EF4-FFF2-40B4-BE49-F238E27FC236}">
                <a16:creationId xmlns:a16="http://schemas.microsoft.com/office/drawing/2014/main" id="{95523AB7-2D81-4DF6-BCEE-A990C63E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4850" y="7743825"/>
            <a:ext cx="1733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B44A22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Exact decode</a:t>
            </a:r>
          </a:p>
        </p:txBody>
      </p:sp>
      <p:sp>
        <p:nvSpPr>
          <p:cNvPr id="253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88C94B61-4B9E-4F1F-ADD8-21049726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8601075"/>
            <a:ext cx="9525" cy="504825"/>
          </a:xfrm>
          <a:custGeom xmlns:a="http://schemas.openxmlformats.org/drawingml/2006/main">
            <a:pathLst>
              <a:path w="9525" h="504825">
                <a:moveTo>
                  <a:pt x="0" y="0"/>
                </a:moveTo>
                <a:lnTo>
                  <a:pt x="0" y="50482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254" name="arrowhead">
            <a:extLst xmlns:a="http://schemas.openxmlformats.org/drawingml/2006/main">
              <a:ext uri="{FF2B5EF4-FFF2-40B4-BE49-F238E27FC236}">
                <a16:creationId xmlns:a16="http://schemas.microsoft.com/office/drawing/2014/main" id="{BB7A6DA4-5636-4289-95D8-73867110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001125"/>
            <a:ext cx="95250" cy="104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A827E0EA-2C12-4A8F-A537-FFBA9661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172575"/>
            <a:ext cx="364236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BA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30A8562C-4D5D-435C-9FBF-E4EBED3B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5236" y="9172575"/>
            <a:ext cx="273177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B5C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322A0420-9437-42A2-9996-665E3638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8413" y="9172575"/>
            <a:ext cx="500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4B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1F373FE1-3E61-4EEC-9D3B-42FCC3A1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9238" y="9172575"/>
            <a:ext cx="45529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C57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A98492AA-BDE6-4BFF-BC11-0EDC1A10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4533" y="9172575"/>
            <a:ext cx="29594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A18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BC7B45DC-55D9-485A-8334-6E0ECBCA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0474" y="9172575"/>
            <a:ext cx="387001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1C4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1" name="阶段序列（示意）">
            <a:extLst xmlns:a="http://schemas.openxmlformats.org/drawingml/2006/main">
              <a:ext uri="{FF2B5EF4-FFF2-40B4-BE49-F238E27FC236}">
                <a16:creationId xmlns:a16="http://schemas.microsoft.com/office/drawing/2014/main" id="{0A4ED80C-28E4-4BEA-A272-787CA031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477375"/>
            <a:ext cx="2276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阶段序列（示意）</a:t>
            </a:r>
          </a:p>
        </p:txBody>
      </p:sp>
      <p:sp>
        <p:nvSpPr>
          <p:cNvPr id="262" name="离线：可读取同一视频的过去与未来">
            <a:extLst xmlns:a="http://schemas.openxmlformats.org/drawingml/2006/main">
              <a:ext uri="{FF2B5EF4-FFF2-40B4-BE49-F238E27FC236}">
                <a16:creationId xmlns:a16="http://schemas.microsoft.com/office/drawing/2014/main" id="{EC55015D-7386-4287-9F95-69634D49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810750"/>
            <a:ext cx="747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离线：可读取同一视频的过去与未来</a:t>
            </a:r>
          </a:p>
        </p:txBody>
      </p:sp>
      <p:sp>
        <p:nvSpPr>
          <p:cNvPr id="263" name="图像主干冻结，头和时序网络分别训练">
            <a:extLst xmlns:a="http://schemas.openxmlformats.org/drawingml/2006/main">
              <a:ext uri="{FF2B5EF4-FFF2-40B4-BE49-F238E27FC236}">
                <a16:creationId xmlns:a16="http://schemas.microsoft.com/office/drawing/2014/main" id="{8787F4DA-3F95-47AE-B32B-B2597280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981075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图像主干冻结，头和时序网络分别训练</a:t>
            </a:r>
          </a:p>
        </p:txBody>
      </p:sp>
    </p:spTree>
    <p:extLst>
      <p:ext uri="{BB962C8B-B14F-4D97-AF65-F5344CB8AC3E}">
        <p14:creationId xmlns:p14="http://schemas.microsoft.com/office/powerpoint/2010/main" val="13157021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时序网络内部结构">
            <a:extLst xmlns:a="http://schemas.openxmlformats.org/drawingml/2006/main">
              <a:ext uri="{FF2B5EF4-FFF2-40B4-BE49-F238E27FC236}">
                <a16:creationId xmlns:a16="http://schemas.microsoft.com/office/drawing/2014/main" id="{E4F69CF8-F35D-47F1-9471-64C87A1F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1724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rPr>
              <a:t>时序网络内部结构</a:t>
            </a:r>
          </a:p>
        </p:txBody>
      </p:sp>
      <p:sp>
        <p:nvSpPr>
          <p:cNvPr id="2" name="PhaseTCN：预测级 64 通道，细化级 48 通道，两级分别监督">
            <a:extLst xmlns:a="http://schemas.openxmlformats.org/drawingml/2006/main">
              <a:ext uri="{FF2B5EF4-FFF2-40B4-BE49-F238E27FC236}">
                <a16:creationId xmlns:a16="http://schemas.microsoft.com/office/drawing/2014/main" id="{5EDBC16D-4792-40CA-9B40-9CEB31F2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1714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PhaseTCN：预测级 64 通道，细化级 48 通道，两级分别监督</a:t>
            </a:r>
          </a:p>
        </p:txBody>
      </p:sp>
      <p:sp>
        <p:nvSpPr>
          <p:cNvPr id="3" name="2/3">
            <a:extLst xmlns:a="http://schemas.openxmlformats.org/drawingml/2006/main">
              <a:ext uri="{FF2B5EF4-FFF2-40B4-BE49-F238E27FC236}">
                <a16:creationId xmlns:a16="http://schemas.microsoft.com/office/drawing/2014/main" id="{B25F8DBE-1C61-40BD-8798-1A51A7BE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7917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2/3</a:t>
            </a:r>
          </a:p>
        </p:txBody>
      </p:sp>
      <p:sp>
        <p:nvSpPr>
          <p:cNvPr id="4" name="两级网络">
            <a:extLst xmlns:a="http://schemas.openxmlformats.org/drawingml/2006/main">
              <a:ext uri="{FF2B5EF4-FFF2-40B4-BE49-F238E27FC236}">
                <a16:creationId xmlns:a16="http://schemas.microsoft.com/office/drawing/2014/main" id="{7AC29705-E17C-423A-84D9-0DBD9BBB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287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rPr>
              <a:t>两级网络</a:t>
            </a:r>
          </a:p>
        </p:txBody>
      </p:sp>
      <p:sp>
        <p:nvSpPr>
          <p:cNvPr id="5" name="tensor face">
            <a:extLst xmlns:a="http://schemas.openxmlformats.org/drawingml/2006/main">
              <a:ext uri="{FF2B5EF4-FFF2-40B4-BE49-F238E27FC236}">
                <a16:creationId xmlns:a16="http://schemas.microsoft.com/office/drawing/2014/main" id="{101A9A27-013E-44C3-A145-8C7DCC92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695325" cy="123825"/>
          </a:xfrm>
          <a:custGeom xmlns:a="http://schemas.openxmlformats.org/drawingml/2006/main">
            <a:pathLst>
              <a:path w="695325" h="123825">
                <a:moveTo>
                  <a:pt x="0" y="123825"/>
                </a:moveTo>
                <a:lnTo>
                  <a:pt x="123825" y="0"/>
                </a:lnTo>
                <a:lnTo>
                  <a:pt x="695325" y="0"/>
                </a:lnTo>
                <a:lnTo>
                  <a:pt x="571500" y="123825"/>
                </a:lnTo>
                <a:close/>
              </a:path>
            </a:pathLst>
          </a:custGeom>
          <a:solidFill xmlns:a="http://schemas.openxmlformats.org/drawingml/2006/main">
            <a:srgbClr val="EDE6F4"/>
          </a:solidFill>
          <a:ln xmlns:a="http://schemas.openxmlformats.org/drawingml/2006/main" w="10478">
            <a:solidFill>
              <a:srgbClr val="7861A1"/>
            </a:solidFill>
          </a:ln>
        </p:spPr>
      </p:sp>
      <p:sp>
        <p:nvSpPr>
          <p:cNvPr id="6" name="tensor face">
            <a:extLst xmlns:a="http://schemas.openxmlformats.org/drawingml/2006/main">
              <a:ext uri="{FF2B5EF4-FFF2-40B4-BE49-F238E27FC236}">
                <a16:creationId xmlns:a16="http://schemas.microsoft.com/office/drawing/2014/main" id="{32C8A3BB-7F07-494E-9EF8-EACE7A1E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19400"/>
            <a:ext cx="123825" cy="1409700"/>
          </a:xfrm>
          <a:custGeom xmlns:a="http://schemas.openxmlformats.org/drawingml/2006/main">
            <a:pathLst>
              <a:path w="123825" h="1409700">
                <a:moveTo>
                  <a:pt x="0" y="123825"/>
                </a:moveTo>
                <a:lnTo>
                  <a:pt x="123825" y="0"/>
                </a:lnTo>
                <a:lnTo>
                  <a:pt x="123825" y="1285875"/>
                </a:lnTo>
                <a:lnTo>
                  <a:pt x="0" y="1409700"/>
                </a:lnTo>
                <a:close/>
              </a:path>
            </a:pathLst>
          </a:custGeom>
          <a:solidFill xmlns:a="http://schemas.openxmlformats.org/drawingml/2006/main">
            <a:srgbClr val="EDE6F4"/>
          </a:solidFill>
          <a:ln xmlns:a="http://schemas.openxmlformats.org/drawingml/2006/main" w="10478">
            <a:solidFill>
              <a:srgbClr val="7861A1"/>
            </a:solidFill>
          </a:ln>
        </p:spPr>
      </p:sp>
      <p:sp>
        <p:nvSpPr>
          <p:cNvPr id="7" name="feature tensor">
            <a:extLst xmlns:a="http://schemas.openxmlformats.org/drawingml/2006/main">
              <a:ext uri="{FF2B5EF4-FFF2-40B4-BE49-F238E27FC236}">
                <a16:creationId xmlns:a16="http://schemas.microsoft.com/office/drawing/2014/main" id="{307F3CF8-54E4-4E1C-A4E0-C30A3932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571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6F4"/>
          </a:solidFill>
          <a:ln xmlns:a="http://schemas.openxmlformats.org/drawingml/2006/main" w="12383">
            <a:solidFill>
              <a:srgbClr val="7861A1"/>
            </a:solidFill>
          </a:ln>
        </p:spPr>
      </p:sp>
      <p:sp>
        <p:nvSpPr>
          <p:cNvPr id="8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2569920F-FADA-4BD4-9F7C-DD0EC8C2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7538"/>
            <a:ext cx="571500" cy="9525"/>
          </a:xfrm>
          <a:custGeom xmlns:a="http://schemas.openxmlformats.org/drawingml/2006/main"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861A1"/>
            </a:solidFill>
            <a:prstDash val="solid"/>
          </a:ln>
        </p:spPr>
      </p:sp>
      <p:sp>
        <p:nvSpPr>
          <p:cNvPr id="9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ADFAB204-9B58-4BC6-B38F-822DE385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71500" cy="9525"/>
          </a:xfrm>
          <a:custGeom xmlns:a="http://schemas.openxmlformats.org/drawingml/2006/main"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861A1"/>
            </a:solidFill>
            <a:prstDash val="solid"/>
          </a:ln>
        </p:spPr>
      </p:sp>
      <p:sp>
        <p:nvSpPr>
          <p:cNvPr id="10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B26EC555-4E4D-4572-BC24-CF149FA8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6163"/>
            <a:ext cx="571500" cy="9525"/>
          </a:xfrm>
          <a:custGeom xmlns:a="http://schemas.openxmlformats.org/drawingml/2006/main"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861A1"/>
            </a:solidFill>
            <a:prstDash val="solid"/>
          </a:ln>
        </p:spPr>
      </p:sp>
      <p:sp>
        <p:nvSpPr>
          <p:cNvPr id="11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65CB7F2F-C56B-468D-947C-E018FB33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571500" cy="9525"/>
          </a:xfrm>
          <a:custGeom xmlns:a="http://schemas.openxmlformats.org/drawingml/2006/main"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861A1"/>
            </a:solidFill>
            <a:prstDash val="solid"/>
          </a:ln>
        </p:spPr>
      </p:sp>
      <p:sp>
        <p:nvSpPr>
          <p:cNvPr id="12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FD3F2CD7-EB53-4B85-B272-AF454E84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4788"/>
            <a:ext cx="571500" cy="9525"/>
          </a:xfrm>
          <a:custGeom xmlns:a="http://schemas.openxmlformats.org/drawingml/2006/main"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7861A1"/>
            </a:solidFill>
            <a:prstDash val="solid"/>
          </a:ln>
        </p:spPr>
      </p:sp>
      <p:sp>
        <p:nvSpPr>
          <p:cNvPr id="13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D49E5796-8F3B-4F58-8CEF-E3235401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43225"/>
            <a:ext cx="9525" cy="1285875"/>
          </a:xfrm>
          <a:custGeom xmlns:a="http://schemas.openxmlformats.org/drawingml/2006/main">
            <a:pathLst>
              <a:path w="9525" h="1285875">
                <a:moveTo>
                  <a:pt x="0" y="0"/>
                </a:moveTo>
                <a:lnTo>
                  <a:pt x="0" y="1285875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7861A1"/>
            </a:solidFill>
            <a:prstDash val="solid"/>
          </a:ln>
        </p:spPr>
      </p:sp>
      <p:sp>
        <p:nvSpPr>
          <p:cNvPr id="14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EC82A78F-5820-4C3D-812B-6FE30BCF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9525" cy="1285875"/>
          </a:xfrm>
          <a:custGeom xmlns:a="http://schemas.openxmlformats.org/drawingml/2006/main">
            <a:pathLst>
              <a:path w="9525" h="1285875">
                <a:moveTo>
                  <a:pt x="0" y="0"/>
                </a:moveTo>
                <a:lnTo>
                  <a:pt x="0" y="1285875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7861A1"/>
            </a:solidFill>
            <a:prstDash val="solid"/>
          </a:ln>
        </p:spPr>
      </p:sp>
      <p:sp>
        <p:nvSpPr>
          <p:cNvPr id="15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371BE152-6889-4356-B823-BA3FA86D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43225"/>
            <a:ext cx="9525" cy="1285875"/>
          </a:xfrm>
          <a:custGeom xmlns:a="http://schemas.openxmlformats.org/drawingml/2006/main">
            <a:pathLst>
              <a:path w="9525" h="1285875">
                <a:moveTo>
                  <a:pt x="0" y="0"/>
                </a:moveTo>
                <a:lnTo>
                  <a:pt x="0" y="1285875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7861A1"/>
            </a:solidFill>
            <a:prstDash val="solid"/>
          </a:ln>
        </p:spPr>
      </p:sp>
      <p:sp>
        <p:nvSpPr>
          <p:cNvPr id="16" name="51 × T">
            <a:extLst xmlns:a="http://schemas.openxmlformats.org/drawingml/2006/main">
              <a:ext uri="{FF2B5EF4-FFF2-40B4-BE49-F238E27FC236}">
                <a16:creationId xmlns:a16="http://schemas.microsoft.com/office/drawing/2014/main" id="{D0AC53E3-0423-46FC-8577-95B593D2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005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86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861A1"/>
                </a:solidFill>
                <a:latin typeface="Microsoft YaHei"/>
                <a:ea typeface="Microsoft YaHei"/>
                <a:cs typeface="Microsoft YaHei"/>
              </a:rPr>
              <a:t>51 × T</a:t>
            </a:r>
          </a:p>
        </p:txBody>
      </p:sp>
      <p:sp>
        <p:nvSpPr>
          <p:cNvPr id="17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86C88E88-8C9C-486F-8BC1-1F60F501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571875"/>
            <a:ext cx="752475" cy="9525"/>
          </a:xfrm>
          <a:custGeom xmlns:a="http://schemas.openxmlformats.org/drawingml/2006/main">
            <a:pathLst>
              <a:path w="752475" h="9525">
                <a:moveTo>
                  <a:pt x="0" y="0"/>
                </a:moveTo>
                <a:lnTo>
                  <a:pt x="752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18" name="arrowhead">
            <a:extLst xmlns:a="http://schemas.openxmlformats.org/drawingml/2006/main">
              <a:ext uri="{FF2B5EF4-FFF2-40B4-BE49-F238E27FC236}">
                <a16:creationId xmlns:a16="http://schemas.microsoft.com/office/drawing/2014/main" id="{8627837B-D2C5-4ACA-9611-BD697525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5242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19" name="Dropout&#10;0.15">
            <a:extLst xmlns:a="http://schemas.openxmlformats.org/drawingml/2006/main">
              <a:ext uri="{FF2B5EF4-FFF2-40B4-BE49-F238E27FC236}">
                <a16:creationId xmlns:a16="http://schemas.microsoft.com/office/drawing/2014/main" id="{59DFD52A-1FEC-4670-A346-F2537BF6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143250"/>
            <a:ext cx="10191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6F4"/>
          </a:solidFill>
          <a:ln xmlns:a="http://schemas.openxmlformats.org/drawingml/2006/main" w="14288">
            <a:solidFill>
              <a:srgbClr val="7861A1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786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7861A1"/>
                </a:solidFill>
                <a:latin typeface="Microsoft YaHei"/>
                <a:ea typeface="Microsoft YaHei"/>
                <a:cs typeface="Microsoft YaHei"/>
              </a:rPr>
              <a:t>Dropout</a:t>
            </a:r>
          </a:p>
          <a:p xmlns:a="http://schemas.openxmlformats.org/drawingml/2006/main">
            <a:pPr algn="ctr">
              <a:defRPr sz="1500">
                <a:solidFill>
                  <a:srgbClr val="786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7861A1"/>
                </a:solidFill>
                <a:latin typeface="Microsoft YaHei"/>
                <a:ea typeface="Microsoft YaHei"/>
                <a:cs typeface="Microsoft YaHei"/>
              </a:rPr>
              <a:t>0.15</a:t>
            </a:r>
          </a:p>
        </p:txBody>
      </p:sp>
      <p:sp>
        <p:nvSpPr>
          <p:cNvPr id="20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B9A969F8-CC50-4166-BFE6-F968491A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71875"/>
            <a:ext cx="561975" cy="9525"/>
          </a:xfrm>
          <a:custGeom xmlns:a="http://schemas.openxmlformats.org/drawingml/2006/main">
            <a:pathLst>
              <a:path w="561975" h="9525">
                <a:moveTo>
                  <a:pt x="0" y="0"/>
                </a:moveTo>
                <a:lnTo>
                  <a:pt x="561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21" name="arrowhead">
            <a:extLst xmlns:a="http://schemas.openxmlformats.org/drawingml/2006/main">
              <a:ext uri="{FF2B5EF4-FFF2-40B4-BE49-F238E27FC236}">
                <a16:creationId xmlns:a16="http://schemas.microsoft.com/office/drawing/2014/main" id="{7DA78062-4F5A-44E4-A7F2-FD8162EC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242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22" name="Conv1×1&#10;51 → 64">
            <a:extLst xmlns:a="http://schemas.openxmlformats.org/drawingml/2006/main">
              <a:ext uri="{FF2B5EF4-FFF2-40B4-BE49-F238E27FC236}">
                <a16:creationId xmlns:a16="http://schemas.microsoft.com/office/drawing/2014/main" id="{EC886022-4AC2-423D-91F9-B853971E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43250"/>
            <a:ext cx="1295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Conv1×1</a:t>
            </a:r>
          </a:p>
          <a:p xmlns:a="http://schemas.openxmlformats.org/drawingml/2006/main">
            <a:pPr algn="ctr">
              <a:def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51 → 64</a:t>
            </a:r>
          </a:p>
        </p:txBody>
      </p:sp>
      <p:sp>
        <p:nvSpPr>
          <p:cNvPr id="23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AE238382-4353-4215-BB10-4CE36986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71875"/>
            <a:ext cx="561975" cy="9525"/>
          </a:xfrm>
          <a:custGeom xmlns:a="http://schemas.openxmlformats.org/drawingml/2006/main">
            <a:pathLst>
              <a:path w="561975" h="9525">
                <a:moveTo>
                  <a:pt x="0" y="0"/>
                </a:moveTo>
                <a:lnTo>
                  <a:pt x="561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24" name="arrowhead">
            <a:extLst xmlns:a="http://schemas.openxmlformats.org/drawingml/2006/main">
              <a:ext uri="{FF2B5EF4-FFF2-40B4-BE49-F238E27FC236}">
                <a16:creationId xmlns:a16="http://schemas.microsoft.com/office/drawing/2014/main" id="{21C5A8AF-84FD-4650-AF01-9BBE3408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242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25" name="dilated temporal layers">
            <a:extLst xmlns:a="http://schemas.openxmlformats.org/drawingml/2006/main">
              <a:ext uri="{FF2B5EF4-FFF2-40B4-BE49-F238E27FC236}">
                <a16:creationId xmlns:a16="http://schemas.microsoft.com/office/drawing/2014/main" id="{0444DA3A-B698-47A1-923C-39B6D309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52700"/>
            <a:ext cx="13239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</p:sp>
      <p:sp>
        <p:nvSpPr>
          <p:cNvPr id="26" name="dilated temporal layers">
            <a:extLst xmlns:a="http://schemas.openxmlformats.org/drawingml/2006/main">
              <a:ext uri="{FF2B5EF4-FFF2-40B4-BE49-F238E27FC236}">
                <a16:creationId xmlns:a16="http://schemas.microsoft.com/office/drawing/2014/main" id="{FC63E208-66BE-419B-AC8C-53424B0C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38425"/>
            <a:ext cx="13239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</p:sp>
      <p:sp>
        <p:nvSpPr>
          <p:cNvPr id="27" name="dilated temporal layers">
            <a:extLst xmlns:a="http://schemas.openxmlformats.org/drawingml/2006/main">
              <a:ext uri="{FF2B5EF4-FFF2-40B4-BE49-F238E27FC236}">
                <a16:creationId xmlns:a16="http://schemas.microsoft.com/office/drawing/2014/main" id="{48E6893F-F1E8-40F9-93CD-16B6A6EE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724150"/>
            <a:ext cx="13239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</p:sp>
      <p:sp>
        <p:nvSpPr>
          <p:cNvPr id="28" name="dilated temporal layers">
            <a:extLst xmlns:a="http://schemas.openxmlformats.org/drawingml/2006/main">
              <a:ext uri="{FF2B5EF4-FFF2-40B4-BE49-F238E27FC236}">
                <a16:creationId xmlns:a16="http://schemas.microsoft.com/office/drawing/2014/main" id="{1006A543-5BC6-407E-A6A9-31FD7278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809875"/>
            <a:ext cx="13239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</p:sp>
      <p:sp>
        <p:nvSpPr>
          <p:cNvPr id="29" name="dilated temporal layers">
            <a:extLst xmlns:a="http://schemas.openxmlformats.org/drawingml/2006/main">
              <a:ext uri="{FF2B5EF4-FFF2-40B4-BE49-F238E27FC236}">
                <a16:creationId xmlns:a16="http://schemas.microsoft.com/office/drawing/2014/main" id="{B040D5EC-7F18-4D52-94B7-CB15FBB9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895600"/>
            <a:ext cx="13239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</p:sp>
      <p:sp>
        <p:nvSpPr>
          <p:cNvPr id="30" name="dilated temporal layers">
            <a:extLst xmlns:a="http://schemas.openxmlformats.org/drawingml/2006/main">
              <a:ext uri="{FF2B5EF4-FFF2-40B4-BE49-F238E27FC236}">
                <a16:creationId xmlns:a16="http://schemas.microsoft.com/office/drawing/2014/main" id="{DBECBD39-C4B2-4DC2-BB18-9A0DCCB5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981325"/>
            <a:ext cx="13239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</p:sp>
      <p:sp>
        <p:nvSpPr>
          <p:cNvPr id="31" name="dilated temporal layers">
            <a:extLst xmlns:a="http://schemas.openxmlformats.org/drawingml/2006/main">
              <a:ext uri="{FF2B5EF4-FFF2-40B4-BE49-F238E27FC236}">
                <a16:creationId xmlns:a16="http://schemas.microsoft.com/office/drawing/2014/main" id="{71FC42A8-6D86-4E4F-AFDB-8A7ABF42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67050"/>
            <a:ext cx="13239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</p:sp>
      <p:sp>
        <p:nvSpPr>
          <p:cNvPr id="32" name="10 blocks">
            <a:extLst xmlns:a="http://schemas.openxmlformats.org/drawingml/2006/main">
              <a:ext uri="{FF2B5EF4-FFF2-40B4-BE49-F238E27FC236}">
                <a16:creationId xmlns:a16="http://schemas.microsoft.com/office/drawing/2014/main" id="{DA54DF49-76C3-4067-984E-B7A7914A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12287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10 blocks</a:t>
            </a:r>
          </a:p>
        </p:txBody>
      </p:sp>
      <p:sp>
        <p:nvSpPr>
          <p:cNvPr id="33" name="d = 1 … 512">
            <a:extLst xmlns:a="http://schemas.openxmlformats.org/drawingml/2006/main">
              <a:ext uri="{FF2B5EF4-FFF2-40B4-BE49-F238E27FC236}">
                <a16:creationId xmlns:a16="http://schemas.microsoft.com/office/drawing/2014/main" id="{BF62A5EA-0F2C-4C86-83D2-2BD77EF5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52925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d = 1 … 512</a:t>
            </a:r>
          </a:p>
        </p:txBody>
      </p:sp>
      <p:sp>
        <p:nvSpPr>
          <p:cNvPr id="34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967AA10B-B81A-4ECA-87CB-DC1AC895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571875"/>
            <a:ext cx="1743075" cy="9525"/>
          </a:xfrm>
          <a:custGeom xmlns:a="http://schemas.openxmlformats.org/drawingml/2006/main">
            <a:pathLst>
              <a:path w="1743075" h="9525">
                <a:moveTo>
                  <a:pt x="0" y="0"/>
                </a:moveTo>
                <a:lnTo>
                  <a:pt x="1743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35" name="arrowhead">
            <a:extLst xmlns:a="http://schemas.openxmlformats.org/drawingml/2006/main">
              <a:ext uri="{FF2B5EF4-FFF2-40B4-BE49-F238E27FC236}">
                <a16:creationId xmlns:a16="http://schemas.microsoft.com/office/drawing/2014/main" id="{9F9C1E72-D76B-4DAB-B35E-86053C8A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5242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3B88D6-7C2A-4CE9-8510-1E8C7656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533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785"/>
          </a:solidFill>
          <a:ln xmlns:a="http://schemas.openxmlformats.org/drawingml/2006/main" w="0">
            <a:noFill/>
          </a:ln>
        </p:spPr>
      </p:sp>
      <p:sp>
        <p:nvSpPr>
          <p:cNvPr id="37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4DE718A5-EAC2-428D-AFC4-DABCE20E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28875"/>
            <a:ext cx="209550" cy="1143000"/>
          </a:xfrm>
          <a:custGeom xmlns:a="http://schemas.openxmlformats.org/drawingml/2006/main">
            <a:pathLst>
              <a:path w="209550" h="1143000">
                <a:moveTo>
                  <a:pt x="0" y="1143000"/>
                </a:moveTo>
                <a:lnTo>
                  <a:pt x="0" y="0"/>
                </a:ln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B44A22"/>
            </a:solidFill>
            <a:prstDash val="solid"/>
          </a:ln>
        </p:spPr>
      </p:sp>
      <p:sp>
        <p:nvSpPr>
          <p:cNvPr id="38" name="arrowhead">
            <a:extLst xmlns:a="http://schemas.openxmlformats.org/drawingml/2006/main">
              <a:ext uri="{FF2B5EF4-FFF2-40B4-BE49-F238E27FC236}">
                <a16:creationId xmlns:a16="http://schemas.microsoft.com/office/drawing/2014/main" id="{F2D49897-6640-4E64-B22F-9288E538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A22"/>
          </a:solidFill>
          <a:ln xmlns:a="http://schemas.openxmlformats.org/drawingml/2006/main" w="0">
            <a:solidFill>
              <a:srgbClr val="B44A22"/>
            </a:solidFill>
          </a:ln>
        </p:spPr>
      </p:sp>
      <p:sp>
        <p:nvSpPr>
          <p:cNvPr id="39" name="Pool16">
            <a:extLst xmlns:a="http://schemas.openxmlformats.org/drawingml/2006/main">
              <a:ext uri="{FF2B5EF4-FFF2-40B4-BE49-F238E27FC236}">
                <a16:creationId xmlns:a16="http://schemas.microsoft.com/office/drawing/2014/main" id="{D97C0FE3-0AB2-4553-9C95-F605E8DB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105025"/>
            <a:ext cx="10191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B44A22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Pool16</a:t>
            </a:r>
          </a:p>
        </p:txBody>
      </p:sp>
      <p:sp>
        <p:nvSpPr>
          <p:cNvPr id="40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432692D9-FB19-4844-9F0D-79106406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288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B44A22"/>
            </a:solidFill>
            <a:prstDash val="solid"/>
          </a:ln>
        </p:spPr>
      </p:sp>
      <p:sp>
        <p:nvSpPr>
          <p:cNvPr id="41" name="arrowhead">
            <a:extLst xmlns:a="http://schemas.openxmlformats.org/drawingml/2006/main">
              <a:ext uri="{FF2B5EF4-FFF2-40B4-BE49-F238E27FC236}">
                <a16:creationId xmlns:a16="http://schemas.microsoft.com/office/drawing/2014/main" id="{B8848C32-11C7-4FD6-93D3-0B08CE90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812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A22"/>
          </a:solidFill>
          <a:ln xmlns:a="http://schemas.openxmlformats.org/drawingml/2006/main" w="0">
            <a:solidFill>
              <a:srgbClr val="B44A22"/>
            </a:solidFill>
          </a:ln>
        </p:spPr>
      </p:sp>
      <p:sp>
        <p:nvSpPr>
          <p:cNvPr id="42" name="MHSA">
            <a:extLst xmlns:a="http://schemas.openxmlformats.org/drawingml/2006/main">
              <a:ext uri="{FF2B5EF4-FFF2-40B4-BE49-F238E27FC236}">
                <a16:creationId xmlns:a16="http://schemas.microsoft.com/office/drawing/2014/main" id="{127C58C0-0543-413E-B576-3BA81645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05025"/>
            <a:ext cx="10096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B44A22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MHSA</a:t>
            </a:r>
          </a:p>
        </p:txBody>
      </p:sp>
      <p:sp>
        <p:nvSpPr>
          <p:cNvPr id="43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FB2C2AF8-6521-49DE-9006-97173F86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428875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B44A22"/>
            </a:solidFill>
            <a:prstDash val="solid"/>
          </a:ln>
        </p:spPr>
      </p:sp>
      <p:sp>
        <p:nvSpPr>
          <p:cNvPr id="44" name="arrowhead">
            <a:extLst xmlns:a="http://schemas.openxmlformats.org/drawingml/2006/main">
              <a:ext uri="{FF2B5EF4-FFF2-40B4-BE49-F238E27FC236}">
                <a16:creationId xmlns:a16="http://schemas.microsoft.com/office/drawing/2014/main" id="{2E5DFA22-EEE5-433D-A6CC-A8345436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3812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A22"/>
          </a:solidFill>
          <a:ln xmlns:a="http://schemas.openxmlformats.org/drawingml/2006/main" w="0">
            <a:solidFill>
              <a:srgbClr val="B44A22"/>
            </a:solidFill>
          </a:ln>
        </p:spPr>
      </p:sp>
      <p:sp>
        <p:nvSpPr>
          <p:cNvPr id="45" name="Interp.">
            <a:extLst xmlns:a="http://schemas.openxmlformats.org/drawingml/2006/main">
              <a:ext uri="{FF2B5EF4-FFF2-40B4-BE49-F238E27FC236}">
                <a16:creationId xmlns:a16="http://schemas.microsoft.com/office/drawing/2014/main" id="{A9B33C11-997C-448B-B1F2-0CE79066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105025"/>
            <a:ext cx="10191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B44A22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Interp.</a:t>
            </a:r>
          </a:p>
        </p:txBody>
      </p:sp>
      <p:sp>
        <p:nvSpPr>
          <p:cNvPr id="46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F907E354-4FFF-4D4D-ACBF-60F46ED7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43200"/>
            <a:ext cx="1685925" cy="638175"/>
          </a:xfrm>
          <a:custGeom xmlns:a="http://schemas.openxmlformats.org/drawingml/2006/main">
            <a:pathLst>
              <a:path w="1685925" h="638175">
                <a:moveTo>
                  <a:pt x="1685925" y="0"/>
                </a:moveTo>
                <a:lnTo>
                  <a:pt x="1685925" y="333375"/>
                </a:lnTo>
                <a:lnTo>
                  <a:pt x="0" y="333375"/>
                </a:lnTo>
                <a:lnTo>
                  <a:pt x="0" y="63817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B44A22"/>
            </a:solidFill>
            <a:prstDash val="solid"/>
          </a:ln>
        </p:spPr>
      </p:sp>
      <p:sp>
        <p:nvSpPr>
          <p:cNvPr id="47" name="arrowhead">
            <a:extLst xmlns:a="http://schemas.openxmlformats.org/drawingml/2006/main">
              <a:ext uri="{FF2B5EF4-FFF2-40B4-BE49-F238E27FC236}">
                <a16:creationId xmlns:a16="http://schemas.microsoft.com/office/drawing/2014/main" id="{8CFEE910-B60B-4E98-B862-EB982B72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76600"/>
            <a:ext cx="95250" cy="104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4A22"/>
          </a:solidFill>
          <a:ln xmlns:a="http://schemas.openxmlformats.org/drawingml/2006/main" w="0">
            <a:solidFill>
              <a:srgbClr val="B44A22"/>
            </a:solidFill>
          </a:ln>
        </p:spPr>
      </p:sp>
      <p:sp>
        <p:nvSpPr>
          <p:cNvPr id="48" name="residual addition">
            <a:extLst xmlns:a="http://schemas.openxmlformats.org/drawingml/2006/main">
              <a:ext uri="{FF2B5EF4-FFF2-40B4-BE49-F238E27FC236}">
                <a16:creationId xmlns:a16="http://schemas.microsoft.com/office/drawing/2014/main" id="{77FC0622-7331-4757-B22D-1EF0677F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813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44A22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49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CA0A7383-E889-47FF-82BE-F0FB1D68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71875"/>
            <a:ext cx="542925" cy="9525"/>
          </a:xfrm>
          <a:custGeom xmlns:a="http://schemas.openxmlformats.org/drawingml/2006/main">
            <a:pathLst>
              <a:path w="542925" h="952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50" name="arrowhead">
            <a:extLst xmlns:a="http://schemas.openxmlformats.org/drawingml/2006/main">
              <a:ext uri="{FF2B5EF4-FFF2-40B4-BE49-F238E27FC236}">
                <a16:creationId xmlns:a16="http://schemas.microsoft.com/office/drawing/2014/main" id="{60715B84-B41D-4AE4-8A8E-98898784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5242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51" name="LN&#10;Conv1×1">
            <a:extLst xmlns:a="http://schemas.openxmlformats.org/drawingml/2006/main">
              <a:ext uri="{FF2B5EF4-FFF2-40B4-BE49-F238E27FC236}">
                <a16:creationId xmlns:a16="http://schemas.microsoft.com/office/drawing/2014/main" id="{25FFCE80-6855-425E-96DE-DE9F7781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43250"/>
            <a:ext cx="1200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LN</a:t>
            </a:r>
          </a:p>
          <a:p xmlns:a="http://schemas.openxmlformats.org/drawingml/2006/main">
            <a:pPr algn="ctr">
              <a:def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Conv1×1</a:t>
            </a:r>
          </a:p>
        </p:txBody>
      </p:sp>
      <p:sp>
        <p:nvSpPr>
          <p:cNvPr id="52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B77B353F-D052-4B87-922D-F2AD0EDA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3571875"/>
            <a:ext cx="523875" cy="9525"/>
          </a:xfrm>
          <a:custGeom xmlns:a="http://schemas.openxmlformats.org/drawingml/2006/main">
            <a:pathLst>
              <a:path w="523875" h="9525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53" name="arrowhead">
            <a:extLst xmlns:a="http://schemas.openxmlformats.org/drawingml/2006/main">
              <a:ext uri="{FF2B5EF4-FFF2-40B4-BE49-F238E27FC236}">
                <a16:creationId xmlns:a16="http://schemas.microsoft.com/office/drawing/2014/main" id="{B1C2AF69-A172-4C5B-AD87-4BAB9828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5242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54" name="tensor face">
            <a:extLst xmlns:a="http://schemas.openxmlformats.org/drawingml/2006/main">
              <a:ext uri="{FF2B5EF4-FFF2-40B4-BE49-F238E27FC236}">
                <a16:creationId xmlns:a16="http://schemas.microsoft.com/office/drawing/2014/main" id="{5DCDF62E-F717-4216-A02E-0DADA025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924175"/>
            <a:ext cx="685800" cy="123825"/>
          </a:xfrm>
          <a:custGeom xmlns:a="http://schemas.openxmlformats.org/drawingml/2006/main">
            <a:pathLst>
              <a:path w="685800" h="123825">
                <a:moveTo>
                  <a:pt x="0" y="123825"/>
                </a:moveTo>
                <a:lnTo>
                  <a:pt x="123825" y="0"/>
                </a:lnTo>
                <a:lnTo>
                  <a:pt x="685800" y="0"/>
                </a:lnTo>
                <a:lnTo>
                  <a:pt x="561975" y="123825"/>
                </a:lnTo>
                <a:close/>
              </a:path>
            </a:pathLst>
          </a:custGeom>
          <a:solidFill xmlns:a="http://schemas.openxmlformats.org/drawingml/2006/main">
            <a:srgbClr val="DCEAF5"/>
          </a:solidFill>
          <a:ln xmlns:a="http://schemas.openxmlformats.org/drawingml/2006/main" w="10478">
            <a:solidFill>
              <a:srgbClr val="356899"/>
            </a:solidFill>
          </a:ln>
        </p:spPr>
      </p:sp>
      <p:sp>
        <p:nvSpPr>
          <p:cNvPr id="55" name="tensor face">
            <a:extLst xmlns:a="http://schemas.openxmlformats.org/drawingml/2006/main">
              <a:ext uri="{FF2B5EF4-FFF2-40B4-BE49-F238E27FC236}">
                <a16:creationId xmlns:a16="http://schemas.microsoft.com/office/drawing/2014/main" id="{04AA4639-3A35-4D7A-AF93-C37B88EA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2924175"/>
            <a:ext cx="123825" cy="1190625"/>
          </a:xfrm>
          <a:custGeom xmlns:a="http://schemas.openxmlformats.org/drawingml/2006/main">
            <a:pathLst>
              <a:path w="123825" h="1190625">
                <a:moveTo>
                  <a:pt x="0" y="123825"/>
                </a:moveTo>
                <a:lnTo>
                  <a:pt x="123825" y="0"/>
                </a:lnTo>
                <a:lnTo>
                  <a:pt x="123825" y="1066800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DCEAF5"/>
          </a:solidFill>
          <a:ln xmlns:a="http://schemas.openxmlformats.org/drawingml/2006/main" w="10478">
            <a:solidFill>
              <a:srgbClr val="356899"/>
            </a:solidFill>
          </a:ln>
        </p:spPr>
      </p:sp>
      <p:sp>
        <p:nvSpPr>
          <p:cNvPr id="56" name="feature tensor">
            <a:extLst xmlns:a="http://schemas.openxmlformats.org/drawingml/2006/main">
              <a:ext uri="{FF2B5EF4-FFF2-40B4-BE49-F238E27FC236}">
                <a16:creationId xmlns:a16="http://schemas.microsoft.com/office/drawing/2014/main" id="{721EAD82-75EC-444C-8E3F-51C2F237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048000"/>
            <a:ext cx="5619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2383">
            <a:solidFill>
              <a:srgbClr val="356899"/>
            </a:solidFill>
          </a:ln>
        </p:spPr>
      </p:sp>
      <p:sp>
        <p:nvSpPr>
          <p:cNvPr id="57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0F319A90-F447-4283-B9FF-E9FE1951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261360"/>
            <a:ext cx="561975" cy="9525"/>
          </a:xfrm>
          <a:custGeom xmlns:a="http://schemas.openxmlformats.org/drawingml/2006/main">
            <a:pathLst>
              <a:path w="561975" h="9525">
                <a:moveTo>
                  <a:pt x="0" y="0"/>
                </a:moveTo>
                <a:lnTo>
                  <a:pt x="561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356899"/>
            </a:solidFill>
            <a:prstDash val="solid"/>
          </a:ln>
        </p:spPr>
      </p:sp>
      <p:sp>
        <p:nvSpPr>
          <p:cNvPr id="58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CE3AECEF-F035-4AD7-ADDB-9A03AABF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474720"/>
            <a:ext cx="561975" cy="9525"/>
          </a:xfrm>
          <a:custGeom xmlns:a="http://schemas.openxmlformats.org/drawingml/2006/main">
            <a:pathLst>
              <a:path w="561975" h="9525">
                <a:moveTo>
                  <a:pt x="0" y="0"/>
                </a:moveTo>
                <a:lnTo>
                  <a:pt x="561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356899"/>
            </a:solidFill>
            <a:prstDash val="solid"/>
          </a:ln>
        </p:spPr>
      </p:sp>
      <p:sp>
        <p:nvSpPr>
          <p:cNvPr id="59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1A4F6915-CE94-42B9-9FEF-0A809FC6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688080"/>
            <a:ext cx="561975" cy="9525"/>
          </a:xfrm>
          <a:custGeom xmlns:a="http://schemas.openxmlformats.org/drawingml/2006/main">
            <a:pathLst>
              <a:path w="561975" h="9525">
                <a:moveTo>
                  <a:pt x="0" y="0"/>
                </a:moveTo>
                <a:lnTo>
                  <a:pt x="561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356899"/>
            </a:solidFill>
            <a:prstDash val="solid"/>
          </a:ln>
        </p:spPr>
      </p:sp>
      <p:sp>
        <p:nvSpPr>
          <p:cNvPr id="60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F052E112-8F99-4484-A150-9953FAF4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901440"/>
            <a:ext cx="561975" cy="9525"/>
          </a:xfrm>
          <a:custGeom xmlns:a="http://schemas.openxmlformats.org/drawingml/2006/main">
            <a:pathLst>
              <a:path w="561975" h="9525">
                <a:moveTo>
                  <a:pt x="0" y="0"/>
                </a:moveTo>
                <a:lnTo>
                  <a:pt x="561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356899"/>
            </a:solidFill>
            <a:prstDash val="solid"/>
          </a:ln>
        </p:spPr>
      </p:sp>
      <p:sp>
        <p:nvSpPr>
          <p:cNvPr id="61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A0B5F938-EE0B-4FA5-8D5A-8A86874F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0119" y="3048000"/>
            <a:ext cx="9525" cy="1066800"/>
          </a:xfrm>
          <a:custGeom xmlns:a="http://schemas.openxmlformats.org/drawingml/2006/main">
            <a:pathLst>
              <a:path w="9525" h="1066800">
                <a:moveTo>
                  <a:pt x="0" y="0"/>
                </a:moveTo>
                <a:lnTo>
                  <a:pt x="0" y="106680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356899"/>
            </a:solidFill>
            <a:prstDash val="solid"/>
          </a:ln>
        </p:spPr>
      </p:sp>
      <p:sp>
        <p:nvSpPr>
          <p:cNvPr id="62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9AA3AE40-962C-4813-8D7A-1E498C21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613" y="3048000"/>
            <a:ext cx="9525" cy="1066800"/>
          </a:xfrm>
          <a:custGeom xmlns:a="http://schemas.openxmlformats.org/drawingml/2006/main">
            <a:pathLst>
              <a:path w="9525" h="1066800">
                <a:moveTo>
                  <a:pt x="0" y="0"/>
                </a:moveTo>
                <a:lnTo>
                  <a:pt x="0" y="106680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356899"/>
            </a:solidFill>
            <a:prstDash val="solid"/>
          </a:ln>
        </p:spPr>
      </p:sp>
      <p:sp>
        <p:nvSpPr>
          <p:cNvPr id="63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D72234E2-97C4-403A-9865-60087EEA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1106" y="3048000"/>
            <a:ext cx="9525" cy="1066800"/>
          </a:xfrm>
          <a:custGeom xmlns:a="http://schemas.openxmlformats.org/drawingml/2006/main">
            <a:pathLst>
              <a:path w="9525" h="1066800">
                <a:moveTo>
                  <a:pt x="0" y="0"/>
                </a:moveTo>
                <a:lnTo>
                  <a:pt x="0" y="106680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356899"/>
            </a:solidFill>
            <a:prstDash val="solid"/>
          </a:ln>
        </p:spPr>
      </p:sp>
      <p:sp>
        <p:nvSpPr>
          <p:cNvPr id="64" name="13 × T">
            <a:extLst xmlns:a="http://schemas.openxmlformats.org/drawingml/2006/main">
              <a:ext uri="{FF2B5EF4-FFF2-40B4-BE49-F238E27FC236}">
                <a16:creationId xmlns:a16="http://schemas.microsoft.com/office/drawing/2014/main" id="{DAE3F507-51A0-40C6-9F41-F28B225E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286250"/>
            <a:ext cx="1514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13 × T</a:t>
            </a:r>
          </a:p>
        </p:txBody>
      </p:sp>
      <p:sp>
        <p:nvSpPr>
          <p:cNvPr id="65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44007570-7CD5-4963-A2A9-DFAF56E1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425" y="3571875"/>
            <a:ext cx="504825" cy="9525"/>
          </a:xfrm>
          <a:custGeom xmlns:a="http://schemas.openxmlformats.org/drawingml/2006/main">
            <a:pathLst>
              <a:path w="504825" h="952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66" name="arrowhead">
            <a:extLst xmlns:a="http://schemas.openxmlformats.org/drawingml/2006/main">
              <a:ext uri="{FF2B5EF4-FFF2-40B4-BE49-F238E27FC236}">
                <a16:creationId xmlns:a16="http://schemas.microsoft.com/office/drawing/2014/main" id="{123F5F69-56BB-4E86-9B2A-6840CB81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35242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67" name="Softmax">
            <a:extLst xmlns:a="http://schemas.openxmlformats.org/drawingml/2006/main">
              <a:ext uri="{FF2B5EF4-FFF2-40B4-BE49-F238E27FC236}">
                <a16:creationId xmlns:a16="http://schemas.microsoft.com/office/drawing/2014/main" id="{2C4E93A0-E06E-4079-9A14-36F02254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3238500"/>
            <a:ext cx="1104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Softmax</a:t>
            </a:r>
          </a:p>
        </p:txBody>
      </p:sp>
      <p:sp>
        <p:nvSpPr>
          <p:cNvPr id="68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B0FB30E7-7A01-4F6D-885A-80585A36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3571875"/>
            <a:ext cx="533400" cy="9525"/>
          </a:xfrm>
          <a:custGeom xmlns:a="http://schemas.openxmlformats.org/drawingml/2006/main">
            <a:pathLst>
              <a:path w="533400" h="952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69" name="arrowhead">
            <a:extLst xmlns:a="http://schemas.openxmlformats.org/drawingml/2006/main">
              <a:ext uri="{FF2B5EF4-FFF2-40B4-BE49-F238E27FC236}">
                <a16:creationId xmlns:a16="http://schemas.microsoft.com/office/drawing/2014/main" id="{C05D549B-95AE-4994-AE49-6A49E72A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35242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70" name="Refine&#10;48ch ×10&#10;LN + 1×1">
            <a:extLst xmlns:a="http://schemas.openxmlformats.org/drawingml/2006/main">
              <a:ext uri="{FF2B5EF4-FFF2-40B4-BE49-F238E27FC236}">
                <a16:creationId xmlns:a16="http://schemas.microsoft.com/office/drawing/2014/main" id="{CE0D12DC-39AE-405B-B2BD-D94BD9F6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2990850"/>
            <a:ext cx="12668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Refine</a:t>
            </a:r>
          </a:p>
          <a:p xmlns:a="http://schemas.openxmlformats.org/drawingml/2006/main">
            <a:pPr algn="ctr">
              <a:defRPr sz="157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48ch ×10</a:t>
            </a:r>
          </a:p>
          <a:p xmlns:a="http://schemas.openxmlformats.org/drawingml/2006/main">
            <a:pPr algn="ctr">
              <a:defRPr sz="157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LN + 1×1</a:t>
            </a:r>
          </a:p>
        </p:txBody>
      </p:sp>
      <p:sp>
        <p:nvSpPr>
          <p:cNvPr id="71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1928C643-45B2-4D62-9916-7594514C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2525" y="3571875"/>
            <a:ext cx="514350" cy="9525"/>
          </a:xfrm>
          <a:custGeom xmlns:a="http://schemas.openxmlformats.org/drawingml/2006/main">
            <a:pathLst>
              <a:path w="514350" h="9525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72" name="arrowhead">
            <a:extLst xmlns:a="http://schemas.openxmlformats.org/drawingml/2006/main">
              <a:ext uri="{FF2B5EF4-FFF2-40B4-BE49-F238E27FC236}">
                <a16:creationId xmlns:a16="http://schemas.microsoft.com/office/drawing/2014/main" id="{35AB9F93-75E0-478A-9BDC-4F6B8937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35242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73" name="tensor face">
            <a:extLst xmlns:a="http://schemas.openxmlformats.org/drawingml/2006/main">
              <a:ext uri="{FF2B5EF4-FFF2-40B4-BE49-F238E27FC236}">
                <a16:creationId xmlns:a16="http://schemas.microsoft.com/office/drawing/2014/main" id="{D9449511-13A9-4313-9EDD-B49DB100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4975" y="2924175"/>
            <a:ext cx="704850" cy="123825"/>
          </a:xfrm>
          <a:custGeom xmlns:a="http://schemas.openxmlformats.org/drawingml/2006/main">
            <a:pathLst>
              <a:path w="704850" h="123825">
                <a:moveTo>
                  <a:pt x="0" y="123825"/>
                </a:moveTo>
                <a:lnTo>
                  <a:pt x="123825" y="0"/>
                </a:lnTo>
                <a:lnTo>
                  <a:pt x="704850" y="0"/>
                </a:lnTo>
                <a:lnTo>
                  <a:pt x="581025" y="123825"/>
                </a:lnTo>
                <a:close/>
              </a:path>
            </a:pathLst>
          </a:custGeom>
          <a:solidFill xmlns:a="http://schemas.openxmlformats.org/drawingml/2006/main">
            <a:srgbClr val="D6EDEA"/>
          </a:solidFill>
          <a:ln xmlns:a="http://schemas.openxmlformats.org/drawingml/2006/main" w="10478">
            <a:solidFill>
              <a:srgbClr val="2D877F"/>
            </a:solidFill>
          </a:ln>
        </p:spPr>
      </p:sp>
      <p:sp>
        <p:nvSpPr>
          <p:cNvPr id="74" name="tensor face">
            <a:extLst xmlns:a="http://schemas.openxmlformats.org/drawingml/2006/main">
              <a:ext uri="{FF2B5EF4-FFF2-40B4-BE49-F238E27FC236}">
                <a16:creationId xmlns:a16="http://schemas.microsoft.com/office/drawing/2014/main" id="{950FC414-F97E-43F8-992B-2D241B39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2924175"/>
            <a:ext cx="123825" cy="1190625"/>
          </a:xfrm>
          <a:custGeom xmlns:a="http://schemas.openxmlformats.org/drawingml/2006/main">
            <a:pathLst>
              <a:path w="123825" h="1190625">
                <a:moveTo>
                  <a:pt x="0" y="123825"/>
                </a:moveTo>
                <a:lnTo>
                  <a:pt x="123825" y="0"/>
                </a:lnTo>
                <a:lnTo>
                  <a:pt x="123825" y="1066800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D6EDEA"/>
          </a:solidFill>
          <a:ln xmlns:a="http://schemas.openxmlformats.org/drawingml/2006/main" w="10478">
            <a:solidFill>
              <a:srgbClr val="2D877F"/>
            </a:solidFill>
          </a:ln>
        </p:spPr>
      </p:sp>
      <p:sp>
        <p:nvSpPr>
          <p:cNvPr id="75" name="feature tensor">
            <a:extLst xmlns:a="http://schemas.openxmlformats.org/drawingml/2006/main">
              <a:ext uri="{FF2B5EF4-FFF2-40B4-BE49-F238E27FC236}">
                <a16:creationId xmlns:a16="http://schemas.microsoft.com/office/drawing/2014/main" id="{3C836180-6B9F-4159-9BF8-99F1841B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4975" y="3048000"/>
            <a:ext cx="5810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DEA"/>
          </a:solidFill>
          <a:ln xmlns:a="http://schemas.openxmlformats.org/drawingml/2006/main" w="12383">
            <a:solidFill>
              <a:srgbClr val="2D877F"/>
            </a:solidFill>
          </a:ln>
        </p:spPr>
      </p:sp>
      <p:sp>
        <p:nvSpPr>
          <p:cNvPr id="76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58C3BDF1-D8C2-4500-ACB4-F188DC26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4975" y="3261360"/>
            <a:ext cx="581025" cy="9525"/>
          </a:xfrm>
          <a:custGeom xmlns:a="http://schemas.openxmlformats.org/drawingml/2006/main">
            <a:pathLst>
              <a:path w="581025" h="9525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2D877F"/>
            </a:solidFill>
            <a:prstDash val="solid"/>
          </a:ln>
        </p:spPr>
      </p:sp>
      <p:sp>
        <p:nvSpPr>
          <p:cNvPr id="77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2A5020F9-6031-4816-9129-907B6F4D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4975" y="3474720"/>
            <a:ext cx="581025" cy="9525"/>
          </a:xfrm>
          <a:custGeom xmlns:a="http://schemas.openxmlformats.org/drawingml/2006/main">
            <a:pathLst>
              <a:path w="581025" h="9525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2D877F"/>
            </a:solidFill>
            <a:prstDash val="solid"/>
          </a:ln>
        </p:spPr>
      </p:sp>
      <p:sp>
        <p:nvSpPr>
          <p:cNvPr id="78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40D7D4AD-F440-4F31-ABD8-2BF6D556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4975" y="3688080"/>
            <a:ext cx="581025" cy="9525"/>
          </a:xfrm>
          <a:custGeom xmlns:a="http://schemas.openxmlformats.org/drawingml/2006/main">
            <a:pathLst>
              <a:path w="581025" h="9525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2D877F"/>
            </a:solidFill>
            <a:prstDash val="solid"/>
          </a:ln>
        </p:spPr>
      </p:sp>
      <p:sp>
        <p:nvSpPr>
          <p:cNvPr id="79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B17D9BD1-756B-420F-A08A-BE624C05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4975" y="3901440"/>
            <a:ext cx="581025" cy="9525"/>
          </a:xfrm>
          <a:custGeom xmlns:a="http://schemas.openxmlformats.org/drawingml/2006/main">
            <a:pathLst>
              <a:path w="581025" h="9525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2D877F"/>
            </a:solidFill>
            <a:prstDash val="solid"/>
          </a:ln>
        </p:spPr>
      </p:sp>
      <p:sp>
        <p:nvSpPr>
          <p:cNvPr id="80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44BF99D7-2A1B-4B43-9AF8-50BCFB1D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0231" y="3048000"/>
            <a:ext cx="9525" cy="1066800"/>
          </a:xfrm>
          <a:custGeom xmlns:a="http://schemas.openxmlformats.org/drawingml/2006/main">
            <a:pathLst>
              <a:path w="9525" h="1066800">
                <a:moveTo>
                  <a:pt x="0" y="0"/>
                </a:moveTo>
                <a:lnTo>
                  <a:pt x="0" y="106680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2D877F"/>
            </a:solidFill>
            <a:prstDash val="solid"/>
          </a:ln>
        </p:spPr>
      </p:sp>
      <p:sp>
        <p:nvSpPr>
          <p:cNvPr id="81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61A50B41-645C-4899-8101-0C25AFA2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5488" y="3048000"/>
            <a:ext cx="9525" cy="1066800"/>
          </a:xfrm>
          <a:custGeom xmlns:a="http://schemas.openxmlformats.org/drawingml/2006/main">
            <a:pathLst>
              <a:path w="9525" h="1066800">
                <a:moveTo>
                  <a:pt x="0" y="0"/>
                </a:moveTo>
                <a:lnTo>
                  <a:pt x="0" y="106680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2D877F"/>
            </a:solidFill>
            <a:prstDash val="solid"/>
          </a:ln>
        </p:spPr>
      </p:sp>
      <p:sp>
        <p:nvSpPr>
          <p:cNvPr id="82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501C1063-95B6-4C09-8EE6-814B1FC0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0744" y="3048000"/>
            <a:ext cx="9525" cy="1066800"/>
          </a:xfrm>
          <a:custGeom xmlns:a="http://schemas.openxmlformats.org/drawingml/2006/main">
            <a:pathLst>
              <a:path w="9525" h="1066800">
                <a:moveTo>
                  <a:pt x="0" y="0"/>
                </a:moveTo>
                <a:lnTo>
                  <a:pt x="0" y="106680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2D877F"/>
            </a:solidFill>
            <a:prstDash val="solid"/>
          </a:ln>
        </p:spPr>
      </p:sp>
      <p:sp>
        <p:nvSpPr>
          <p:cNvPr id="83" name="13 × T">
            <a:extLst xmlns:a="http://schemas.openxmlformats.org/drawingml/2006/main">
              <a:ext uri="{FF2B5EF4-FFF2-40B4-BE49-F238E27FC236}">
                <a16:creationId xmlns:a16="http://schemas.microsoft.com/office/drawing/2014/main" id="{7E4668EC-35AA-4490-95C8-8DE0FC49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25" y="4286250"/>
            <a:ext cx="1533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D87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D877F"/>
                </a:solidFill>
                <a:latin typeface="Microsoft YaHei"/>
                <a:ea typeface="Microsoft YaHei"/>
                <a:cs typeface="Microsoft YaHei"/>
              </a:rPr>
              <a:t>13 × T</a:t>
            </a:r>
          </a:p>
        </p:txBody>
      </p:sp>
      <p:sp>
        <p:nvSpPr>
          <p:cNvPr id="84" name="训练：两级输出各计算 CE + 0.15 × 截断平滑损失">
            <a:extLst xmlns:a="http://schemas.openxmlformats.org/drawingml/2006/main">
              <a:ext uri="{FF2B5EF4-FFF2-40B4-BE49-F238E27FC236}">
                <a16:creationId xmlns:a16="http://schemas.microsoft.com/office/drawing/2014/main" id="{913086C6-3BA0-465C-9AA5-CF3FDEBB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743450"/>
            <a:ext cx="101060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rPr>
              <a:t>训练：两级输出各计算 CE + 0.15 × 截断平滑损失</a:t>
            </a:r>
          </a:p>
        </p:txBody>
      </p:sp>
      <p:sp>
        <p:nvSpPr>
          <p:cNvPr id="85" name="推理：使用细化级输出。5 个种子平均最终 log_softmax">
            <a:extLst xmlns:a="http://schemas.openxmlformats.org/drawingml/2006/main">
              <a:ext uri="{FF2B5EF4-FFF2-40B4-BE49-F238E27FC236}">
                <a16:creationId xmlns:a16="http://schemas.microsoft.com/office/drawing/2014/main" id="{59E15BE2-2B57-4B7C-B7FA-7AFAFDC3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162550"/>
            <a:ext cx="10106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推理：使用细化级输出。5 个种子平均最终 log_softmax</a:t>
            </a:r>
          </a:p>
        </p:txBody>
      </p:sp>
      <p:sp>
        <p:nvSpPr>
          <p:cNvPr id="86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7079DE30-32C4-4F6B-A0B7-03C6D92E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7173575" cy="9525"/>
          </a:xfrm>
          <a:custGeom xmlns:a="http://schemas.openxmlformats.org/drawingml/2006/main">
            <a:pathLst>
              <a:path w="17173575" h="9525">
                <a:moveTo>
                  <a:pt x="0" y="0"/>
                </a:moveTo>
                <a:lnTo>
                  <a:pt x="17173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DFE5"/>
            </a:solidFill>
            <a:prstDash val="solid"/>
          </a:ln>
        </p:spPr>
      </p:sp>
      <p:sp>
        <p:nvSpPr>
          <p:cNvPr id="87" name="每个 DilatedBlock">
            <a:extLst xmlns:a="http://schemas.openxmlformats.org/drawingml/2006/main">
              <a:ext uri="{FF2B5EF4-FFF2-40B4-BE49-F238E27FC236}">
                <a16:creationId xmlns:a16="http://schemas.microsoft.com/office/drawing/2014/main" id="{9A3B2010-57B8-4AC7-AFD6-9648CBCA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134100"/>
            <a:ext cx="6619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每个 DilatedBlock</a:t>
            </a:r>
          </a:p>
        </p:txBody>
      </p:sp>
      <p:sp>
        <p:nvSpPr>
          <p:cNvPr id="88" name="低分辨率全局注意力">
            <a:extLst xmlns:a="http://schemas.openxmlformats.org/drawingml/2006/main">
              <a:ext uri="{FF2B5EF4-FFF2-40B4-BE49-F238E27FC236}">
                <a16:creationId xmlns:a16="http://schemas.microsoft.com/office/drawing/2014/main" id="{ED3F1AFE-5421-4655-A475-CD18C75E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134100"/>
            <a:ext cx="704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低分辨率全局注意力</a:t>
            </a:r>
          </a:p>
        </p:txBody>
      </p:sp>
      <p:sp>
        <p:nvSpPr>
          <p:cNvPr id="89" name="x [C,T]">
            <a:extLst xmlns:a="http://schemas.openxmlformats.org/drawingml/2006/main">
              <a:ext uri="{FF2B5EF4-FFF2-40B4-BE49-F238E27FC236}">
                <a16:creationId xmlns:a16="http://schemas.microsoft.com/office/drawing/2014/main" id="{42FDACA8-82CD-41D8-838C-5C6B181A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8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x [C,T]</a:t>
            </a:r>
          </a:p>
        </p:txBody>
      </p:sp>
      <p:sp>
        <p:nvSpPr>
          <p:cNvPr id="90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9D3BCEEF-38A6-4B1F-9BA1-5AD5363F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6991350"/>
            <a:ext cx="657225" cy="1047750"/>
          </a:xfrm>
          <a:custGeom xmlns:a="http://schemas.openxmlformats.org/drawingml/2006/main">
            <a:pathLst>
              <a:path w="657225" h="1047750">
                <a:moveTo>
                  <a:pt x="0" y="1047750"/>
                </a:moveTo>
                <a:lnTo>
                  <a:pt x="295275" y="1047750"/>
                </a:lnTo>
                <a:lnTo>
                  <a:pt x="295275" y="0"/>
                </a:lnTo>
                <a:lnTo>
                  <a:pt x="657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91" name="arrowhead">
            <a:extLst xmlns:a="http://schemas.openxmlformats.org/drawingml/2006/main">
              <a:ext uri="{FF2B5EF4-FFF2-40B4-BE49-F238E27FC236}">
                <a16:creationId xmlns:a16="http://schemas.microsoft.com/office/drawing/2014/main" id="{6C16BEF2-4E80-4558-9FDA-2F94539B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694372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92" name="LayerNorm">
            <a:extLst xmlns:a="http://schemas.openxmlformats.org/drawingml/2006/main">
              <a:ext uri="{FF2B5EF4-FFF2-40B4-BE49-F238E27FC236}">
                <a16:creationId xmlns:a16="http://schemas.microsoft.com/office/drawing/2014/main" id="{FAE5246D-C13B-4C1C-96AF-86B8292C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6960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LayerNorm</a:t>
            </a:r>
          </a:p>
        </p:txBody>
      </p:sp>
      <p:sp>
        <p:nvSpPr>
          <p:cNvPr id="93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44335C4E-84DB-4E70-BFD2-F0943818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991350"/>
            <a:ext cx="257175" cy="9525"/>
          </a:xfrm>
          <a:custGeom xmlns:a="http://schemas.openxmlformats.org/drawingml/2006/main">
            <a:pathLst>
              <a:path w="257175" h="952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94" name="arrowhead">
            <a:extLst xmlns:a="http://schemas.openxmlformats.org/drawingml/2006/main">
              <a:ext uri="{FF2B5EF4-FFF2-40B4-BE49-F238E27FC236}">
                <a16:creationId xmlns:a16="http://schemas.microsoft.com/office/drawing/2014/main" id="{6FB4F284-8B92-434D-A7EF-433BA9EB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94372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95" name="Conv1d&#10;k = 3, d = 2ⁱ">
            <a:extLst xmlns:a="http://schemas.openxmlformats.org/drawingml/2006/main">
              <a:ext uri="{FF2B5EF4-FFF2-40B4-BE49-F238E27FC236}">
                <a16:creationId xmlns:a16="http://schemas.microsoft.com/office/drawing/2014/main" id="{519626B9-9418-4C81-893D-27214C4A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562725"/>
            <a:ext cx="15144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Conv1d</a:t>
            </a:r>
          </a:p>
          <a:p xmlns:a="http://schemas.openxmlformats.org/drawingml/2006/main">
            <a:pPr algn="ctr">
              <a:def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k = 3, d = 2ⁱ</a:t>
            </a:r>
          </a:p>
        </p:txBody>
      </p:sp>
      <p:sp>
        <p:nvSpPr>
          <p:cNvPr id="96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ACD2795C-7C3C-4B42-8DD2-EC88EB7B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6991350"/>
            <a:ext cx="295275" cy="9525"/>
          </a:xfrm>
          <a:custGeom xmlns:a="http://schemas.openxmlformats.org/drawingml/2006/main">
            <a:pathLst>
              <a:path w="295275" h="952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97" name="arrowhead">
            <a:extLst xmlns:a="http://schemas.openxmlformats.org/drawingml/2006/main">
              <a:ext uri="{FF2B5EF4-FFF2-40B4-BE49-F238E27FC236}">
                <a16:creationId xmlns:a16="http://schemas.microsoft.com/office/drawing/2014/main" id="{A2F447FB-F614-4981-8147-7CDA974E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94372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98" name="GELU">
            <a:extLst xmlns:a="http://schemas.openxmlformats.org/drawingml/2006/main">
              <a:ext uri="{FF2B5EF4-FFF2-40B4-BE49-F238E27FC236}">
                <a16:creationId xmlns:a16="http://schemas.microsoft.com/office/drawing/2014/main" id="{EAFC3130-7B7C-448C-B204-20C4D711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696075"/>
            <a:ext cx="1076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GELU</a:t>
            </a:r>
          </a:p>
        </p:txBody>
      </p:sp>
      <p:sp>
        <p:nvSpPr>
          <p:cNvPr id="99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56BACE1F-287B-481D-B0FC-23434F49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6991350"/>
            <a:ext cx="342900" cy="9525"/>
          </a:xfrm>
          <a:custGeom xmlns:a="http://schemas.openxmlformats.org/drawingml/2006/main"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100" name="arrowhead">
            <a:extLst xmlns:a="http://schemas.openxmlformats.org/drawingml/2006/main">
              <a:ext uri="{FF2B5EF4-FFF2-40B4-BE49-F238E27FC236}">
                <a16:creationId xmlns:a16="http://schemas.microsoft.com/office/drawing/2014/main" id="{734F02E2-9C90-452E-A687-85E1043E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943725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101" name="Conv1×1">
            <a:extLst xmlns:a="http://schemas.openxmlformats.org/drawingml/2006/main">
              <a:ext uri="{FF2B5EF4-FFF2-40B4-BE49-F238E27FC236}">
                <a16:creationId xmlns:a16="http://schemas.microsoft.com/office/drawing/2014/main" id="{BEF1C038-248D-421D-9515-BE22F739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6696075"/>
            <a:ext cx="12477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Conv1×1</a:t>
            </a:r>
          </a:p>
        </p:txBody>
      </p:sp>
      <p:sp>
        <p:nvSpPr>
          <p:cNvPr id="102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E5388A62-10DA-4992-A22D-EB9A010E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991350"/>
            <a:ext cx="304800" cy="771525"/>
          </a:xfrm>
          <a:custGeom xmlns:a="http://schemas.openxmlformats.org/drawingml/2006/main">
            <a:pathLst>
              <a:path w="304800" h="771525">
                <a:moveTo>
                  <a:pt x="0" y="0"/>
                </a:moveTo>
                <a:lnTo>
                  <a:pt x="304800" y="0"/>
                </a:lnTo>
                <a:lnTo>
                  <a:pt x="304800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103" name="arrowhead">
            <a:extLst xmlns:a="http://schemas.openxmlformats.org/drawingml/2006/main">
              <a:ext uri="{FF2B5EF4-FFF2-40B4-BE49-F238E27FC236}">
                <a16:creationId xmlns:a16="http://schemas.microsoft.com/office/drawing/2014/main" id="{BC7529F7-5038-4BBD-AB22-FE71A2CC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7658100"/>
            <a:ext cx="95250" cy="104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104" name="Dropout 0.3">
            <a:extLst xmlns:a="http://schemas.openxmlformats.org/drawingml/2006/main">
              <a:ext uri="{FF2B5EF4-FFF2-40B4-BE49-F238E27FC236}">
                <a16:creationId xmlns:a16="http://schemas.microsoft.com/office/drawing/2014/main" id="{60D9F2A9-B402-455A-9A60-09DDC633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7781925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5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Dropout 0.3</a:t>
            </a:r>
          </a:p>
        </p:txBody>
      </p:sp>
      <p:sp>
        <p:nvSpPr>
          <p:cNvPr id="105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52DF51BB-2527-4BB3-B2C7-0BAF1C5F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8372475"/>
            <a:ext cx="1590675" cy="371475"/>
          </a:xfrm>
          <a:custGeom xmlns:a="http://schemas.openxmlformats.org/drawingml/2006/main">
            <a:pathLst>
              <a:path w="1590675" h="371475">
                <a:moveTo>
                  <a:pt x="1590675" y="0"/>
                </a:moveTo>
                <a:lnTo>
                  <a:pt x="1590675" y="371475"/>
                </a:lnTo>
                <a:lnTo>
                  <a:pt x="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106" name="arrowhead">
            <a:extLst xmlns:a="http://schemas.openxmlformats.org/drawingml/2006/main">
              <a:ext uri="{FF2B5EF4-FFF2-40B4-BE49-F238E27FC236}">
                <a16:creationId xmlns:a16="http://schemas.microsoft.com/office/drawing/2014/main" id="{5F026300-8C4C-4705-BD2F-5B59A389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8696325"/>
            <a:ext cx="104775" cy="95250"/>
          </a:xfrm>
          <a:custGeom xmlns:a="http://schemas.openxmlformats.org/drawingml/2006/main">
            <a:pathLst>
              <a:path w="104775" h="95250">
                <a:moveTo>
                  <a:pt x="0" y="47625"/>
                </a:moveTo>
                <a:lnTo>
                  <a:pt x="104775" y="95250"/>
                </a:lnTo>
                <a:lnTo>
                  <a:pt x="104775" y="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107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B4741B8D-DF6F-4387-B8DC-91098814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8039100"/>
            <a:ext cx="5010150" cy="704850"/>
          </a:xfrm>
          <a:custGeom xmlns:a="http://schemas.openxmlformats.org/drawingml/2006/main">
            <a:pathLst>
              <a:path w="5010150" h="704850">
                <a:moveTo>
                  <a:pt x="0" y="0"/>
                </a:moveTo>
                <a:lnTo>
                  <a:pt x="0" y="704850"/>
                </a:lnTo>
                <a:lnTo>
                  <a:pt x="5010150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108" name="residual addition">
            <a:extLst xmlns:a="http://schemas.openxmlformats.org/drawingml/2006/main">
              <a:ext uri="{FF2B5EF4-FFF2-40B4-BE49-F238E27FC236}">
                <a16:creationId xmlns:a16="http://schemas.microsoft.com/office/drawing/2014/main" id="{0A8357A6-F0FF-4FC6-81C1-0F956A4B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8562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35689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09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1EBA8ED1-121E-4A53-BAF2-3AB6FD54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24925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B7785"/>
            </a:solidFill>
            <a:prstDash val="solid"/>
          </a:ln>
        </p:spPr>
      </p:sp>
      <p:sp>
        <p:nvSpPr>
          <p:cNvPr id="110" name="arrowhead">
            <a:extLst xmlns:a="http://schemas.openxmlformats.org/drawingml/2006/main">
              <a:ext uri="{FF2B5EF4-FFF2-40B4-BE49-F238E27FC236}">
                <a16:creationId xmlns:a16="http://schemas.microsoft.com/office/drawing/2014/main" id="{E92A152F-653E-4E6F-B755-37F95331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9086850"/>
            <a:ext cx="95250" cy="104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B7785"/>
          </a:solidFill>
          <a:ln xmlns:a="http://schemas.openxmlformats.org/drawingml/2006/main" w="0">
            <a:solidFill>
              <a:srgbClr val="6B7785"/>
            </a:solidFill>
          </a:ln>
        </p:spPr>
      </p:sp>
      <p:sp>
        <p:nvSpPr>
          <p:cNvPr id="111" name="y = x + F(x)">
            <a:extLst xmlns:a="http://schemas.openxmlformats.org/drawingml/2006/main">
              <a:ext uri="{FF2B5EF4-FFF2-40B4-BE49-F238E27FC236}">
                <a16:creationId xmlns:a16="http://schemas.microsoft.com/office/drawing/2014/main" id="{6FDBDE6D-8715-43ED-B52D-496C36D1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248775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y = x + F(x)</a:t>
            </a:r>
          </a:p>
        </p:txBody>
      </p:sp>
      <p:sp>
        <p:nvSpPr>
          <p:cNvPr id="112" name="对称 padding = d，单级卷积感受野 2047 秒">
            <a:extLst xmlns:a="http://schemas.openxmlformats.org/drawingml/2006/main">
              <a:ext uri="{FF2B5EF4-FFF2-40B4-BE49-F238E27FC236}">
                <a16:creationId xmlns:a16="http://schemas.microsoft.com/office/drawing/2014/main" id="{7B5CCB62-7317-4F7B-A6D0-6F64B2F0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9791700"/>
            <a:ext cx="952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对称 padding = d，单级卷积感受野 2047 秒</a:t>
            </a:r>
          </a:p>
        </p:txBody>
      </p:sp>
      <p:sp>
        <p:nvSpPr>
          <p:cNvPr id="113" name="z [64,L]">
            <a:extLst xmlns:a="http://schemas.openxmlformats.org/drawingml/2006/main">
              <a:ext uri="{FF2B5EF4-FFF2-40B4-BE49-F238E27FC236}">
                <a16:creationId xmlns:a16="http://schemas.microsoft.com/office/drawing/2014/main" id="{C83FE347-A25A-4F45-9E39-03E673A4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5817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z [64,L]</a:t>
            </a:r>
          </a:p>
        </p:txBody>
      </p:sp>
      <p:sp>
        <p:nvSpPr>
          <p:cNvPr id="114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FE57187C-1C6A-46EB-92D3-7D8F162A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6724650"/>
            <a:ext cx="1990725" cy="142875"/>
          </a:xfrm>
          <a:custGeom xmlns:a="http://schemas.openxmlformats.org/drawingml/2006/main">
            <a:pathLst>
              <a:path w="1990725" h="142875">
                <a:moveTo>
                  <a:pt x="0" y="0"/>
                </a:moveTo>
                <a:lnTo>
                  <a:pt x="1990725" y="0"/>
                </a:lnTo>
                <a:lnTo>
                  <a:pt x="1990725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B44A22"/>
            </a:solidFill>
            <a:prstDash val="solid"/>
          </a:ln>
        </p:spPr>
      </p:sp>
      <p:sp>
        <p:nvSpPr>
          <p:cNvPr id="115" name="arrowhead">
            <a:extLst xmlns:a="http://schemas.openxmlformats.org/drawingml/2006/main">
              <a:ext uri="{FF2B5EF4-FFF2-40B4-BE49-F238E27FC236}">
                <a16:creationId xmlns:a16="http://schemas.microsoft.com/office/drawing/2014/main" id="{6D925EB6-1826-421A-91CF-BF4BE372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6762750"/>
            <a:ext cx="95250" cy="104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4A22"/>
          </a:solidFill>
          <a:ln xmlns:a="http://schemas.openxmlformats.org/drawingml/2006/main" w="0">
            <a:solidFill>
              <a:srgbClr val="B44A22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C40637B-FB13-4A4B-9080-7C4A9AE7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6686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A22"/>
          </a:solidFill>
          <a:ln xmlns:a="http://schemas.openxmlformats.org/drawingml/2006/main" w="0">
            <a:noFill/>
          </a:ln>
        </p:spPr>
      </p:sp>
      <p:sp>
        <p:nvSpPr>
          <p:cNvPr id="117" name="LN + MHSA + Dropout">
            <a:extLst xmlns:a="http://schemas.openxmlformats.org/drawingml/2006/main">
              <a:ext uri="{FF2B5EF4-FFF2-40B4-BE49-F238E27FC236}">
                <a16:creationId xmlns:a16="http://schemas.microsoft.com/office/drawing/2014/main" id="{FF4A130F-192A-4F1E-9EEC-9E3D5290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6886575"/>
            <a:ext cx="40862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B44A22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LN + MHSA + Dropout</a:t>
            </a:r>
          </a:p>
        </p:txBody>
      </p:sp>
      <p:sp>
        <p:nvSpPr>
          <p:cNvPr id="118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64A2F009-DAAC-4433-8EF2-95DFE73C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7467600"/>
            <a:ext cx="9525" cy="171450"/>
          </a:xfrm>
          <a:custGeom xmlns:a="http://schemas.openxmlformats.org/drawingml/2006/main"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B44A22"/>
            </a:solidFill>
            <a:prstDash val="solid"/>
          </a:ln>
        </p:spPr>
      </p:sp>
      <p:sp>
        <p:nvSpPr>
          <p:cNvPr id="119" name="arrowhead">
            <a:extLst xmlns:a="http://schemas.openxmlformats.org/drawingml/2006/main">
              <a:ext uri="{FF2B5EF4-FFF2-40B4-BE49-F238E27FC236}">
                <a16:creationId xmlns:a16="http://schemas.microsoft.com/office/drawing/2014/main" id="{EF7CC3DE-CDC3-440D-AC7D-9A48877C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534275"/>
            <a:ext cx="95250" cy="104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4A22"/>
          </a:solidFill>
          <a:ln xmlns:a="http://schemas.openxmlformats.org/drawingml/2006/main" w="0">
            <a:solidFill>
              <a:srgbClr val="B44A22"/>
            </a:solidFill>
          </a:ln>
        </p:spPr>
      </p:sp>
      <p:sp>
        <p:nvSpPr>
          <p:cNvPr id="120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863CAF80-7B7A-41C6-AF83-1A56CB5C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6724650"/>
            <a:ext cx="2667000" cy="1095375"/>
          </a:xfrm>
          <a:custGeom xmlns:a="http://schemas.openxmlformats.org/drawingml/2006/main">
            <a:pathLst>
              <a:path w="2667000" h="1095375">
                <a:moveTo>
                  <a:pt x="0" y="0"/>
                </a:moveTo>
                <a:lnTo>
                  <a:pt x="2667000" y="0"/>
                </a:lnTo>
                <a:lnTo>
                  <a:pt x="2667000" y="1095375"/>
                </a:lnTo>
                <a:lnTo>
                  <a:pt x="180975" y="109537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B44A22"/>
            </a:solidFill>
            <a:prstDash val="solid"/>
          </a:ln>
        </p:spPr>
      </p:sp>
      <p:sp>
        <p:nvSpPr>
          <p:cNvPr id="121" name="arrowhead">
            <a:extLst xmlns:a="http://schemas.openxmlformats.org/drawingml/2006/main">
              <a:ext uri="{FF2B5EF4-FFF2-40B4-BE49-F238E27FC236}">
                <a16:creationId xmlns:a16="http://schemas.microsoft.com/office/drawing/2014/main" id="{065598AF-288A-4FD5-AD3C-90D9E663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7772400"/>
            <a:ext cx="104775" cy="95250"/>
          </a:xfrm>
          <a:custGeom xmlns:a="http://schemas.openxmlformats.org/drawingml/2006/main">
            <a:pathLst>
              <a:path w="104775" h="95250">
                <a:moveTo>
                  <a:pt x="0" y="47625"/>
                </a:moveTo>
                <a:lnTo>
                  <a:pt x="104775" y="95250"/>
                </a:lnTo>
                <a:lnTo>
                  <a:pt x="104775" y="0"/>
                </a:lnTo>
                <a:close/>
              </a:path>
            </a:pathLst>
          </a:custGeom>
          <a:solidFill xmlns:a="http://schemas.openxmlformats.org/drawingml/2006/main">
            <a:srgbClr val="B44A22"/>
          </a:solidFill>
          <a:ln xmlns:a="http://schemas.openxmlformats.org/drawingml/2006/main" w="0">
            <a:solidFill>
              <a:srgbClr val="B44A22"/>
            </a:solidFill>
          </a:ln>
        </p:spPr>
      </p:sp>
      <p:sp>
        <p:nvSpPr>
          <p:cNvPr id="122" name="residual addition">
            <a:extLst xmlns:a="http://schemas.openxmlformats.org/drawingml/2006/main">
              <a:ext uri="{FF2B5EF4-FFF2-40B4-BE49-F238E27FC236}">
                <a16:creationId xmlns:a16="http://schemas.microsoft.com/office/drawing/2014/main" id="{0B70049D-7AE7-4EEF-9281-CAC653BD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763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44A22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23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7DD642C0-3319-4FC3-95D4-9BC18804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01000"/>
            <a:ext cx="9525" cy="371475"/>
          </a:xfrm>
          <a:custGeom xmlns:a="http://schemas.openxmlformats.org/drawingml/2006/main">
            <a:pathLst>
              <a:path w="9525" h="371475">
                <a:moveTo>
                  <a:pt x="0" y="0"/>
                </a:moveTo>
                <a:lnTo>
                  <a:pt x="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B44A22"/>
            </a:solidFill>
            <a:prstDash val="solid"/>
          </a:ln>
        </p:spPr>
      </p:sp>
      <p:sp>
        <p:nvSpPr>
          <p:cNvPr id="124" name="arrowhead">
            <a:extLst xmlns:a="http://schemas.openxmlformats.org/drawingml/2006/main">
              <a:ext uri="{FF2B5EF4-FFF2-40B4-BE49-F238E27FC236}">
                <a16:creationId xmlns:a16="http://schemas.microsoft.com/office/drawing/2014/main" id="{CE79CA69-70EC-4681-8491-5172A720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267700"/>
            <a:ext cx="95250" cy="104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4A22"/>
          </a:solidFill>
          <a:ln xmlns:a="http://schemas.openxmlformats.org/drawingml/2006/main" w="0">
            <a:solidFill>
              <a:srgbClr val="B44A22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99E2569-6E55-448C-8420-ECB0E89F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811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A22"/>
          </a:solidFill>
          <a:ln xmlns:a="http://schemas.openxmlformats.org/drawingml/2006/main" w="0">
            <a:noFill/>
          </a:ln>
        </p:spPr>
      </p:sp>
      <p:sp>
        <p:nvSpPr>
          <p:cNvPr id="126" name="4 heads&#10;32 桶相对位置">
            <a:extLst xmlns:a="http://schemas.openxmlformats.org/drawingml/2006/main">
              <a:ext uri="{FF2B5EF4-FFF2-40B4-BE49-F238E27FC236}">
                <a16:creationId xmlns:a16="http://schemas.microsoft.com/office/drawing/2014/main" id="{5E678F59-6548-485B-B487-525794C1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7191375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4 heads</a:t>
            </a:r>
          </a:p>
          <a:p xmlns:a="http://schemas.openxmlformats.org/drawingml/2006/main">
            <a:pPr algn="ctr">
              <a:defRPr sz="1650" b="0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32 桶相对位置</a:t>
            </a:r>
          </a:p>
        </p:txBody>
      </p:sp>
      <p:sp>
        <p:nvSpPr>
          <p:cNvPr id="127" name="LN + MLP + Dropout&#10;64 → 128 → 64">
            <a:extLst xmlns:a="http://schemas.openxmlformats.org/drawingml/2006/main">
              <a:ext uri="{FF2B5EF4-FFF2-40B4-BE49-F238E27FC236}">
                <a16:creationId xmlns:a16="http://schemas.microsoft.com/office/drawing/2014/main" id="{EF9B4120-B456-4354-BF8F-DE55FF05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8391525"/>
            <a:ext cx="40862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B44A22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LN + MLP + Dropout</a:t>
            </a:r>
          </a:p>
          <a:p xmlns:a="http://schemas.openxmlformats.org/drawingml/2006/main">
            <a:pPr algn="ctr">
              <a:defRPr sz="187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64 → 128 → 64</a:t>
            </a:r>
          </a:p>
        </p:txBody>
      </p:sp>
      <p:sp>
        <p:nvSpPr>
          <p:cNvPr id="128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135B75A1-9A7B-4503-8C1D-122D5E90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9067800"/>
            <a:ext cx="9525" cy="209550"/>
          </a:xfrm>
          <a:custGeom xmlns:a="http://schemas.openxmlformats.org/drawingml/2006/main"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B44A22"/>
            </a:solidFill>
            <a:prstDash val="solid"/>
          </a:ln>
        </p:spPr>
      </p:sp>
      <p:sp>
        <p:nvSpPr>
          <p:cNvPr id="129" name="arrowhead">
            <a:extLst xmlns:a="http://schemas.openxmlformats.org/drawingml/2006/main">
              <a:ext uri="{FF2B5EF4-FFF2-40B4-BE49-F238E27FC236}">
                <a16:creationId xmlns:a16="http://schemas.microsoft.com/office/drawing/2014/main" id="{6FD243C7-16EE-4E0F-AAA8-0EF1A889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172575"/>
            <a:ext cx="95250" cy="104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4A22"/>
          </a:solidFill>
          <a:ln xmlns:a="http://schemas.openxmlformats.org/drawingml/2006/main" w="0">
            <a:solidFill>
              <a:srgbClr val="B44A22"/>
            </a:solidFill>
          </a:ln>
        </p:spPr>
      </p:sp>
      <p:sp>
        <p:nvSpPr>
          <p:cNvPr id="130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9948B4B2-09ED-48C3-B06C-3DEAB40B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153400"/>
            <a:ext cx="2667000" cy="1304925"/>
          </a:xfrm>
          <a:custGeom xmlns:a="http://schemas.openxmlformats.org/drawingml/2006/main">
            <a:pathLst>
              <a:path w="2667000" h="1304925">
                <a:moveTo>
                  <a:pt x="0" y="0"/>
                </a:moveTo>
                <a:lnTo>
                  <a:pt x="2667000" y="0"/>
                </a:lnTo>
                <a:lnTo>
                  <a:pt x="2667000" y="1304925"/>
                </a:lnTo>
                <a:lnTo>
                  <a:pt x="180975" y="130492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B44A22"/>
            </a:solidFill>
            <a:prstDash val="solid"/>
          </a:ln>
        </p:spPr>
      </p:sp>
      <p:sp>
        <p:nvSpPr>
          <p:cNvPr id="131" name="arrowhead">
            <a:extLst xmlns:a="http://schemas.openxmlformats.org/drawingml/2006/main">
              <a:ext uri="{FF2B5EF4-FFF2-40B4-BE49-F238E27FC236}">
                <a16:creationId xmlns:a16="http://schemas.microsoft.com/office/drawing/2014/main" id="{65662DBD-876E-4EB8-8CDE-E91C5A8B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9410700"/>
            <a:ext cx="104775" cy="95250"/>
          </a:xfrm>
          <a:custGeom xmlns:a="http://schemas.openxmlformats.org/drawingml/2006/main">
            <a:pathLst>
              <a:path w="104775" h="95250">
                <a:moveTo>
                  <a:pt x="0" y="47625"/>
                </a:moveTo>
                <a:lnTo>
                  <a:pt x="104775" y="95250"/>
                </a:lnTo>
                <a:lnTo>
                  <a:pt x="104775" y="0"/>
                </a:lnTo>
                <a:close/>
              </a:path>
            </a:pathLst>
          </a:custGeom>
          <a:solidFill xmlns:a="http://schemas.openxmlformats.org/drawingml/2006/main">
            <a:srgbClr val="B44A22"/>
          </a:solidFill>
          <a:ln xmlns:a="http://schemas.openxmlformats.org/drawingml/2006/main" w="0">
            <a:solidFill>
              <a:srgbClr val="B44A22"/>
            </a:solidFill>
          </a:ln>
        </p:spPr>
      </p:sp>
      <p:sp>
        <p:nvSpPr>
          <p:cNvPr id="132" name="residual addition">
            <a:extLst xmlns:a="http://schemas.openxmlformats.org/drawingml/2006/main">
              <a:ext uri="{FF2B5EF4-FFF2-40B4-BE49-F238E27FC236}">
                <a16:creationId xmlns:a16="http://schemas.microsoft.com/office/drawing/2014/main" id="{126940BF-FDD6-4C8D-ACD9-CD838CFA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9277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44A22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33" name="Dropout&#10;0.15">
            <a:extLst xmlns:a="http://schemas.openxmlformats.org/drawingml/2006/main">
              <a:ext uri="{FF2B5EF4-FFF2-40B4-BE49-F238E27FC236}">
                <a16:creationId xmlns:a16="http://schemas.microsoft.com/office/drawing/2014/main" id="{0B913E1E-2FDF-4565-9836-0CA63872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8420100"/>
            <a:ext cx="1428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Dropout</a:t>
            </a:r>
          </a:p>
          <a:p xmlns:a="http://schemas.openxmlformats.org/drawingml/2006/main">
            <a:pPr algn="ctr">
              <a:defRPr sz="1800" b="0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0.15</a:t>
            </a:r>
          </a:p>
        </p:txBody>
      </p:sp>
      <p:sp>
        <p:nvSpPr>
          <p:cNvPr id="134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BC849D7E-61D6-4D0A-B90D-F7B05CFE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9639300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B44A22"/>
            </a:solidFill>
            <a:prstDash val="solid"/>
          </a:ln>
        </p:spPr>
      </p:sp>
      <p:sp>
        <p:nvSpPr>
          <p:cNvPr id="135" name="arrowhead">
            <a:extLst xmlns:a="http://schemas.openxmlformats.org/drawingml/2006/main">
              <a:ext uri="{FF2B5EF4-FFF2-40B4-BE49-F238E27FC236}">
                <a16:creationId xmlns:a16="http://schemas.microsoft.com/office/drawing/2014/main" id="{36586D19-030A-4E03-AC62-E6D15D74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667875"/>
            <a:ext cx="95250" cy="104775"/>
          </a:xfrm>
          <a:custGeom xmlns:a="http://schemas.openxmlformats.org/drawingml/2006/main">
            <a:pathLst>
              <a:path w="95250" h="104775">
                <a:moveTo>
                  <a:pt x="47625" y="104775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4A22"/>
          </a:solidFill>
          <a:ln xmlns:a="http://schemas.openxmlformats.org/drawingml/2006/main" w="0">
            <a:solidFill>
              <a:srgbClr val="B44A22"/>
            </a:solidFill>
          </a:ln>
        </p:spPr>
      </p:sp>
      <p:sp>
        <p:nvSpPr>
          <p:cNvPr id="136" name="L = ceil(T/16)，全局注意力无 causal mask">
            <a:extLst xmlns:a="http://schemas.openxmlformats.org/drawingml/2006/main">
              <a:ext uri="{FF2B5EF4-FFF2-40B4-BE49-F238E27FC236}">
                <a16:creationId xmlns:a16="http://schemas.microsoft.com/office/drawing/2014/main" id="{4C1FFE63-EE8F-4AE6-B05D-3263046B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9858375"/>
            <a:ext cx="6429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rPr>
              <a:t>L = ceil(T/16)，全局注意力无 causal mask</a:t>
            </a:r>
          </a:p>
        </p:txBody>
      </p:sp>
    </p:spTree>
    <p:extLst>
      <p:ext uri="{BB962C8B-B14F-4D97-AF65-F5344CB8AC3E}">
        <p14:creationId xmlns:p14="http://schemas.microsoft.com/office/powerpoint/2010/main" val="12737330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与参考文献的结构对照">
            <a:extLst xmlns:a="http://schemas.openxmlformats.org/drawingml/2006/main">
              <a:ext uri="{FF2B5EF4-FFF2-40B4-BE49-F238E27FC236}">
                <a16:creationId xmlns:a16="http://schemas.microsoft.com/office/drawing/2014/main" id="{FEDDA3B8-21FC-4097-9374-138D0795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1724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rPr>
              <a:t>与参考文献的结构对照</a:t>
            </a:r>
          </a:p>
        </p:txBody>
      </p:sp>
      <p:sp>
        <p:nvSpPr>
          <p:cNvPr id="2" name="编号与主图对应。区别包括网络、训练输入及输出约束">
            <a:extLst xmlns:a="http://schemas.openxmlformats.org/drawingml/2006/main">
              <a:ext uri="{FF2B5EF4-FFF2-40B4-BE49-F238E27FC236}">
                <a16:creationId xmlns:a16="http://schemas.microsoft.com/office/drawing/2014/main" id="{0D58B291-1F56-40B8-B2B5-90D163B0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1714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编号与主图对应。区别包括网络、训练输入及输出约束</a:t>
            </a:r>
          </a:p>
        </p:txBody>
      </p:sp>
      <p:sp>
        <p:nvSpPr>
          <p:cNvPr id="3" name="3/3">
            <a:extLst xmlns:a="http://schemas.openxmlformats.org/drawingml/2006/main">
              <a:ext uri="{FF2B5EF4-FFF2-40B4-BE49-F238E27FC236}">
                <a16:creationId xmlns:a16="http://schemas.microsoft.com/office/drawing/2014/main" id="{A2224316-589D-46DC-AE67-C33DAD33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7917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3/3</a:t>
            </a:r>
          </a:p>
        </p:txBody>
      </p:sp>
      <p:sp>
        <p:nvSpPr>
          <p:cNvPr id="4" name="参考文献中的设计">
            <a:extLst xmlns:a="http://schemas.openxmlformats.org/drawingml/2006/main">
              <a:ext uri="{FF2B5EF4-FFF2-40B4-BE49-F238E27FC236}">
                <a16:creationId xmlns:a16="http://schemas.microsoft.com/office/drawing/2014/main" id="{BA3A3F45-4EBD-42B7-9C1C-4528AE31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571625"/>
            <a:ext cx="614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参考文献中的设计</a:t>
            </a:r>
          </a:p>
        </p:txBody>
      </p:sp>
      <p:sp>
        <p:nvSpPr>
          <p:cNvPr id="5" name="当前代码中的设计">
            <a:extLst xmlns:a="http://schemas.openxmlformats.org/drawingml/2006/main">
              <a:ext uri="{FF2B5EF4-FFF2-40B4-BE49-F238E27FC236}">
                <a16:creationId xmlns:a16="http://schemas.microsoft.com/office/drawing/2014/main" id="{2835F968-C7D0-41D4-BB3D-A2114A0C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571625"/>
            <a:ext cx="62960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当前代码中的设计</a:t>
            </a:r>
          </a:p>
        </p:txBody>
      </p:sp>
      <p:sp>
        <p:nvSpPr>
          <p:cNvPr id="6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FB04F2F5-5184-4277-8E48-3EBE742E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162175"/>
            <a:ext cx="17173575" cy="9525"/>
          </a:xfrm>
          <a:custGeom xmlns:a="http://schemas.openxmlformats.org/drawingml/2006/main">
            <a:pathLst>
              <a:path w="17173575" h="9525">
                <a:moveTo>
                  <a:pt x="0" y="0"/>
                </a:moveTo>
                <a:lnTo>
                  <a:pt x="17173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DFE5"/>
            </a:solidFill>
            <a:prstDash val="solid"/>
          </a:ln>
        </p:spPr>
      </p:sp>
      <p:sp>
        <p:nvSpPr>
          <p:cNvPr id="7" name="difference 1">
            <a:extLst xmlns:a="http://schemas.openxmlformats.org/drawingml/2006/main">
              <a:ext uri="{FF2B5EF4-FFF2-40B4-BE49-F238E27FC236}">
                <a16:creationId xmlns:a16="http://schemas.microsoft.com/office/drawing/2014/main" id="{D7ACA6D4-1B39-4FE0-AE71-B323FE7A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05075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A2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视觉主干">
            <a:extLst xmlns:a="http://schemas.openxmlformats.org/drawingml/2006/main">
              <a:ext uri="{FF2B5EF4-FFF2-40B4-BE49-F238E27FC236}">
                <a16:creationId xmlns:a16="http://schemas.microsoft.com/office/drawing/2014/main" id="{CA0A3FEF-BFC4-4B4E-8C81-2D0E90A4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66975"/>
            <a:ext cx="2600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rPr>
              <a:t>视觉主干</a:t>
            </a:r>
          </a:p>
        </p:txBody>
      </p:sp>
      <p:sp>
        <p:nvSpPr>
          <p:cNvPr id="9" name="SurgeNet · §3.4.2">
            <a:extLst xmlns:a="http://schemas.openxmlformats.org/drawingml/2006/main">
              <a:ext uri="{FF2B5EF4-FFF2-40B4-BE49-F238E27FC236}">
                <a16:creationId xmlns:a16="http://schemas.microsoft.com/office/drawing/2014/main" id="{E0CD506B-AB61-410A-AC18-8FBD68C4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67025"/>
            <a:ext cx="2657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SurgeNet · §3.4.2</a:t>
            </a:r>
          </a:p>
        </p:txBody>
      </p:sp>
      <p:sp>
        <p:nvSpPr>
          <p:cNvPr id="10" name="DINO backbone">
            <a:extLst xmlns:a="http://schemas.openxmlformats.org/drawingml/2006/main">
              <a:ext uri="{FF2B5EF4-FFF2-40B4-BE49-F238E27FC236}">
                <a16:creationId xmlns:a16="http://schemas.microsoft.com/office/drawing/2014/main" id="{157623F1-0107-4E2F-974D-F750A251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28875"/>
            <a:ext cx="1857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DINO backbone</a:t>
            </a:r>
          </a:p>
        </p:txBody>
      </p:sp>
      <p:sp>
        <p:nvSpPr>
          <p:cNvPr id="11" name="监督微调">
            <a:extLst xmlns:a="http://schemas.openxmlformats.org/drawingml/2006/main">
              <a:ext uri="{FF2B5EF4-FFF2-40B4-BE49-F238E27FC236}">
                <a16:creationId xmlns:a16="http://schemas.microsoft.com/office/drawing/2014/main" id="{5F97CC54-F5E0-4EC1-9D3C-E96D1A5B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28875"/>
            <a:ext cx="1857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监督微调</a:t>
            </a:r>
          </a:p>
        </p:txBody>
      </p:sp>
      <p:sp>
        <p:nvSpPr>
          <p:cNvPr id="12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D028785D-DD68-4D09-9A88-24E1982C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714625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356899"/>
            </a:solidFill>
            <a:prstDash val="solid"/>
          </a:ln>
        </p:spPr>
      </p:sp>
      <p:sp>
        <p:nvSpPr>
          <p:cNvPr id="13" name="arrowhead">
            <a:extLst xmlns:a="http://schemas.openxmlformats.org/drawingml/2006/main">
              <a:ext uri="{FF2B5EF4-FFF2-40B4-BE49-F238E27FC236}">
                <a16:creationId xmlns:a16="http://schemas.microsoft.com/office/drawing/2014/main" id="{896220B7-9F65-4599-93D6-36ED2A36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66700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356899"/>
          </a:solidFill>
          <a:ln xmlns:a="http://schemas.openxmlformats.org/drawingml/2006/main" w="0">
            <a:solidFill>
              <a:srgbClr val="356899"/>
            </a:solidFill>
          </a:ln>
        </p:spPr>
      </p:sp>
      <p:sp>
        <p:nvSpPr>
          <p:cNvPr id="14" name="causal MS-TCN">
            <a:extLst xmlns:a="http://schemas.openxmlformats.org/drawingml/2006/main">
              <a:ext uri="{FF2B5EF4-FFF2-40B4-BE49-F238E27FC236}">
                <a16:creationId xmlns:a16="http://schemas.microsoft.com/office/drawing/2014/main" id="{852A676E-B1B0-499C-BDD9-EBFD1D63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28875"/>
            <a:ext cx="1857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causal MS-TCN</a:t>
            </a:r>
          </a:p>
        </p:txBody>
      </p:sp>
      <p:sp>
        <p:nvSpPr>
          <p:cNvPr id="15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56D3A0FC-19F6-4748-BB70-113B130F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14625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356899"/>
            </a:solidFill>
            <a:prstDash val="solid"/>
          </a:ln>
        </p:spPr>
      </p:sp>
      <p:sp>
        <p:nvSpPr>
          <p:cNvPr id="16" name="arrowhead">
            <a:extLst xmlns:a="http://schemas.openxmlformats.org/drawingml/2006/main">
              <a:ext uri="{FF2B5EF4-FFF2-40B4-BE49-F238E27FC236}">
                <a16:creationId xmlns:a16="http://schemas.microsoft.com/office/drawing/2014/main" id="{4E091F43-97E4-4423-AD7A-42808696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66700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356899"/>
          </a:solidFill>
          <a:ln xmlns:a="http://schemas.openxmlformats.org/drawingml/2006/main" w="0">
            <a:solidFill>
              <a:srgbClr val="356899"/>
            </a:solidFill>
          </a:ln>
        </p:spPr>
      </p:sp>
      <p:sp>
        <p:nvSpPr>
          <p:cNvPr id="17" name="冻结 ViT-B/14">
            <a:extLst xmlns:a="http://schemas.openxmlformats.org/drawingml/2006/main">
              <a:ext uri="{FF2B5EF4-FFF2-40B4-BE49-F238E27FC236}">
                <a16:creationId xmlns:a16="http://schemas.microsoft.com/office/drawing/2014/main" id="{CF09882C-555A-4EB6-AA3D-7FF0E96F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428875"/>
            <a:ext cx="1857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B44A22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冻结 ViT-B/14</a:t>
            </a:r>
          </a:p>
        </p:txBody>
      </p:sp>
      <p:sp>
        <p:nvSpPr>
          <p:cNvPr id="18" name="CLS + mean">
            <a:extLst xmlns:a="http://schemas.openxmlformats.org/drawingml/2006/main">
              <a:ext uri="{FF2B5EF4-FFF2-40B4-BE49-F238E27FC236}">
                <a16:creationId xmlns:a16="http://schemas.microsoft.com/office/drawing/2014/main" id="{BDB72B0F-AC79-48F4-AAB6-899E0144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428875"/>
            <a:ext cx="1857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B44A22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CLS + mean</a:t>
            </a:r>
          </a:p>
        </p:txBody>
      </p:sp>
      <p:sp>
        <p:nvSpPr>
          <p:cNvPr id="19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D528911A-1344-496A-961F-FD394EE3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2714625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B44A22"/>
            </a:solidFill>
            <a:prstDash val="solid"/>
          </a:ln>
        </p:spPr>
      </p:sp>
      <p:sp>
        <p:nvSpPr>
          <p:cNvPr id="20" name="arrowhead">
            <a:extLst xmlns:a="http://schemas.openxmlformats.org/drawingml/2006/main">
              <a:ext uri="{FF2B5EF4-FFF2-40B4-BE49-F238E27FC236}">
                <a16:creationId xmlns:a16="http://schemas.microsoft.com/office/drawing/2014/main" id="{FF4773A1-D0D9-4968-AEF8-928B9699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0725" y="266700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A22"/>
          </a:solidFill>
          <a:ln xmlns:a="http://schemas.openxmlformats.org/drawingml/2006/main" w="0">
            <a:solidFill>
              <a:srgbClr val="B44A22"/>
            </a:solidFill>
          </a:ln>
        </p:spPr>
      </p:sp>
      <p:sp>
        <p:nvSpPr>
          <p:cNvPr id="21" name="offline TCN">
            <a:extLst xmlns:a="http://schemas.openxmlformats.org/drawingml/2006/main">
              <a:ext uri="{FF2B5EF4-FFF2-40B4-BE49-F238E27FC236}">
                <a16:creationId xmlns:a16="http://schemas.microsoft.com/office/drawing/2014/main" id="{B0C4709B-0E0F-48B8-A265-29EEEEC3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428875"/>
            <a:ext cx="1857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B44A22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offline TCN</a:t>
            </a:r>
          </a:p>
        </p:txBody>
      </p:sp>
      <p:sp>
        <p:nvSpPr>
          <p:cNvPr id="22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4A32202D-ABE5-4C94-B29C-60000B82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2714625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B44A22"/>
            </a:solidFill>
            <a:prstDash val="solid"/>
          </a:ln>
        </p:spPr>
      </p:sp>
      <p:sp>
        <p:nvSpPr>
          <p:cNvPr id="23" name="arrowhead">
            <a:extLst xmlns:a="http://schemas.openxmlformats.org/drawingml/2006/main">
              <a:ext uri="{FF2B5EF4-FFF2-40B4-BE49-F238E27FC236}">
                <a16:creationId xmlns:a16="http://schemas.microsoft.com/office/drawing/2014/main" id="{E988D15D-ACE2-4819-89BD-AFBE8F59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6225" y="266700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A22"/>
          </a:solidFill>
          <a:ln xmlns:a="http://schemas.openxmlformats.org/drawingml/2006/main" w="0">
            <a:solidFill>
              <a:srgbClr val="B44A22"/>
            </a:solidFill>
          </a:ln>
        </p:spPr>
      </p:sp>
      <p:sp>
        <p:nvSpPr>
          <p:cNvPr id="24" name="采用 SurgeNetXL 权重，阶段识别训练不更新主干参数">
            <a:extLst xmlns:a="http://schemas.openxmlformats.org/drawingml/2006/main">
              <a:ext uri="{FF2B5EF4-FFF2-40B4-BE49-F238E27FC236}">
                <a16:creationId xmlns:a16="http://schemas.microsoft.com/office/drawing/2014/main" id="{8B5C8FA5-E568-4EEC-8F84-A5BC314C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133725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rPr>
              <a:t>采用 SurgeNetXL 权重，阶段识别训练不更新主干参数</a:t>
            </a:r>
          </a:p>
        </p:txBody>
      </p:sp>
      <p:sp>
        <p:nvSpPr>
          <p:cNvPr id="25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4BAA3039-0EF4-4F20-9EA0-67367F45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667125"/>
            <a:ext cx="17173575" cy="9525"/>
          </a:xfrm>
          <a:custGeom xmlns:a="http://schemas.openxmlformats.org/drawingml/2006/main">
            <a:pathLst>
              <a:path w="17173575" h="9525">
                <a:moveTo>
                  <a:pt x="0" y="0"/>
                </a:moveTo>
                <a:lnTo>
                  <a:pt x="17173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DFE5"/>
            </a:solidFill>
            <a:prstDash val="solid"/>
          </a:ln>
        </p:spPr>
      </p:sp>
      <p:sp>
        <p:nvSpPr>
          <p:cNvPr id="26" name="difference 2">
            <a:extLst xmlns:a="http://schemas.openxmlformats.org/drawingml/2006/main">
              <a:ext uri="{FF2B5EF4-FFF2-40B4-BE49-F238E27FC236}">
                <a16:creationId xmlns:a16="http://schemas.microsoft.com/office/drawing/2014/main" id="{52C2B528-2B24-4E94-8486-07FEDDBD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0025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A2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时序输入">
            <a:extLst xmlns:a="http://schemas.openxmlformats.org/drawingml/2006/main">
              <a:ext uri="{FF2B5EF4-FFF2-40B4-BE49-F238E27FC236}">
                <a16:creationId xmlns:a16="http://schemas.microsoft.com/office/drawing/2014/main" id="{173A1805-7D5F-491A-A842-9975C5F8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71925"/>
            <a:ext cx="2600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rPr>
              <a:t>时序输入</a:t>
            </a:r>
          </a:p>
        </p:txBody>
      </p:sp>
      <p:sp>
        <p:nvSpPr>
          <p:cNvPr id="28" name="MS-TCN / TeCNO">
            <a:extLst xmlns:a="http://schemas.openxmlformats.org/drawingml/2006/main">
              <a:ext uri="{FF2B5EF4-FFF2-40B4-BE49-F238E27FC236}">
                <a16:creationId xmlns:a16="http://schemas.microsoft.com/office/drawing/2014/main" id="{FD24A74A-92DB-456B-B715-6AD6C841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71975"/>
            <a:ext cx="2657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MS-TCN / TeCNO</a:t>
            </a:r>
          </a:p>
        </p:txBody>
      </p:sp>
      <p:sp>
        <p:nvSpPr>
          <p:cNvPr id="29" name="帧特征">
            <a:extLst xmlns:a="http://schemas.openxmlformats.org/drawingml/2006/main">
              <a:ext uri="{FF2B5EF4-FFF2-40B4-BE49-F238E27FC236}">
                <a16:creationId xmlns:a16="http://schemas.microsoft.com/office/drawing/2014/main" id="{D8853E0C-2DE2-4956-B787-BBADCC44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93382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帧特征</a:t>
            </a:r>
          </a:p>
        </p:txBody>
      </p:sp>
      <p:sp>
        <p:nvSpPr>
          <p:cNvPr id="30" name="TCN">
            <a:extLst xmlns:a="http://schemas.openxmlformats.org/drawingml/2006/main">
              <a:ext uri="{FF2B5EF4-FFF2-40B4-BE49-F238E27FC236}">
                <a16:creationId xmlns:a16="http://schemas.microsoft.com/office/drawing/2014/main" id="{B15A6982-18EC-4DEC-932D-ACFC8A9F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3382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TCN</a:t>
            </a:r>
          </a:p>
        </p:txBody>
      </p:sp>
      <p:sp>
        <p:nvSpPr>
          <p:cNvPr id="31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B207E0FE-5DD3-473B-B5DC-F317CA98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219575"/>
            <a:ext cx="361950" cy="9525"/>
          </a:xfrm>
          <a:custGeom xmlns:a="http://schemas.openxmlformats.org/drawingml/2006/main"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356899"/>
            </a:solidFill>
            <a:prstDash val="solid"/>
          </a:ln>
        </p:spPr>
      </p:sp>
      <p:sp>
        <p:nvSpPr>
          <p:cNvPr id="32" name="arrowhead">
            <a:extLst xmlns:a="http://schemas.openxmlformats.org/drawingml/2006/main">
              <a:ext uri="{FF2B5EF4-FFF2-40B4-BE49-F238E27FC236}">
                <a16:creationId xmlns:a16="http://schemas.microsoft.com/office/drawing/2014/main" id="{5FA69D07-B24A-4A5A-BCC9-0F06B6B9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356899"/>
          </a:solidFill>
          <a:ln xmlns:a="http://schemas.openxmlformats.org/drawingml/2006/main" w="0">
            <a:solidFill>
              <a:srgbClr val="356899"/>
            </a:solidFill>
          </a:ln>
        </p:spPr>
      </p:sp>
      <p:sp>
        <p:nvSpPr>
          <p:cNvPr id="33" name="13 + 32 + 6">
            <a:extLst xmlns:a="http://schemas.openxmlformats.org/drawingml/2006/main">
              <a:ext uri="{FF2B5EF4-FFF2-40B4-BE49-F238E27FC236}">
                <a16:creationId xmlns:a16="http://schemas.microsoft.com/office/drawing/2014/main" id="{F1521F1A-E51E-436B-B4B9-B946AD63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933825"/>
            <a:ext cx="1857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B44A22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13 + 32 + 6</a:t>
            </a:r>
          </a:p>
        </p:txBody>
      </p:sp>
      <p:sp>
        <p:nvSpPr>
          <p:cNvPr id="34" name="通道拼接">
            <a:extLst xmlns:a="http://schemas.openxmlformats.org/drawingml/2006/main">
              <a:ext uri="{FF2B5EF4-FFF2-40B4-BE49-F238E27FC236}">
                <a16:creationId xmlns:a16="http://schemas.microsoft.com/office/drawing/2014/main" id="{958D4526-1B69-4980-9EEE-06E6B653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933825"/>
            <a:ext cx="1857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B44A22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通道拼接</a:t>
            </a:r>
          </a:p>
        </p:txBody>
      </p:sp>
      <p:sp>
        <p:nvSpPr>
          <p:cNvPr id="35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D3FB7BF4-8D56-473D-97E4-B61C615A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4219575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B44A22"/>
            </a:solidFill>
            <a:prstDash val="solid"/>
          </a:ln>
        </p:spPr>
      </p:sp>
      <p:sp>
        <p:nvSpPr>
          <p:cNvPr id="36" name="arrowhead">
            <a:extLst xmlns:a="http://schemas.openxmlformats.org/drawingml/2006/main">
              <a:ext uri="{FF2B5EF4-FFF2-40B4-BE49-F238E27FC236}">
                <a16:creationId xmlns:a16="http://schemas.microsoft.com/office/drawing/2014/main" id="{EEC6B61E-27DA-401D-AAA2-85953222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0725" y="41719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A22"/>
          </a:solidFill>
          <a:ln xmlns:a="http://schemas.openxmlformats.org/drawingml/2006/main" w="0">
            <a:solidFill>
              <a:srgbClr val="B44A22"/>
            </a:solidFill>
          </a:ln>
        </p:spPr>
      </p:sp>
      <p:sp>
        <p:nvSpPr>
          <p:cNvPr id="37" name="51 通道">
            <a:extLst xmlns:a="http://schemas.openxmlformats.org/drawingml/2006/main">
              <a:ext uri="{FF2B5EF4-FFF2-40B4-BE49-F238E27FC236}">
                <a16:creationId xmlns:a16="http://schemas.microsoft.com/office/drawing/2014/main" id="{79AD72EA-D23D-4F51-80BE-5ECBC94A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3933825"/>
            <a:ext cx="1857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B44A22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51 通道</a:t>
            </a:r>
          </a:p>
        </p:txBody>
      </p:sp>
      <p:sp>
        <p:nvSpPr>
          <p:cNvPr id="38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029894A0-11BE-4526-9CA6-461B79E4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219575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B44A22"/>
            </a:solidFill>
            <a:prstDash val="solid"/>
          </a:ln>
        </p:spPr>
      </p:sp>
      <p:sp>
        <p:nvSpPr>
          <p:cNvPr id="39" name="arrowhead">
            <a:extLst xmlns:a="http://schemas.openxmlformats.org/drawingml/2006/main">
              <a:ext uri="{FF2B5EF4-FFF2-40B4-BE49-F238E27FC236}">
                <a16:creationId xmlns:a16="http://schemas.microsoft.com/office/drawing/2014/main" id="{6CB3BABC-5A5E-4639-941E-89672E12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6225" y="41719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A22"/>
          </a:solidFill>
          <a:ln xmlns:a="http://schemas.openxmlformats.org/drawingml/2006/main" w="0">
            <a:solidFill>
              <a:srgbClr val="B44A22"/>
            </a:solidFill>
          </a:ln>
        </p:spPr>
      </p:sp>
      <p:sp>
        <p:nvSpPr>
          <p:cNvPr id="40" name="交叉拟合头证据 + 训练侧 PCA + 时间通道，使用视频自身 z-score">
            <a:extLst xmlns:a="http://schemas.openxmlformats.org/drawingml/2006/main">
              <a:ext uri="{FF2B5EF4-FFF2-40B4-BE49-F238E27FC236}">
                <a16:creationId xmlns:a16="http://schemas.microsoft.com/office/drawing/2014/main" id="{B2067534-34E0-4585-9731-21E9B6B6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638675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rPr>
              <a:t>交叉拟合头证据 + 训练侧 PCA + 时间通道，使用视频自身 z-score</a:t>
            </a:r>
          </a:p>
        </p:txBody>
      </p:sp>
      <p:sp>
        <p:nvSpPr>
          <p:cNvPr id="41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B3D7035A-FDD0-4443-BF99-4799C8AB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172075"/>
            <a:ext cx="17173575" cy="9525"/>
          </a:xfrm>
          <a:custGeom xmlns:a="http://schemas.openxmlformats.org/drawingml/2006/main">
            <a:pathLst>
              <a:path w="17173575" h="9525">
                <a:moveTo>
                  <a:pt x="0" y="0"/>
                </a:moveTo>
                <a:lnTo>
                  <a:pt x="17173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DFE5"/>
            </a:solidFill>
            <a:prstDash val="solid"/>
          </a:ln>
        </p:spPr>
      </p:sp>
      <p:sp>
        <p:nvSpPr>
          <p:cNvPr id="42" name="difference 3">
            <a:extLst xmlns:a="http://schemas.openxmlformats.org/drawingml/2006/main">
              <a:ext uri="{FF2B5EF4-FFF2-40B4-BE49-F238E27FC236}">
                <a16:creationId xmlns:a16="http://schemas.microsoft.com/office/drawing/2014/main" id="{F601C1B9-981F-4DCC-98CF-94249B13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14975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A2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3" name="卷积与细化">
            <a:extLst xmlns:a="http://schemas.openxmlformats.org/drawingml/2006/main">
              <a:ext uri="{FF2B5EF4-FFF2-40B4-BE49-F238E27FC236}">
                <a16:creationId xmlns:a16="http://schemas.microsoft.com/office/drawing/2014/main" id="{95CB0C7F-3A06-4EE9-9720-A4A1B46B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76875"/>
            <a:ext cx="2600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rPr>
              <a:t>卷积与细化</a:t>
            </a:r>
          </a:p>
        </p:txBody>
      </p:sp>
      <p:sp>
        <p:nvSpPr>
          <p:cNvPr id="44" name="MS-TCN / TeCNO">
            <a:extLst xmlns:a="http://schemas.openxmlformats.org/drawingml/2006/main">
              <a:ext uri="{FF2B5EF4-FFF2-40B4-BE49-F238E27FC236}">
                <a16:creationId xmlns:a16="http://schemas.microsoft.com/office/drawing/2014/main" id="{E3B2F07C-ACF0-40B4-8E8D-3F94E9B3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76925"/>
            <a:ext cx="2657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MS-TCN / TeCNO</a:t>
            </a:r>
          </a:p>
        </p:txBody>
      </p:sp>
      <p:sp>
        <p:nvSpPr>
          <p:cNvPr id="45" name="MS-TCN 4级">
            <a:extLst xmlns:a="http://schemas.openxmlformats.org/drawingml/2006/main">
              <a:ext uri="{FF2B5EF4-FFF2-40B4-BE49-F238E27FC236}">
                <a16:creationId xmlns:a16="http://schemas.microsoft.com/office/drawing/2014/main" id="{38F2E393-0159-42CE-8F21-7FFC0389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387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MS-TCN 4级</a:t>
            </a:r>
          </a:p>
        </p:txBody>
      </p:sp>
      <p:sp>
        <p:nvSpPr>
          <p:cNvPr id="46" name="TeCNO 2级 causal">
            <a:extLst xmlns:a="http://schemas.openxmlformats.org/drawingml/2006/main">
              <a:ext uri="{FF2B5EF4-FFF2-40B4-BE49-F238E27FC236}">
                <a16:creationId xmlns:a16="http://schemas.microsoft.com/office/drawing/2014/main" id="{E4FAB13A-7DB4-423C-9DB2-C68D1932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4387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TeCNO 2级 causal</a:t>
            </a:r>
          </a:p>
        </p:txBody>
      </p:sp>
      <p:sp>
        <p:nvSpPr>
          <p:cNvPr id="47" name="2级 64 / 48">
            <a:extLst xmlns:a="http://schemas.openxmlformats.org/drawingml/2006/main">
              <a:ext uri="{FF2B5EF4-FFF2-40B4-BE49-F238E27FC236}">
                <a16:creationId xmlns:a16="http://schemas.microsoft.com/office/drawing/2014/main" id="{82330098-4207-4F2D-BE6B-BD30480B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438775"/>
            <a:ext cx="1857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B44A22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2级 64 / 48</a:t>
            </a:r>
          </a:p>
        </p:txBody>
      </p:sp>
      <p:sp>
        <p:nvSpPr>
          <p:cNvPr id="48" name="非因果卷积">
            <a:extLst xmlns:a="http://schemas.openxmlformats.org/drawingml/2006/main">
              <a:ext uri="{FF2B5EF4-FFF2-40B4-BE49-F238E27FC236}">
                <a16:creationId xmlns:a16="http://schemas.microsoft.com/office/drawing/2014/main" id="{D5EA21CD-8B83-40DD-9256-E3C86FCC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438775"/>
            <a:ext cx="1857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B44A22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非因果卷积</a:t>
            </a:r>
          </a:p>
        </p:txBody>
      </p:sp>
      <p:sp>
        <p:nvSpPr>
          <p:cNvPr id="49" name="LN + GELU">
            <a:extLst xmlns:a="http://schemas.openxmlformats.org/drawingml/2006/main">
              <a:ext uri="{FF2B5EF4-FFF2-40B4-BE49-F238E27FC236}">
                <a16:creationId xmlns:a16="http://schemas.microsoft.com/office/drawing/2014/main" id="{DC6D98C0-F5B5-4EA6-99C6-0273CFA2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5438775"/>
            <a:ext cx="1857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B44A22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LN + GELU</a:t>
            </a:r>
          </a:p>
        </p:txBody>
      </p:sp>
      <p:sp>
        <p:nvSpPr>
          <p:cNvPr id="50" name="沿用逐级概率细化和 MS-TCN 平滑损失，改为离线完整序列">
            <a:extLst xmlns:a="http://schemas.openxmlformats.org/drawingml/2006/main">
              <a:ext uri="{FF2B5EF4-FFF2-40B4-BE49-F238E27FC236}">
                <a16:creationId xmlns:a16="http://schemas.microsoft.com/office/drawing/2014/main" id="{5FA017EA-213C-4EDB-84DE-651EAA3A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143625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rPr>
              <a:t>沿用逐级概率细化和 MS-TCN 平滑损失，改为离线完整序列</a:t>
            </a:r>
          </a:p>
        </p:txBody>
      </p:sp>
      <p:sp>
        <p:nvSpPr>
          <p:cNvPr id="51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9BFF7A49-43D2-4CC8-A479-E45B8CEF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677025"/>
            <a:ext cx="17173575" cy="9525"/>
          </a:xfrm>
          <a:custGeom xmlns:a="http://schemas.openxmlformats.org/drawingml/2006/main">
            <a:pathLst>
              <a:path w="17173575" h="9525">
                <a:moveTo>
                  <a:pt x="0" y="0"/>
                </a:moveTo>
                <a:lnTo>
                  <a:pt x="17173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DFE5"/>
            </a:solidFill>
            <a:prstDash val="solid"/>
          </a:ln>
        </p:spPr>
      </p:sp>
      <p:sp>
        <p:nvSpPr>
          <p:cNvPr id="52" name="difference 4">
            <a:extLst xmlns:a="http://schemas.openxmlformats.org/drawingml/2006/main">
              <a:ext uri="{FF2B5EF4-FFF2-40B4-BE49-F238E27FC236}">
                <a16:creationId xmlns:a16="http://schemas.microsoft.com/office/drawing/2014/main" id="{F159CD2D-2DA2-415A-B300-9C69DCCF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19925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A2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3" name="全局上下文">
            <a:extLst xmlns:a="http://schemas.openxmlformats.org/drawingml/2006/main">
              <a:ext uri="{FF2B5EF4-FFF2-40B4-BE49-F238E27FC236}">
                <a16:creationId xmlns:a16="http://schemas.microsoft.com/office/drawing/2014/main" id="{64FCDEDE-89C6-4079-AF92-B357900F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981825"/>
            <a:ext cx="2600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rPr>
              <a:t>全局上下文</a:t>
            </a:r>
          </a:p>
        </p:txBody>
      </p:sp>
      <p:sp>
        <p:nvSpPr>
          <p:cNvPr id="54" name="TUNeS">
            <a:extLst xmlns:a="http://schemas.openxmlformats.org/drawingml/2006/main">
              <a:ext uri="{FF2B5EF4-FFF2-40B4-BE49-F238E27FC236}">
                <a16:creationId xmlns:a16="http://schemas.microsoft.com/office/drawing/2014/main" id="{51E33105-3E30-44A9-A536-8DB125D3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381875"/>
            <a:ext cx="2657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TUNeS</a:t>
            </a:r>
          </a:p>
        </p:txBody>
      </p:sp>
      <p:sp>
        <p:nvSpPr>
          <p:cNvPr id="55" name="U-Net 下采样">
            <a:extLst xmlns:a="http://schemas.openxmlformats.org/drawingml/2006/main">
              <a:ext uri="{FF2B5EF4-FFF2-40B4-BE49-F238E27FC236}">
                <a16:creationId xmlns:a16="http://schemas.microsoft.com/office/drawing/2014/main" id="{7534E90C-8C39-4514-A5FA-75619781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943725"/>
            <a:ext cx="1857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U-Net 下采样</a:t>
            </a:r>
          </a:p>
        </p:txBody>
      </p:sp>
      <p:sp>
        <p:nvSpPr>
          <p:cNvPr id="56" name="bottleneck attn.">
            <a:extLst xmlns:a="http://schemas.openxmlformats.org/drawingml/2006/main">
              <a:ext uri="{FF2B5EF4-FFF2-40B4-BE49-F238E27FC236}">
                <a16:creationId xmlns:a16="http://schemas.microsoft.com/office/drawing/2014/main" id="{9750E753-A4A7-4436-B231-D94B34BF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943725"/>
            <a:ext cx="1857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bottleneck attn.</a:t>
            </a:r>
          </a:p>
        </p:txBody>
      </p:sp>
      <p:sp>
        <p:nvSpPr>
          <p:cNvPr id="57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ECA77CCD-154B-4085-AF2B-174746F5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7229475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356899"/>
            </a:solidFill>
            <a:prstDash val="solid"/>
          </a:ln>
        </p:spPr>
      </p:sp>
      <p:sp>
        <p:nvSpPr>
          <p:cNvPr id="58" name="arrowhead">
            <a:extLst xmlns:a="http://schemas.openxmlformats.org/drawingml/2006/main">
              <a:ext uri="{FF2B5EF4-FFF2-40B4-BE49-F238E27FC236}">
                <a16:creationId xmlns:a16="http://schemas.microsoft.com/office/drawing/2014/main" id="{1F013AB5-CAB7-4E54-91B0-EA4221C8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71818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356899"/>
          </a:solidFill>
          <a:ln xmlns:a="http://schemas.openxmlformats.org/drawingml/2006/main" w="0">
            <a:solidFill>
              <a:srgbClr val="356899"/>
            </a:solidFill>
          </a:ln>
        </p:spPr>
      </p:sp>
      <p:sp>
        <p:nvSpPr>
          <p:cNvPr id="59" name="skip 上采样">
            <a:extLst xmlns:a="http://schemas.openxmlformats.org/drawingml/2006/main">
              <a:ext uri="{FF2B5EF4-FFF2-40B4-BE49-F238E27FC236}">
                <a16:creationId xmlns:a16="http://schemas.microsoft.com/office/drawing/2014/main" id="{423396EE-7E9A-4CC2-8059-4FF1C6A6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943725"/>
            <a:ext cx="1857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skip 上采样</a:t>
            </a:r>
          </a:p>
        </p:txBody>
      </p:sp>
      <p:sp>
        <p:nvSpPr>
          <p:cNvPr id="60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1F1676A5-1AC1-474C-A6AE-360250C0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7229475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356899"/>
            </a:solidFill>
            <a:prstDash val="solid"/>
          </a:ln>
        </p:spPr>
      </p:sp>
      <p:sp>
        <p:nvSpPr>
          <p:cNvPr id="61" name="arrowhead">
            <a:extLst xmlns:a="http://schemas.openxmlformats.org/drawingml/2006/main">
              <a:ext uri="{FF2B5EF4-FFF2-40B4-BE49-F238E27FC236}">
                <a16:creationId xmlns:a16="http://schemas.microsoft.com/office/drawing/2014/main" id="{773CEE17-8DC6-4FF9-8FAF-D8A9EEC2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71818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356899"/>
          </a:solidFill>
          <a:ln xmlns:a="http://schemas.openxmlformats.org/drawingml/2006/main" w="0">
            <a:solidFill>
              <a:srgbClr val="356899"/>
            </a:solidFill>
          </a:ln>
        </p:spPr>
      </p:sp>
      <p:sp>
        <p:nvSpPr>
          <p:cNvPr id="62" name="TCN 特征">
            <a:extLst xmlns:a="http://schemas.openxmlformats.org/drawingml/2006/main">
              <a:ext uri="{FF2B5EF4-FFF2-40B4-BE49-F238E27FC236}">
                <a16:creationId xmlns:a16="http://schemas.microsoft.com/office/drawing/2014/main" id="{D40B79BB-5058-4891-8909-A32CF6FE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943725"/>
            <a:ext cx="1857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B44A22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TCN 特征</a:t>
            </a:r>
          </a:p>
        </p:txBody>
      </p:sp>
      <p:sp>
        <p:nvSpPr>
          <p:cNvPr id="63" name="Pool16 + MHSA">
            <a:extLst xmlns:a="http://schemas.openxmlformats.org/drawingml/2006/main">
              <a:ext uri="{FF2B5EF4-FFF2-40B4-BE49-F238E27FC236}">
                <a16:creationId xmlns:a16="http://schemas.microsoft.com/office/drawing/2014/main" id="{D322B302-8569-42AC-A842-E703E821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6943725"/>
            <a:ext cx="1857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B44A22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Pool16 + MHSA</a:t>
            </a:r>
          </a:p>
        </p:txBody>
      </p:sp>
      <p:sp>
        <p:nvSpPr>
          <p:cNvPr id="64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BB3DAA29-3257-426D-8DE1-024FCC04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7229475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B44A22"/>
            </a:solidFill>
            <a:prstDash val="solid"/>
          </a:ln>
        </p:spPr>
      </p:sp>
      <p:sp>
        <p:nvSpPr>
          <p:cNvPr id="65" name="arrowhead">
            <a:extLst xmlns:a="http://schemas.openxmlformats.org/drawingml/2006/main">
              <a:ext uri="{FF2B5EF4-FFF2-40B4-BE49-F238E27FC236}">
                <a16:creationId xmlns:a16="http://schemas.microsoft.com/office/drawing/2014/main" id="{571206B5-EF89-4943-B62E-CE2F00AB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0725" y="71818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A22"/>
          </a:solidFill>
          <a:ln xmlns:a="http://schemas.openxmlformats.org/drawingml/2006/main" w="0">
            <a:solidFill>
              <a:srgbClr val="B44A22"/>
            </a:solidFill>
          </a:ln>
        </p:spPr>
      </p:sp>
      <p:sp>
        <p:nvSpPr>
          <p:cNvPr id="66" name="残差加回">
            <a:extLst xmlns:a="http://schemas.openxmlformats.org/drawingml/2006/main">
              <a:ext uri="{FF2B5EF4-FFF2-40B4-BE49-F238E27FC236}">
                <a16:creationId xmlns:a16="http://schemas.microsoft.com/office/drawing/2014/main" id="{EB6BE483-92A1-4659-8B4C-3C67E5BF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6943725"/>
            <a:ext cx="1857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B44A22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残差加回</a:t>
            </a:r>
          </a:p>
        </p:txBody>
      </p:sp>
      <p:sp>
        <p:nvSpPr>
          <p:cNvPr id="67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B9E13B6B-FA49-4FDE-8342-A69E9AF9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7229475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B44A22"/>
            </a:solidFill>
            <a:prstDash val="solid"/>
          </a:ln>
        </p:spPr>
      </p:sp>
      <p:sp>
        <p:nvSpPr>
          <p:cNvPr id="68" name="arrowhead">
            <a:extLst xmlns:a="http://schemas.openxmlformats.org/drawingml/2006/main">
              <a:ext uri="{FF2B5EF4-FFF2-40B4-BE49-F238E27FC236}">
                <a16:creationId xmlns:a16="http://schemas.microsoft.com/office/drawing/2014/main" id="{E5B3DAA5-A037-4DCB-84D8-358DB765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6225" y="718185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A22"/>
          </a:solidFill>
          <a:ln xmlns:a="http://schemas.openxmlformats.org/drawingml/2006/main" w="0">
            <a:solidFill>
              <a:srgbClr val="B44A22"/>
            </a:solidFill>
          </a:ln>
        </p:spPr>
      </p:sp>
      <p:sp>
        <p:nvSpPr>
          <p:cNvPr id="69" name="结构联系：低分辨率注意力。当前采用池化残差支路，无 U-Net">
            <a:extLst xmlns:a="http://schemas.openxmlformats.org/drawingml/2006/main">
              <a:ext uri="{FF2B5EF4-FFF2-40B4-BE49-F238E27FC236}">
                <a16:creationId xmlns:a16="http://schemas.microsoft.com/office/drawing/2014/main" id="{B383DBA0-5811-45CA-8F8F-BBE74E87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7648575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rPr>
              <a:t>结构联系：低分辨率注意力。当前采用池化残差支路，无 U-Net</a:t>
            </a:r>
          </a:p>
        </p:txBody>
      </p:sp>
      <p:sp>
        <p:nvSpPr>
          <p:cNvPr id="70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85D9C632-D798-4C43-BC83-CB0AEDF9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181975"/>
            <a:ext cx="17173575" cy="9525"/>
          </a:xfrm>
          <a:custGeom xmlns:a="http://schemas.openxmlformats.org/drawingml/2006/main">
            <a:pathLst>
              <a:path w="17173575" h="9525">
                <a:moveTo>
                  <a:pt x="0" y="0"/>
                </a:moveTo>
                <a:lnTo>
                  <a:pt x="17173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9DFE5"/>
            </a:solidFill>
            <a:prstDash val="solid"/>
          </a:ln>
        </p:spPr>
      </p:sp>
      <p:sp>
        <p:nvSpPr>
          <p:cNvPr id="71" name="difference 5">
            <a:extLst xmlns:a="http://schemas.openxmlformats.org/drawingml/2006/main">
              <a:ext uri="{FF2B5EF4-FFF2-40B4-BE49-F238E27FC236}">
                <a16:creationId xmlns:a16="http://schemas.microsoft.com/office/drawing/2014/main" id="{98C93017-0C4D-4C97-97D7-142A3684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24875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A2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72" name="输出序列">
            <a:extLst xmlns:a="http://schemas.openxmlformats.org/drawingml/2006/main">
              <a:ext uri="{FF2B5EF4-FFF2-40B4-BE49-F238E27FC236}">
                <a16:creationId xmlns:a16="http://schemas.microsoft.com/office/drawing/2014/main" id="{6A882C38-2A01-4230-9336-B487A727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486775"/>
            <a:ext cx="26003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rPr>
              <a:t>输出序列</a:t>
            </a:r>
          </a:p>
        </p:txBody>
      </p:sp>
      <p:sp>
        <p:nvSpPr>
          <p:cNvPr id="73" name="上述时序基线">
            <a:extLst xmlns:a="http://schemas.openxmlformats.org/drawingml/2006/main">
              <a:ext uri="{FF2B5EF4-FFF2-40B4-BE49-F238E27FC236}">
                <a16:creationId xmlns:a16="http://schemas.microsoft.com/office/drawing/2014/main" id="{8DD46F42-6E57-4E5B-A4B3-9AC6EE9B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886825"/>
            <a:ext cx="2657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上述时序基线</a:t>
            </a:r>
          </a:p>
        </p:txBody>
      </p:sp>
      <p:sp>
        <p:nvSpPr>
          <p:cNvPr id="74" name="网络概率">
            <a:extLst xmlns:a="http://schemas.openxmlformats.org/drawingml/2006/main">
              <a:ext uri="{FF2B5EF4-FFF2-40B4-BE49-F238E27FC236}">
                <a16:creationId xmlns:a16="http://schemas.microsoft.com/office/drawing/2014/main" id="{B4F5E61A-4F38-42E8-A96F-9F22B309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4486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网络概率</a:t>
            </a:r>
          </a:p>
        </p:txBody>
      </p:sp>
      <p:sp>
        <p:nvSpPr>
          <p:cNvPr id="75" name="阶段预测">
            <a:extLst xmlns:a="http://schemas.openxmlformats.org/drawingml/2006/main">
              <a:ext uri="{FF2B5EF4-FFF2-40B4-BE49-F238E27FC236}">
                <a16:creationId xmlns:a16="http://schemas.microsoft.com/office/drawing/2014/main" id="{2890DF46-B358-4BAB-B086-B6FA228B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84486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14288">
            <a:solidFill>
              <a:srgbClr val="356899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356899"/>
                </a:solidFill>
                <a:latin typeface="Microsoft YaHei"/>
                <a:ea typeface="Microsoft YaHei"/>
                <a:cs typeface="Microsoft YaHei"/>
              </a:rPr>
              <a:t>阶段预测</a:t>
            </a:r>
          </a:p>
        </p:txBody>
      </p:sp>
      <p:sp>
        <p:nvSpPr>
          <p:cNvPr id="76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9C494A00-9560-4BD8-9114-94F44510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8734425"/>
            <a:ext cx="361950" cy="9525"/>
          </a:xfrm>
          <a:custGeom xmlns:a="http://schemas.openxmlformats.org/drawingml/2006/main"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356899"/>
            </a:solidFill>
            <a:prstDash val="solid"/>
          </a:ln>
        </p:spPr>
      </p:sp>
      <p:sp>
        <p:nvSpPr>
          <p:cNvPr id="77" name="arrowhead">
            <a:extLst xmlns:a="http://schemas.openxmlformats.org/drawingml/2006/main">
              <a:ext uri="{FF2B5EF4-FFF2-40B4-BE49-F238E27FC236}">
                <a16:creationId xmlns:a16="http://schemas.microsoft.com/office/drawing/2014/main" id="{B8501091-8DCC-417E-89A8-87ED06F3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868680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356899"/>
          </a:solidFill>
          <a:ln xmlns:a="http://schemas.openxmlformats.org/drawingml/2006/main" w="0">
            <a:solidFill>
              <a:srgbClr val="356899"/>
            </a:solidFill>
          </a:ln>
        </p:spPr>
      </p:sp>
      <p:sp>
        <p:nvSpPr>
          <p:cNvPr id="78" name="5 seeds log p">
            <a:extLst xmlns:a="http://schemas.openxmlformats.org/drawingml/2006/main">
              <a:ext uri="{FF2B5EF4-FFF2-40B4-BE49-F238E27FC236}">
                <a16:creationId xmlns:a16="http://schemas.microsoft.com/office/drawing/2014/main" id="{217B0BA1-AE1A-4A1D-A3C9-DBE62131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8448675"/>
            <a:ext cx="1857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B44A22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5 seeds log p</a:t>
            </a:r>
          </a:p>
        </p:txBody>
      </p:sp>
      <p:sp>
        <p:nvSpPr>
          <p:cNvPr id="79" name="训练规则">
            <a:extLst xmlns:a="http://schemas.openxmlformats.org/drawingml/2006/main">
              <a:ext uri="{FF2B5EF4-FFF2-40B4-BE49-F238E27FC236}">
                <a16:creationId xmlns:a16="http://schemas.microsoft.com/office/drawing/2014/main" id="{45658AD2-ED1F-4A89-8D8A-854E510B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448675"/>
            <a:ext cx="1857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B44A22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训练规则</a:t>
            </a:r>
          </a:p>
        </p:txBody>
      </p:sp>
      <p:sp>
        <p:nvSpPr>
          <p:cNvPr id="80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5618BA8C-81A0-4A6B-BFFF-7C537C70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8734425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B44A22"/>
            </a:solidFill>
            <a:prstDash val="solid"/>
          </a:ln>
        </p:spPr>
      </p:sp>
      <p:sp>
        <p:nvSpPr>
          <p:cNvPr id="81" name="arrowhead">
            <a:extLst xmlns:a="http://schemas.openxmlformats.org/drawingml/2006/main">
              <a:ext uri="{FF2B5EF4-FFF2-40B4-BE49-F238E27FC236}">
                <a16:creationId xmlns:a16="http://schemas.microsoft.com/office/drawing/2014/main" id="{8A7A1CE3-3958-4F29-B9A1-298BC1E3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0725" y="868680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A22"/>
          </a:solidFill>
          <a:ln xmlns:a="http://schemas.openxmlformats.org/drawingml/2006/main" w="0">
            <a:solidFill>
              <a:srgbClr val="B44A22"/>
            </a:solidFill>
          </a:ln>
        </p:spPr>
      </p:sp>
      <p:sp>
        <p:nvSpPr>
          <p:cNvPr id="82" name="精确解码">
            <a:extLst xmlns:a="http://schemas.openxmlformats.org/drawingml/2006/main">
              <a:ext uri="{FF2B5EF4-FFF2-40B4-BE49-F238E27FC236}">
                <a16:creationId xmlns:a16="http://schemas.microsoft.com/office/drawing/2014/main" id="{F93D7C08-CB2E-492F-BB28-2658AA5D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8448675"/>
            <a:ext cx="1857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B44A22"/>
            </a:solidFill>
          </a:ln>
        </p:spPr>
        <p:txBody>
          <a:bodyPr xmlns:a="http://schemas.openxmlformats.org/drawingml/2006/main" wrap="square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B44A22"/>
                </a:solidFill>
                <a:latin typeface="Microsoft YaHei"/>
                <a:ea typeface="Microsoft YaHei"/>
                <a:cs typeface="Microsoft YaHei"/>
              </a:rPr>
              <a:t>精确解码</a:t>
            </a:r>
          </a:p>
        </p:txBody>
      </p:sp>
      <p:sp>
        <p:nvSpPr>
          <p:cNvPr id="83" name="network connection">
            <a:extLst xmlns:a="http://schemas.openxmlformats.org/drawingml/2006/main">
              <a:ext uri="{FF2B5EF4-FFF2-40B4-BE49-F238E27FC236}">
                <a16:creationId xmlns:a16="http://schemas.microsoft.com/office/drawing/2014/main" id="{CB9349C4-C11F-46F5-BB65-D4B57F92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8734425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B44A22"/>
            </a:solidFill>
            <a:prstDash val="solid"/>
          </a:ln>
        </p:spPr>
      </p:sp>
      <p:sp>
        <p:nvSpPr>
          <p:cNvPr id="84" name="arrowhead">
            <a:extLst xmlns:a="http://schemas.openxmlformats.org/drawingml/2006/main">
              <a:ext uri="{FF2B5EF4-FFF2-40B4-BE49-F238E27FC236}">
                <a16:creationId xmlns:a16="http://schemas.microsoft.com/office/drawing/2014/main" id="{7C537C73-C6E7-405A-B62B-B5D92B2C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6225" y="8686800"/>
            <a:ext cx="104775" cy="95250"/>
          </a:xfrm>
          <a:custGeom xmlns:a="http://schemas.openxmlformats.org/drawingml/2006/main">
            <a:pathLst>
              <a:path w="104775" h="95250">
                <a:moveTo>
                  <a:pt x="104775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44A22"/>
          </a:solidFill>
          <a:ln xmlns:a="http://schemas.openxmlformats.org/drawingml/2006/main" w="0">
            <a:solidFill>
              <a:srgbClr val="B44A22"/>
            </a:solidFill>
          </a:ln>
        </p:spPr>
      </p:sp>
      <p:sp>
        <p:nvSpPr>
          <p:cNvPr id="85" name="另加训练标签导出的先后、单段与最短块长约束">
            <a:extLst xmlns:a="http://schemas.openxmlformats.org/drawingml/2006/main">
              <a:ext uri="{FF2B5EF4-FFF2-40B4-BE49-F238E27FC236}">
                <a16:creationId xmlns:a16="http://schemas.microsoft.com/office/drawing/2014/main" id="{9241CE5A-51C7-4158-814A-6784A341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9153525"/>
            <a:ext cx="619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5303B"/>
                </a:solidFill>
                <a:latin typeface="Microsoft YaHei"/>
                <a:ea typeface="Microsoft YaHei"/>
                <a:cs typeface="Microsoft YaHei"/>
              </a:rPr>
              <a:t>另加训练标签导出的先后、单段与最短块长约束</a:t>
            </a:r>
          </a:p>
        </p:txBody>
      </p:sp>
    </p:spTree>
    <p:extLst>
      <p:ext uri="{BB962C8B-B14F-4D97-AF65-F5344CB8AC3E}">
        <p14:creationId xmlns:p14="http://schemas.microsoft.com/office/powerpoint/2010/main" val="177874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2026-10-07T04:57:06.9530000Z</dcterms:created>
  <dcterms:modified xsi:type="dcterms:W3CDTF">2026-10-07T04:57:06.9530000Z</dcterms:modified>
</coreProperties>
</file>