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84aee70e914377" /><Relationship Type="http://schemas.openxmlformats.org/officeDocument/2006/relationships/extended-properties" Target="/docProps/app.xml" Id="R370b3b9f3ac54269" /><Relationship Type="http://schemas.openxmlformats.org/officeDocument/2006/relationships/officeDocument" Target="/ppt/presentation.xml" Id="R2886d3d46c9144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ef5d15a29c47aa"/>
  </p:sldMasterIdLst>
  <p:notesMasterIdLst>
    <p:notesMasterId xmlns:r="http://schemas.openxmlformats.org/officeDocument/2006/relationships" r:id="R7f9503152ca0422e"/>
  </p:notesMasterIdLst>
  <p:sldIdLst>
    <p:sldId xmlns:r="http://schemas.openxmlformats.org/officeDocument/2006/relationships" id="256" r:id="Rf664da2fff4e4dc7"/>
    <p:sldId xmlns:r="http://schemas.openxmlformats.org/officeDocument/2006/relationships" id="257" r:id="R4a24bf4607c74175"/>
    <p:sldId xmlns:r="http://schemas.openxmlformats.org/officeDocument/2006/relationships" id="258" r:id="R6bcdc98779844055"/>
    <p:sldId xmlns:r="http://schemas.openxmlformats.org/officeDocument/2006/relationships" id="259" r:id="Rd23c794933c840d7"/>
    <p:sldId xmlns:r="http://schemas.openxmlformats.org/officeDocument/2006/relationships" id="260" r:id="R14fdc66e523e49e9"/>
    <p:sldId xmlns:r="http://schemas.openxmlformats.org/officeDocument/2006/relationships" id="261" r:id="R619dc18acc074623"/>
    <p:sldId xmlns:r="http://schemas.openxmlformats.org/officeDocument/2006/relationships" id="262" r:id="R57d3a2770c46412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5a80736d494629" /><Relationship Type="http://schemas.openxmlformats.org/officeDocument/2006/relationships/slideMaster" Target="/ppt/slideMasters/slideMaster1.xml" Id="Ra5ef5d15a29c47aa" /><Relationship Type="http://schemas.openxmlformats.org/officeDocument/2006/relationships/notesMaster" Target="/ppt/notesMasters/notesMaster1.xml" Id="R7f9503152ca0422e" /><Relationship Type="http://schemas.openxmlformats.org/officeDocument/2006/relationships/presProps" Target="/ppt/presProps.xml" Id="Rb322e19bbb464ff2" /><Relationship Type="http://schemas.openxmlformats.org/officeDocument/2006/relationships/tableStyles" Target="/ppt/tableStyles.xml" Id="Rcad26e612ccb4862" /><Relationship Type="http://schemas.openxmlformats.org/officeDocument/2006/relationships/slide" Target="/ppt/slides/slide1.xml" Id="Rf664da2fff4e4dc7" /><Relationship Type="http://schemas.openxmlformats.org/officeDocument/2006/relationships/slide" Target="/ppt/slides/slide2.xml" Id="R4a24bf4607c74175" /><Relationship Type="http://schemas.openxmlformats.org/officeDocument/2006/relationships/slide" Target="/ppt/slides/slide3.xml" Id="R6bcdc98779844055" /><Relationship Type="http://schemas.openxmlformats.org/officeDocument/2006/relationships/slide" Target="/ppt/slides/slide4.xml" Id="Rd23c794933c840d7" /><Relationship Type="http://schemas.openxmlformats.org/officeDocument/2006/relationships/slide" Target="/ppt/slides/slide5.xml" Id="R14fdc66e523e49e9" /><Relationship Type="http://schemas.openxmlformats.org/officeDocument/2006/relationships/slide" Target="/ppt/slides/slide6.xml" Id="R619dc18acc074623" /><Relationship Type="http://schemas.openxmlformats.org/officeDocument/2006/relationships/slide" Target="/ppt/slides/slide7.xml" Id="R57d3a2770c4641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a447f5d0a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9cfd8e64c4b57" /><Relationship Type="http://schemas.openxmlformats.org/officeDocument/2006/relationships/notesMaster" Target="/ppt/notesMasters/notesMaster1.xml" Id="Rb1eeb5971ff3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d479cef5c04b55" /><Relationship Type="http://schemas.openxmlformats.org/officeDocument/2006/relationships/notesMaster" Target="/ppt/notesMasters/notesMaster1.xml" Id="R2d25aac7b0c04d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739bd4db5c485b" /><Relationship Type="http://schemas.openxmlformats.org/officeDocument/2006/relationships/notesMaster" Target="/ppt/notesMasters/notesMaster1.xml" Id="R1e9c5e9a7592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d07f0b85754f71" /><Relationship Type="http://schemas.openxmlformats.org/officeDocument/2006/relationships/notesMaster" Target="/ppt/notesMasters/notesMaster1.xml" Id="R13cc9147e07c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30ed89829b4cde" /><Relationship Type="http://schemas.openxmlformats.org/officeDocument/2006/relationships/notesMaster" Target="/ppt/notesMasters/notesMaster1.xml" Id="R453166ec32d9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0eb79d5d44d52" /><Relationship Type="http://schemas.openxmlformats.org/officeDocument/2006/relationships/notesMaster" Target="/ppt/notesMasters/notesMaster1.xml" Id="Rcba3f5abf2b944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2d43c597954eed" /><Relationship Type="http://schemas.openxmlformats.org/officeDocument/2006/relationships/notesMaster" Target="/ppt/notesMasters/notesMaster1.xml" Id="Re04c882d2a6b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主图以 submission.fit_final/infer 的实际调用为准。51=13+32+6。T 为包括缺帧秒的时间线长度，N 为有图片的有效帧数。网络在完整时间线上运行，predict_tcn 只取有图片秒的输出，再按有效帧次序执行规则解码。5 个种子平均的是 log_softmax，而不是算术平均 softmax。A 训练交叉拟合为 stacked_emissions，推理仅用一个全训练侧拟合的头。C 是 MS-TCN 思路与低分辨率全局注意力的本地组合，非 TUNeS 完整复现。D 为非神经后处理。299,786 是以当前 options、inputs=51 实例化 PhaseTCN 后计算的参数数，不含图像主干和线性头。</a:t>
            </a:r>
          </a:p>
          <a:p xmlns:a="http://schemas.openxmlformats.org/drawingml/2006/main">
            <a:r>
              <a:t>代码依据：</a:t>
            </a:r>
          </a:p>
          <a:p xmlns:a="http://schemas.openxmlformats.org/drawingml/2006/main">
            <a:r>
              <a:t>D:/medical-project/SurgeNetDINO/surgenet_dino/temporal/tcn.py:131</a:t>
            </a:r>
          </a:p>
          <a:p xmlns:a="http://schemas.openxmlformats.org/drawingml/2006/main">
            <a:r>
              <a:t>D:/medical-project/SurgeNetDINO/surgenet_dino/temporal/tcn.py:158</a:t>
            </a:r>
          </a:p>
          <a:p xmlns:a="http://schemas.openxmlformats.org/drawingml/2006/main">
            <a:r>
              <a:t>D:/medical-project/SurgeNetDINO/surgenet_dino/temporal/tcn.py:257</a:t>
            </a:r>
          </a:p>
          <a:p xmlns:a="http://schemas.openxmlformats.org/drawingml/2006/main">
            <a:r>
              <a:t>D:/medical-project/SurgeNetDINO/surgenet_dino/temporal/submission.py:93</a:t>
            </a:r>
          </a:p>
          <a:p xmlns:a="http://schemas.openxmlformats.org/drawingml/2006/main">
            <a:r>
              <a:t>D:/medical-project/SurgeNetDINO/surgenet_dino/temporal/submission.py:184</a:t>
            </a:r>
          </a:p>
          <a:p xmlns:a="http://schemas.openxmlformats.org/drawingml/2006/main">
            <a:r>
              <a:t>文献依据：</a:t>
            </a:r>
          </a:p>
          <a:p xmlns:a="http://schemas.openxmlformats.org/drawingml/2006/main">
            <a:r>
              <a:t>surge: https://proceedings.mlr.press/v315/jong26a.html</a:t>
            </a:r>
          </a:p>
          <a:p xmlns:a="http://schemas.openxmlformats.org/drawingml/2006/main">
            <a:r>
              <a:t>surgeFull: https://openreview.net/pdf/584b9c41b9e35f139e9653262ea229c9ff4981a4.pdf</a:t>
            </a:r>
          </a:p>
          <a:p xmlns:a="http://schemas.openxmlformats.org/drawingml/2006/main">
            <a:r>
              <a:t>mstcn: https://arxiv.org/pdf/1903.01945</a:t>
            </a:r>
          </a:p>
          <a:p xmlns:a="http://schemas.openxmlformats.org/drawingml/2006/main">
            <a:r>
              <a:t>tecno: https://arxiv.org/pdf/2003.10751</a:t>
            </a:r>
          </a:p>
          <a:p xmlns:a="http://schemas.openxmlformats.org/drawingml/2006/main">
            <a:r>
              <a:t>tunes: https://arxiv.org/html/2307.09997v2</a:t>
            </a:r>
          </a:p>
          <a:p xmlns:a="http://schemas.openxmlformats.org/drawingml/2006/main">
            <a:r>
              <a:t>代码快照：2026-10-07，HEAD b10e78e，采用工作区默认配置。设计差异指实现与组合上的差别，不等同于已证明的学术创新。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输入预处理见 runtime.preprocess_image。本工作区安装的 timm 1.0.24 vit_base_patch14_dinov2 构造函数明确 depth=12, num_heads=12, embed_dim=768。frame_tokens 只取最后一层，最后一个 forward_features 输出中 tokens[:,0] 与 tokens[:,1:].mean(1) 拼接。DINOv2 文献 Appendix B.3 将使用 1 或 4 层、是否追加 patch 平均作为探测选项，因此最后一层 CLS+patch 均值是选用了已有探测方法，不应写成新提出的 pooling。build_inputs 将 head 的 log_softmax 下限截到 -10，再 /5+1；PCA 白化尺度由训练侧特征值平方根给出，截到 [-6,6]。6 标志按顺序为 is_gap、is_long_gap、post_stage、progress、elapsed hours、hours since long gap ended；长间隙阈值300秒，选最长符合阈值的间隙。旧基线只有 CLS、不做 temporal per_video_zscore，其 head 维度768。</a:t>
            </a:r>
          </a:p>
          <a:p xmlns:a="http://schemas.openxmlformats.org/drawingml/2006/main">
            <a:r>
              <a:t>代码依据：</a:t>
            </a:r>
          </a:p>
          <a:p xmlns:a="http://schemas.openxmlformats.org/drawingml/2006/main">
            <a:r>
              <a:t>D:/medical-project/SurgeNetDINO/surgenet_dino/runtime.py:30</a:t>
            </a:r>
          </a:p>
          <a:p xmlns:a="http://schemas.openxmlformats.org/drawingml/2006/main">
            <a:r>
              <a:t>D:/medical-project/SurgeNetDINO/surgenet_dino/registry.py:26</a:t>
            </a:r>
          </a:p>
          <a:p xmlns:a="http://schemas.openxmlformats.org/drawingml/2006/main">
            <a:r>
              <a:t>D:/medical-project/SurgeNetDINO/surgenet_dino/temporal/tokens.py:42</a:t>
            </a:r>
          </a:p>
          <a:p xmlns:a="http://schemas.openxmlformats.org/drawingml/2006/main">
            <a:r>
              <a:t>D:/medical-project/SurgeNetDINO/surgenet_dino/temporal/emissions.py:16</a:t>
            </a:r>
          </a:p>
          <a:p xmlns:a="http://schemas.openxmlformats.org/drawingml/2006/main">
            <a:r>
              <a:t>D:/medical-project/SurgeNetDINO/surgenet_dino/temporal/tcn.py:146</a:t>
            </a:r>
          </a:p>
          <a:p xmlns:a="http://schemas.openxmlformats.org/drawingml/2006/main">
            <a:r>
              <a:t>D:/medical-project/SurgeNetDINO/surgenet_dino/temporal/tcn.py:158</a:t>
            </a:r>
          </a:p>
          <a:p xmlns:a="http://schemas.openxmlformats.org/drawingml/2006/main">
            <a:r>
              <a:t>D:/medical-project/SurgeNetDINO/surgenet_dino/head.py:13</a:t>
            </a:r>
          </a:p>
          <a:p xmlns:a="http://schemas.openxmlformats.org/drawingml/2006/main">
            <a:r>
              <a:t>D:/medical-project/SurgeNetDINO/configs/temporal.toml</a:t>
            </a:r>
          </a:p>
          <a:p xmlns:a="http://schemas.openxmlformats.org/drawingml/2006/main">
            <a:r>
              <a:t>文献依据：</a:t>
            </a:r>
          </a:p>
          <a:p xmlns:a="http://schemas.openxmlformats.org/drawingml/2006/main">
            <a:r>
              <a:t>dino: https://arxiv.org/html/2304.07193v2</a:t>
            </a:r>
          </a:p>
          <a:p xmlns:a="http://schemas.openxmlformats.org/drawingml/2006/main">
            <a:r>
              <a:t>代码快照：2026-10-07，HEAD b10e78e，采用工作区默认配置。设计差异指实现与组合上的差别，不等同于已证明的学术创新。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详细实现：DilatedBlock = x + Dropout(Conv1x1(GELU(Conv_k3_d(ChannelNorm(x)))))。ChannelNorm 在每秒的通道轴做 LayerNorm，不用BatchNorm。Stage在所有膨胀块之后将x+self.context(x)送入ChannelNorm和1x1分类Conv。GlobalContext先avg_pool1d(factor=16, ceil_mode=True)，一层PreNorm MHSA和2C宽度的MLP，attention及MLP dropout=0.15，随后linear interpolate回T。相对位置bias32桶，max_distance512，表每头独立。attention不加因果mask。预测级与细化级各10个膨胀块，单级卷积感受野2047秒，即前后各1023秒，加入全局注意力后可访问全视频。PhaseTCN返回[first,refine(first.softmax(1))]，predict_tcn使用最后一个stage。两级loss求和，CE ignore_index=-1，仅对有标签秒计算CE；平滑项对整条时间线相邻秒计算，并不以标签屏蔽。平方差上限16，前一秒detach，与MS-TCN τ=4、λ=0.15对应。训练采用AdamW lr5e-4, weight_decay0.01，梯度裁剪1.0，按整视频batch1。</a:t>
            </a:r>
          </a:p>
          <a:p xmlns:a="http://schemas.openxmlformats.org/drawingml/2006/main">
            <a:r>
              <a:t>代码依据：</a:t>
            </a:r>
          </a:p>
          <a:p xmlns:a="http://schemas.openxmlformats.org/drawingml/2006/main">
            <a:r>
              <a:t>D:/medical-project/SurgeNetDINO/surgenet_dino/temporal/tcn.py:27</a:t>
            </a:r>
          </a:p>
          <a:p xmlns:a="http://schemas.openxmlformats.org/drawingml/2006/main">
            <a:r>
              <a:t>D:/medical-project/SurgeNetDINO/surgenet_dino/temporal/tcn.py:38</a:t>
            </a:r>
          </a:p>
          <a:p xmlns:a="http://schemas.openxmlformats.org/drawingml/2006/main">
            <a:r>
              <a:t>D:/medical-project/SurgeNetDINO/surgenet_dino/temporal/tcn.py:50</a:t>
            </a:r>
          </a:p>
          <a:p xmlns:a="http://schemas.openxmlformats.org/drawingml/2006/main">
            <a:r>
              <a:t>D:/medical-project/SurgeNetDINO/surgenet_dino/temporal/tcn.py:71</a:t>
            </a:r>
          </a:p>
          <a:p xmlns:a="http://schemas.openxmlformats.org/drawingml/2006/main">
            <a:r>
              <a:t>D:/medical-project/SurgeNetDINO/surgenet_dino/temporal/tcn.py:95</a:t>
            </a:r>
          </a:p>
          <a:p xmlns:a="http://schemas.openxmlformats.org/drawingml/2006/main">
            <a:r>
              <a:t>D:/medical-project/SurgeNetDINO/surgenet_dino/temporal/tcn.py:113</a:t>
            </a:r>
          </a:p>
          <a:p xmlns:a="http://schemas.openxmlformats.org/drawingml/2006/main">
            <a:r>
              <a:t>D:/medical-project/SurgeNetDINO/surgenet_dino/temporal/tcn.py:131</a:t>
            </a:r>
          </a:p>
          <a:p xmlns:a="http://schemas.openxmlformats.org/drawingml/2006/main">
            <a:r>
              <a:t>D:/medical-project/SurgeNetDINO/surgenet_dino/temporal/tcn.py:240</a:t>
            </a:r>
          </a:p>
          <a:p xmlns:a="http://schemas.openxmlformats.org/drawingml/2006/main">
            <a:r>
              <a:t>D:/medical-project/SurgeNetDINO/configs/temporal.toml</a:t>
            </a:r>
          </a:p>
          <a:p xmlns:a="http://schemas.openxmlformats.org/drawingml/2006/main">
            <a:r>
              <a:t>文献依据：</a:t>
            </a:r>
          </a:p>
          <a:p xmlns:a="http://schemas.openxmlformats.org/drawingml/2006/main">
            <a:r>
              <a:t>mstcn: https://arxiv.org/pdf/1903.01945</a:t>
            </a:r>
          </a:p>
          <a:p xmlns:a="http://schemas.openxmlformats.org/drawingml/2006/main">
            <a:r>
              <a:t>tecno: https://arxiv.org/pdf/2003.10751</a:t>
            </a:r>
          </a:p>
          <a:p xmlns:a="http://schemas.openxmlformats.org/drawingml/2006/main">
            <a:r>
              <a:t>tunes: https://arxiv.org/html/2307.09997v2</a:t>
            </a:r>
          </a:p>
          <a:p xmlns:a="http://schemas.openxmlformats.org/drawingml/2006/main">
            <a:r>
              <a:t>代码快照：2026-10-07，HEAD b10e78e，采用工作区默认配置。设计差异指实现与组合上的差别，不等同于已证明的学术创新。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层4折=每折9训练3验证。per_video_zscore不读标签，但需整视频帧。每个内层折重新计算交叉拟合概率、PCA、混淆矩阵和TCN，common_epoch按seed平均的网络输出帧准确率选一个公共epoch，准确率相同时偏好更早epoch。网络选轮数不使用约束解码后的分数和Advanced F1。规则仅从fit_videos标签读出。最终fit_final的轮数由已有报告中训练侧内层分数加权汇总决定，不使用外层分数或评价视频。全部12台上生成LOVO概率训练TCN，再单独保存用12台全量拟合的头供推理使用；PCA和规则也用12台。最终5个TCN随机种子为seed+1000*(s+1)，默认1042/2042/3042/4042/5042。序列增广含分段速度扭曲0.7到1.4、随机裁剪、18到300秒掩码、logit噪声、依视频外混淆矩阵生成10到120秒的系统性段扰动、PCA/附加特征整组drop。外层结果是被多轮方法开发使用的开发估计，因此避免夸大独立性。</a:t>
            </a:r>
          </a:p>
          <a:p xmlns:a="http://schemas.openxmlformats.org/drawingml/2006/main">
            <a:r>
              <a:t>代码依据：</a:t>
            </a:r>
          </a:p>
          <a:p xmlns:a="http://schemas.openxmlformats.org/drawingml/2006/main">
            <a:r>
              <a:t>D:/medical-project/SurgeNetDINO/surgenet_dino/temporal/emissions.py:96</a:t>
            </a:r>
          </a:p>
          <a:p xmlns:a="http://schemas.openxmlformats.org/drawingml/2006/main">
            <a:r>
              <a:t>D:/medical-project/SurgeNetDINO/surgenet_dino/temporal/tcn.py:198</a:t>
            </a:r>
          </a:p>
          <a:p xmlns:a="http://schemas.openxmlformats.org/drawingml/2006/main">
            <a:r>
              <a:t>D:/medical-project/SurgeNetDINO/surgenet_dino/temporal/tcn.py:322</a:t>
            </a:r>
          </a:p>
          <a:p xmlns:a="http://schemas.openxmlformats.org/drawingml/2006/main">
            <a:r>
              <a:t>D:/medical-project/SurgeNetDINO/surgenet_dino/temporal/tcn.py:336</a:t>
            </a:r>
          </a:p>
          <a:p xmlns:a="http://schemas.openxmlformats.org/drawingml/2006/main">
            <a:r>
              <a:t>D:/medical-project/SurgeNetDINO/surgenet_dino/temporal/tcn.py:361</a:t>
            </a:r>
          </a:p>
          <a:p xmlns:a="http://schemas.openxmlformats.org/drawingml/2006/main">
            <a:r>
              <a:t>D:/medical-project/SurgeNetDINO/surgenet_dino/temporal/workflows.py:176</a:t>
            </a:r>
          </a:p>
          <a:p xmlns:a="http://schemas.openxmlformats.org/drawingml/2006/main">
            <a:r>
              <a:t>D:/medical-project/SurgeNetDINO/surgenet_dino/temporal/submission.py:51</a:t>
            </a:r>
          </a:p>
          <a:p xmlns:a="http://schemas.openxmlformats.org/drawingml/2006/main">
            <a:r>
              <a:t>D:/medical-project/SurgeNetDINO/surgenet_dino/temporal/submission.py:93</a:t>
            </a:r>
          </a:p>
          <a:p xmlns:a="http://schemas.openxmlformats.org/drawingml/2006/main">
            <a:r>
              <a:t>文献依据：</a:t>
            </a:r>
          </a:p>
          <a:p xmlns:a="http://schemas.openxmlformats.org/drawingml/2006/main">
            <a:r>
              <a:t>代码快照：2026-10-07，HEAD b10e78e，采用工作区默认配置。设计差异指实现与组合上的差别，不等同于已证明的学术创新。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SurgeNetDINO公开作者全文§3.4.2明确：先按单帧阶段标签训练backbone，再对提取特征训练causal MS-TCN。故本项目冻结主干的做法与原论文下游训练有区别，不能把原文错误简化为仅DINO+linear。DINOv2 Appendix B.3包含1/4层输出与是否追加patch平均的探测选项，当前是last1+average的具体选择。MS-TCN §3.1–3.4原实验4stage、每stage10层64通道、ReLU、k3、tau4、lambda0.15。TeCNO §2.1–2.2 ResNet50单帧监督特征、2stage causal TCN、weighted CE；原TeCNO的损失不要与MS-TCN的平滑项混为一谈。TUNeS核对arXiv v2 §IV-A/IV-B，U-Net encoder/decoder、瓶颈注意力、skip、多尺度分类与CNN-LSTM特征训练。低分辨率注意力的联系是结合项目设计文档与两者结构的解释，并非代码依赖或完整复现。作者仓库提供TBME2025正式出版信息。此页不跨数据集比较效果数字。</a:t>
            </a:r>
          </a:p>
          <a:p xmlns:a="http://schemas.openxmlformats.org/drawingml/2006/main">
            <a:r>
              <a:t>代码依据：</a:t>
            </a:r>
          </a:p>
          <a:p xmlns:a="http://schemas.openxmlformats.org/drawingml/2006/main">
            <a:r>
              <a:t>D:/medical-project/SurgeNetDINO/surgenet_dino/model.py:15</a:t>
            </a:r>
          </a:p>
          <a:p xmlns:a="http://schemas.openxmlformats.org/drawingml/2006/main">
            <a:r>
              <a:t>D:/medical-project/SurgeNetDINO/surgenet_dino/training.py:189</a:t>
            </a:r>
          </a:p>
          <a:p xmlns:a="http://schemas.openxmlformats.org/drawingml/2006/main">
            <a:r>
              <a:t>D:/medical-project/SurgeNetDINO/surgenet_dino/temporal/tcn.py:38</a:t>
            </a:r>
          </a:p>
          <a:p xmlns:a="http://schemas.openxmlformats.org/drawingml/2006/main">
            <a:r>
              <a:t>D:/medical-project/SurgeNetDINO/surgenet_dino/temporal/tcn.py:95</a:t>
            </a:r>
          </a:p>
          <a:p xmlns:a="http://schemas.openxmlformats.org/drawingml/2006/main">
            <a:r>
              <a:t>D:/medical-project/SurgeNetDINO/surgenet_dino/temporal/tcn.py:131</a:t>
            </a:r>
          </a:p>
          <a:p xmlns:a="http://schemas.openxmlformats.org/drawingml/2006/main">
            <a:r>
              <a:t>D:/medical-project/SurgeNetDINO/surgenet_dino/temporal/tcn.py:240</a:t>
            </a:r>
          </a:p>
          <a:p xmlns:a="http://schemas.openxmlformats.org/drawingml/2006/main">
            <a:r>
              <a:t>D:/medical-project/SurgeNetDINO/surgenet_dino/temporal/constraints.py:39</a:t>
            </a:r>
          </a:p>
          <a:p xmlns:a="http://schemas.openxmlformats.org/drawingml/2006/main">
            <a:r>
              <a:t>D:/medical-project/SurgeNetDINO/docs/TEMPORAL_DESIGN_中文.md</a:t>
            </a:r>
          </a:p>
          <a:p xmlns:a="http://schemas.openxmlformats.org/drawingml/2006/main">
            <a:r>
              <a:t>文献依据：</a:t>
            </a:r>
          </a:p>
          <a:p xmlns:a="http://schemas.openxmlformats.org/drawingml/2006/main">
            <a:r>
              <a:t>surge: https://proceedings.mlr.press/v315/jong26a.html</a:t>
            </a:r>
          </a:p>
          <a:p xmlns:a="http://schemas.openxmlformats.org/drawingml/2006/main">
            <a:r>
              <a:t>surgeFull: https://openreview.net/pdf/584b9c41b9e35f139e9653262ea229c9ff4981a4.pdf</a:t>
            </a:r>
          </a:p>
          <a:p xmlns:a="http://schemas.openxmlformats.org/drawingml/2006/main">
            <a:r>
              <a:t>dino: https://arxiv.org/html/2304.07193v2</a:t>
            </a:r>
          </a:p>
          <a:p xmlns:a="http://schemas.openxmlformats.org/drawingml/2006/main">
            <a:r>
              <a:t>mstcn: https://arxiv.org/pdf/1903.01945</a:t>
            </a:r>
          </a:p>
          <a:p xmlns:a="http://schemas.openxmlformats.org/drawingml/2006/main">
            <a:r>
              <a:t>tecno: https://arxiv.org/pdf/2003.10751</a:t>
            </a:r>
          </a:p>
          <a:p xmlns:a="http://schemas.openxmlformats.org/drawingml/2006/main">
            <a:r>
              <a:t>tunes: https://arxiv.org/html/2307.09997v2</a:t>
            </a:r>
          </a:p>
          <a:p xmlns:a="http://schemas.openxmlformats.org/drawingml/2006/main">
            <a:r>
              <a:t>tunesRepo: https://gitlab.com/nct_tso_public/tunes</a:t>
            </a:r>
          </a:p>
          <a:p xmlns:a="http://schemas.openxmlformats.org/drawingml/2006/main">
            <a:r>
              <a:t>代码快照：2026-10-07，HEAD b10e78e，采用工作区默认配置。设计差异指实现与组合上的差别，不等同于已证明的学术创新。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规则仅由训练侧标签统计得到，无预测侧调参。precedence要求所有训练序列中a最后出现早于b首次出现，至少存在共现支持；single要求训练侧只有一个连续块；minimum为所有训练视频中该阶段最短观测块，按有效图片秒计，缺帧不计。decode状态是phase+已开始受约束阶段的bitmask，进入新块时一次跨过其minimum长度，精确动态规划最大化sum(logp)。不强制所有阶段出现，也不是固定0到13单调链。Advanced实际入口main中调用snap_boundaries，仅在提供x_masks时处理Advanced副本，Basic保持原解码结果。边界校正用5样本均值、最多30秒且不超过相邻段的1/4，保留原阶段顺序和块数，满足minimum，不跨catalogue gap。write_advanced以1fps帧中点分区恢复到原始帧号，等距取较早预测，覆盖来自pixel_scan且annotation_used=False的x区间，生成段起始帧csv并zip。x不是PhaseTCN的第14个训练类别，e不输出。运动特征是frame difference/光流16列，log1p再per-video标准化，只拼入TCN，不进入head/PCA。workflows.run_cv接受motion；submission.fit_final/infer没有运动输入参数。Basic不得用原视频的限制此处沿用项目已核对FAQ的设计说明，区别于当前提交的实际51维实现。</a:t>
            </a:r>
          </a:p>
          <a:p xmlns:a="http://schemas.openxmlformats.org/drawingml/2006/main">
            <a:r>
              <a:t>代码依据：</a:t>
            </a:r>
          </a:p>
          <a:p xmlns:a="http://schemas.openxmlformats.org/drawingml/2006/main">
            <a:r>
              <a:t>D:/medical-project/SurgeNetDINO/surgenet_dino/temporal/constraints.py:39</a:t>
            </a:r>
          </a:p>
          <a:p xmlns:a="http://schemas.openxmlformats.org/drawingml/2006/main">
            <a:r>
              <a:t>D:/medical-project/SurgeNetDINO/surgenet_dino/temporal/constraints.py:62</a:t>
            </a:r>
          </a:p>
          <a:p xmlns:a="http://schemas.openxmlformats.org/drawingml/2006/main">
            <a:r>
              <a:t>D:/medical-project/SurgeNetDINO/surgenet_dino/temporal/submission.py:184</a:t>
            </a:r>
          </a:p>
          <a:p xmlns:a="http://schemas.openxmlformats.org/drawingml/2006/main">
            <a:r>
              <a:t>D:/medical-project/SurgeNetDINO/surgenet_dino/temporal/submission.py:213</a:t>
            </a:r>
          </a:p>
          <a:p xmlns:a="http://schemas.openxmlformats.org/drawingml/2006/main">
            <a:r>
              <a:t>D:/medical-project/SurgeNetDINO/surgenet_dino/temporal/submission.py:224</a:t>
            </a:r>
          </a:p>
          <a:p xmlns:a="http://schemas.openxmlformats.org/drawingml/2006/main">
            <a:r>
              <a:t>D:/medical-project/SurgeNetDINO/surgenet_dino/temporal/submission.py:259</a:t>
            </a:r>
          </a:p>
          <a:p xmlns:a="http://schemas.openxmlformats.org/drawingml/2006/main">
            <a:r>
              <a:t>D:/medical-project/SurgeNetDINO/surgenet_dino/temporal/boundary.py:8</a:t>
            </a:r>
          </a:p>
          <a:p xmlns:a="http://schemas.openxmlformats.org/drawingml/2006/main">
            <a:r>
              <a:t>D:/medical-project/SurgeNetDINO/surgenet_dino/temporal/workflows.py:204</a:t>
            </a:r>
          </a:p>
          <a:p xmlns:a="http://schemas.openxmlformats.org/drawingml/2006/main">
            <a:r>
              <a:t>D:/medical-project/SurgeNetDINO/surgenet_dino/temporal/motion.py:22</a:t>
            </a:r>
          </a:p>
          <a:p xmlns:a="http://schemas.openxmlformats.org/drawingml/2006/main">
            <a:r>
              <a:t>D:/medical-project/SurgeNetDINO/tools/challenge_black_scan.py</a:t>
            </a:r>
          </a:p>
          <a:p xmlns:a="http://schemas.openxmlformats.org/drawingml/2006/main">
            <a:r>
              <a:t>D:/medical-project/SurgeNetDINO/docs/CHALLENGE_SUBMISSION_20261004_中文.md</a:t>
            </a:r>
          </a:p>
          <a:p xmlns:a="http://schemas.openxmlformats.org/drawingml/2006/main">
            <a:r>
              <a:t>文献依据：</a:t>
            </a:r>
          </a:p>
          <a:p xmlns:a="http://schemas.openxmlformats.org/drawingml/2006/main">
            <a:r>
              <a:t>代码快照：2026-10-07，HEAD b10e78e，采用工作区默认配置。设计差异指实现与组合上的差别，不等同于已证明的学术创新。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完整文献：R1 de Jong et al. Towards Effective Surgical Representation Learning with DINO Models. MIDL2026, PMLR315:1065–1080. 下游阶段方案全文核对作者OpenReview公开稿§3.4.2，元信息以PMLR正式页面为准。R2 Oquab et al. DINOv2: Learning Robust Visual Features without Supervision. arXiv2304.07193v2, 2024-02-02，最初2023。R3 Yazan Abu Farha and Juergen Gall. MS-TCN: Multi-Stage Temporal Convolutional Network for Action Segmentation. CVPR2019，arXiv1903.01945。R4 Czempiel et al. TeCNO: Surgical Phase Recognition with Multi-Stage Temporal Convolutional Networks. MICCAI2020，arXiv2003.10751。R5 Funke et al. TUNeS: A Temporal U-Net With Self-Attention for Video-Based Surgical Phase Recognition. 最初arXiv2023，结构核对v2(2024-01-19)。正式发表TBME72(7):2105–2119, 2025, doi10.1109/TBME.2025.3535228，出版信息见作者GitLab仓库。关于A–D的联系和差异，结论来自本工作区代码与这些一手文献的结构对照，不声称获得作者背书。</a:t>
            </a:r>
          </a:p>
          <a:p xmlns:a="http://schemas.openxmlformats.org/drawingml/2006/main">
            <a:r>
              <a:t>代码依据：</a:t>
            </a:r>
          </a:p>
          <a:p xmlns:a="http://schemas.openxmlformats.org/drawingml/2006/main">
            <a:r>
              <a:t>D:/medical-project/SurgeNetDINO/configs/temporal.toml</a:t>
            </a:r>
          </a:p>
          <a:p xmlns:a="http://schemas.openxmlformats.org/drawingml/2006/main">
            <a:r>
              <a:t>D:/medical-project/SurgeNetDINO/configs/head_regularized.toml</a:t>
            </a:r>
          </a:p>
          <a:p xmlns:a="http://schemas.openxmlformats.org/drawingml/2006/main">
            <a:r>
              <a:t>D:/medical-project/SurgeNetDINO/docs/UPSTREAM_REFERENCES.md</a:t>
            </a:r>
          </a:p>
          <a:p xmlns:a="http://schemas.openxmlformats.org/drawingml/2006/main">
            <a:r>
              <a:t>D:/medical-project/SurgeNetDINO/docs/TEMPORAL_DESIGN_中文.md</a:t>
            </a:r>
          </a:p>
          <a:p xmlns:a="http://schemas.openxmlformats.org/drawingml/2006/main">
            <a:r>
              <a:t>D:/medical-project/SurgeNetDINO/docs/CHALLENGE_SUBMISSION_20261004_中文.md</a:t>
            </a:r>
          </a:p>
          <a:p xmlns:a="http://schemas.openxmlformats.org/drawingml/2006/main">
            <a:r>
              <a:t>文献依据：</a:t>
            </a:r>
          </a:p>
          <a:p xmlns:a="http://schemas.openxmlformats.org/drawingml/2006/main">
            <a:r>
              <a:t>surge: https://proceedings.mlr.press/v315/jong26a.html</a:t>
            </a:r>
          </a:p>
          <a:p xmlns:a="http://schemas.openxmlformats.org/drawingml/2006/main">
            <a:r>
              <a:t>surgeFull: https://openreview.net/pdf/584b9c41b9e35f139e9653262ea229c9ff4981a4.pdf</a:t>
            </a:r>
          </a:p>
          <a:p xmlns:a="http://schemas.openxmlformats.org/drawingml/2006/main">
            <a:r>
              <a:t>dino: https://arxiv.org/html/2304.07193v2</a:t>
            </a:r>
          </a:p>
          <a:p xmlns:a="http://schemas.openxmlformats.org/drawingml/2006/main">
            <a:r>
              <a:t>mstcn: https://arxiv.org/pdf/1903.01945</a:t>
            </a:r>
          </a:p>
          <a:p xmlns:a="http://schemas.openxmlformats.org/drawingml/2006/main">
            <a:r>
              <a:t>tecno: https://arxiv.org/pdf/2003.10751</a:t>
            </a:r>
          </a:p>
          <a:p xmlns:a="http://schemas.openxmlformats.org/drawingml/2006/main">
            <a:r>
              <a:t>tunes: https://arxiv.org/html/2307.09997v2</a:t>
            </a:r>
          </a:p>
          <a:p xmlns:a="http://schemas.openxmlformats.org/drawingml/2006/main">
            <a:r>
              <a:t>tunesRepo: https://gitlab.com/nct_tso_public/tunes</a:t>
            </a:r>
          </a:p>
          <a:p xmlns:a="http://schemas.openxmlformats.org/drawingml/2006/main">
            <a:r>
              <a:t>代码快照：2026-10-07，HEAD b10e78e，采用工作区默认配置。设计差异指实现与组合上的差别，不等同于已证明的学术创新。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57d92054f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2241d8f1e44fef" /><Relationship Type="http://schemas.openxmlformats.org/officeDocument/2006/relationships/slideLayout" Target="/ppt/slideLayouts/slideLayout1.xml" Id="R264de9b723c141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de9b723c141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0ad7483294161" /><Relationship Type="http://schemas.openxmlformats.org/officeDocument/2006/relationships/notesSlide" Target="/ppt/notesSlides/notesSlide1.xml" Id="R2e32ce3849b944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8c2814b9c4de6" /><Relationship Type="http://schemas.openxmlformats.org/officeDocument/2006/relationships/notesSlide" Target="/ppt/notesSlides/notesSlide2.xml" Id="R210965d4053f40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4fb4e8bbd4333" /><Relationship Type="http://schemas.openxmlformats.org/officeDocument/2006/relationships/notesSlide" Target="/ppt/notesSlides/notesSlide3.xml" Id="R03c8a43aa58c42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630c35016473e" /><Relationship Type="http://schemas.openxmlformats.org/officeDocument/2006/relationships/notesSlide" Target="/ppt/notesSlides/notesSlide4.xml" Id="R1f0afc877d1d4d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a959b501c4bb4" /><Relationship Type="http://schemas.openxmlformats.org/officeDocument/2006/relationships/notesSlide" Target="/ppt/notesSlides/notesSlide5.xml" Id="Ra721c89b0fff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76a53178946a2" /><Relationship Type="http://schemas.openxmlformats.org/officeDocument/2006/relationships/notesSlide" Target="/ppt/notesSlides/notesSlide6.xml" Id="R61818ceae1f64c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0fa10c887410d" /><Relationship Type="http://schemas.openxmlformats.org/officeDocument/2006/relationships/hyperlink" Target="https://proceedings.mlr.press/v315/jong26a.html" TargetMode="External" Id="Rf8d522cd9311420b" /><Relationship Type="http://schemas.openxmlformats.org/officeDocument/2006/relationships/hyperlink" Target="https://arxiv.org/html/2304.07193v2" TargetMode="External" Id="Rec28c91ab7234383" /><Relationship Type="http://schemas.openxmlformats.org/officeDocument/2006/relationships/hyperlink" Target="https://arxiv.org/pdf/1903.01945" TargetMode="External" Id="Rf97d9158e64149a9" /><Relationship Type="http://schemas.openxmlformats.org/officeDocument/2006/relationships/hyperlink" Target="https://arxiv.org/pdf/2003.10751" TargetMode="External" Id="R1ed6485538004d73" /><Relationship Type="http://schemas.openxmlformats.org/officeDocument/2006/relationships/hyperlink" Target="https://arxiv.org/html/2307.09997v2" TargetMode="External" Id="R53c0b0f5f6c34413" /><Relationship Type="http://schemas.openxmlformats.org/officeDocument/2006/relationships/notesSlide" Target="/ppt/notesSlides/notesSlide7.xml" Id="R3d6462e7cf9040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geNetDINO 当前算法总览">
            <a:extLst xmlns:a="http://schemas.openxmlformats.org/drawingml/2006/main">
              <a:ext uri="{FF2B5EF4-FFF2-40B4-BE49-F238E27FC236}">
                <a16:creationId xmlns:a16="http://schemas.microsoft.com/office/drawing/2014/main" id="{9E14AE93-78E8-4B64-8803-D9E166E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428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SurgeNetDINO 当前算法总览</a:t>
            </a:r>
          </a:p>
        </p:txBody>
      </p:sp>
      <p:sp>
        <p:nvSpPr>
          <p:cNvPr id="2" name="默认提交路径：冻结图像主干，训练线性头与两级离线时序网络，最后执行约束解码">
            <a:extLst xmlns:a="http://schemas.openxmlformats.org/drawingml/2006/main">
              <a:ext uri="{FF2B5EF4-FFF2-40B4-BE49-F238E27FC236}">
                <a16:creationId xmlns:a16="http://schemas.microsoft.com/office/drawing/2014/main" id="{DDD7BD50-527B-41C6-BCB9-B658529D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424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默认提交路径：冻结图像主干，训练线性头与两级离线时序网络，最后执行约束解码</a:t>
            </a:r>
          </a:p>
        </p:txBody>
      </p:sp>
      <p:sp>
        <p:nvSpPr>
          <p:cNvPr id="3" name="1 / 7">
            <a:extLst xmlns:a="http://schemas.openxmlformats.org/drawingml/2006/main">
              <a:ext uri="{FF2B5EF4-FFF2-40B4-BE49-F238E27FC236}">
                <a16:creationId xmlns:a16="http://schemas.microsoft.com/office/drawing/2014/main" id="{82B304C6-6CF6-46E5-805E-D9BC23FC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1 / 7</a:t>
            </a:r>
          </a:p>
        </p:txBody>
      </p:sp>
      <p:sp>
        <p:nvSpPr>
          <p:cNvPr id="4" name="蓝色：继承的模型模块">
            <a:extLst xmlns:a="http://schemas.openxmlformats.org/drawingml/2006/main">
              <a:ext uri="{FF2B5EF4-FFF2-40B4-BE49-F238E27FC236}">
                <a16:creationId xmlns:a16="http://schemas.microsoft.com/office/drawing/2014/main" id="{D5D223AD-ED75-434B-BCEC-BFF3686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蓝色：继承的模型模块</a:t>
            </a:r>
          </a:p>
        </p:txBody>
      </p:sp>
      <p:sp>
        <p:nvSpPr>
          <p:cNvPr id="5" name="橙色 A–D：本项目的组合与改动">
            <a:extLst xmlns:a="http://schemas.openxmlformats.org/drawingml/2006/main">
              <a:ext uri="{FF2B5EF4-FFF2-40B4-BE49-F238E27FC236}">
                <a16:creationId xmlns:a16="http://schemas.microsoft.com/office/drawing/2014/main" id="{15C7E9F2-1621-46FE-BF51-DFF21835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859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橙色 A–D：本项目的组合与改动</a:t>
            </a:r>
          </a:p>
        </p:txBody>
      </p:sp>
      <p:sp>
        <p:nvSpPr>
          <p:cNvPr id="6" name="绿色：确定性处理与输出">
            <a:extLst xmlns:a="http://schemas.openxmlformats.org/drawingml/2006/main">
              <a:ext uri="{FF2B5EF4-FFF2-40B4-BE49-F238E27FC236}">
                <a16:creationId xmlns:a16="http://schemas.microsoft.com/office/drawing/2014/main" id="{1F5FF961-5009-4D26-92B8-AF6E961F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85925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绿色：确定性处理与输出</a:t>
            </a:r>
          </a:p>
        </p:txBody>
      </p:sp>
      <p:sp>
        <p:nvSpPr>
          <p:cNvPr id="7" name="手术图像序列">
            <a:extLst xmlns:a="http://schemas.openxmlformats.org/drawingml/2006/main">
              <a:ext uri="{FF2B5EF4-FFF2-40B4-BE49-F238E27FC236}">
                <a16:creationId xmlns:a16="http://schemas.microsoft.com/office/drawing/2014/main" id="{E0B9A8A0-4745-48C4-8A61-185C2242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00375"/>
            <a:ext cx="1571625" cy="16002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7145">
            <a:solidFill>
              <a:srgbClr val="737D84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37D84"/>
                </a:solidFill>
                <a:latin typeface="Microsoft YaHei"/>
                <a:ea typeface="Microsoft YaHei"/>
                <a:cs typeface="Microsoft YaHei"/>
              </a:rPr>
              <a:t>手术图像序列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 fps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336 × 336 RGB</a:t>
            </a:r>
          </a:p>
        </p:txBody>
      </p:sp>
      <p:sp>
        <p:nvSpPr>
          <p:cNvPr id="8" name="冻结 DINOv2">
            <a:extLst xmlns:a="http://schemas.openxmlformats.org/drawingml/2006/main">
              <a:ext uri="{FF2B5EF4-FFF2-40B4-BE49-F238E27FC236}">
                <a16:creationId xmlns:a16="http://schemas.microsoft.com/office/drawing/2014/main" id="{A1DAD0B5-E0A4-4521-9A46-55F7015B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0375"/>
            <a:ext cx="19526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冻结 DINOv2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ViT-B/14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SurgeNetXL 权重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CLS + patch 均值</a:t>
            </a:r>
          </a:p>
        </p:txBody>
      </p:sp>
      <p:sp>
        <p:nvSpPr>
          <p:cNvPr id="9" name="A  视频标准化">
            <a:extLst xmlns:a="http://schemas.openxmlformats.org/drawingml/2006/main">
              <a:ext uri="{FF2B5EF4-FFF2-40B4-BE49-F238E27FC236}">
                <a16:creationId xmlns:a16="http://schemas.microsoft.com/office/drawing/2014/main" id="{8FFF5173-AFBD-4684-B60F-A060E6D1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1809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A  视频标准化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每视频自身统计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1536 维特征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不读取阶段标签</a:t>
            </a:r>
          </a:p>
        </p:txBody>
      </p:sp>
      <p:sp>
        <p:nvSpPr>
          <p:cNvPr id="10" name="B  时序输入融合">
            <a:extLst xmlns:a="http://schemas.openxmlformats.org/drawingml/2006/main">
              <a:ext uri="{FF2B5EF4-FFF2-40B4-BE49-F238E27FC236}">
                <a16:creationId xmlns:a16="http://schemas.microsoft.com/office/drawing/2014/main" id="{54B33654-5B1A-4C38-B08A-91C20961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190750" cy="22669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B  时序输入融合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线性头对数概率 13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训练侧 PCA 32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时间与间隙标志 6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拼接为 [51, T]</a:t>
            </a:r>
          </a:p>
        </p:txBody>
      </p:sp>
      <p:sp>
        <p:nvSpPr>
          <p:cNvPr id="11" name="预测级 64 通道">
            <a:extLst xmlns:a="http://schemas.openxmlformats.org/drawingml/2006/main">
              <a:ext uri="{FF2B5EF4-FFF2-40B4-BE49-F238E27FC236}">
                <a16:creationId xmlns:a16="http://schemas.microsoft.com/office/drawing/2014/main" id="{A76691D6-48EF-40BD-A37B-8221B63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95550"/>
            <a:ext cx="2714625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预测级 64 通道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10 层膨胀 TCN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C  全局自注意力</a:t>
            </a:r>
          </a:p>
        </p:txBody>
      </p:sp>
      <p:sp>
        <p:nvSpPr>
          <p:cNvPr id="12" name="细化级 48 通道">
            <a:extLst xmlns:a="http://schemas.openxmlformats.org/drawingml/2006/main">
              <a:ext uri="{FF2B5EF4-FFF2-40B4-BE49-F238E27FC236}">
                <a16:creationId xmlns:a16="http://schemas.microsoft.com/office/drawing/2014/main" id="{7488F490-2F48-4841-A383-7F82D7C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19575"/>
            <a:ext cx="271462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细化级 48 通道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第一级 softmax 输入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10 层膨胀 TCN</a:t>
            </a:r>
          </a:p>
        </p:txBody>
      </p:sp>
      <p:sp>
        <p:nvSpPr>
          <p:cNvPr id="13" name="5 个种子集成">
            <a:extLst xmlns:a="http://schemas.openxmlformats.org/drawingml/2006/main">
              <a:ext uri="{FF2B5EF4-FFF2-40B4-BE49-F238E27FC236}">
                <a16:creationId xmlns:a16="http://schemas.microsoft.com/office/drawing/2014/main" id="{AEF4480A-81B2-4FD1-8A0C-E94F754A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000375"/>
            <a:ext cx="27146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17145">
            <a:solidFill>
              <a:srgbClr val="2F6F59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5 个种子集成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平均最终对数概率</a:t>
            </a:r>
          </a:p>
        </p:txBody>
      </p:sp>
      <p:sp>
        <p:nvSpPr>
          <p:cNvPr id="14" name="D  精确约束解码">
            <a:extLst xmlns:a="http://schemas.openxmlformats.org/drawingml/2006/main">
              <a:ext uri="{FF2B5EF4-FFF2-40B4-BE49-F238E27FC236}">
                <a16:creationId xmlns:a16="http://schemas.microsoft.com/office/drawing/2014/main" id="{AAE508DC-25E6-4D06-AAA3-ABCF681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38675"/>
            <a:ext cx="27146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D  精确约束解码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先后顺序 + 单段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训练侧最短块长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52625" y="38004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191000" y="38004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286500" y="38004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763000" y="3081338"/>
            <a:ext cx="333375" cy="719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61717D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453688" y="36671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20" name="softmax [13, T]">
            <a:extLst xmlns:a="http://schemas.openxmlformats.org/drawingml/2006/main">
              <a:ext uri="{FF2B5EF4-FFF2-40B4-BE49-F238E27FC236}">
                <a16:creationId xmlns:a16="http://schemas.microsoft.com/office/drawing/2014/main" id="{3EB3B5EA-6D70-40D0-A87D-08F95774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719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softmax [13, T]</a:t>
            </a:r>
          </a:p>
        </p:txBody>
      </p: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1811000" y="3486150"/>
            <a:ext cx="285750" cy="1290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61717D"/>
            </a:solidFill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454063" y="39719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23" name="N 个有效帧的 13 类阶段">
            <a:extLst xmlns:a="http://schemas.openxmlformats.org/drawingml/2006/main">
              <a:ext uri="{FF2B5EF4-FFF2-40B4-BE49-F238E27FC236}">
                <a16:creationId xmlns:a16="http://schemas.microsoft.com/office/drawing/2014/main" id="{435A7584-0096-4471-B1AE-90791314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09600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N 个有效帧的 13 类阶段</a:t>
            </a:r>
          </a:p>
        </p:txBody>
      </p:sp>
      <p:sp>
        <p:nvSpPr>
          <p:cNvPr id="24" name="图像主干全程冻结">
            <a:extLst xmlns:a="http://schemas.openxmlformats.org/drawingml/2006/main">
              <a:ext uri="{FF2B5EF4-FFF2-40B4-BE49-F238E27FC236}">
                <a16:creationId xmlns:a16="http://schemas.microsoft.com/office/drawing/2014/main" id="{60775A1F-57BD-44D9-B1BC-B0C2FCF3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图像主干全程冻结</a:t>
            </a:r>
          </a:p>
        </p:txBody>
      </p:sp>
      <p:sp>
        <p:nvSpPr>
          <p:cNvPr id="25" name="单网络 299,786 参数">
            <a:extLst xmlns:a="http://schemas.openxmlformats.org/drawingml/2006/main">
              <a:ext uri="{FF2B5EF4-FFF2-40B4-BE49-F238E27FC236}">
                <a16:creationId xmlns:a16="http://schemas.microsoft.com/office/drawing/2014/main" id="{21454AE5-1675-45F8-8A84-40D6B890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673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单网络 299,786 参数</a:t>
            </a:r>
          </a:p>
        </p:txBody>
      </p:sp>
      <p:sp>
        <p:nvSpPr>
          <p:cNvPr id="26" name="读取同一视频的完整序列&#10;包括过去与未来，属于离线识别">
            <a:extLst xmlns:a="http://schemas.openxmlformats.org/drawingml/2006/main">
              <a:ext uri="{FF2B5EF4-FFF2-40B4-BE49-F238E27FC236}">
                <a16:creationId xmlns:a16="http://schemas.microsoft.com/office/drawing/2014/main" id="{9CDC898D-8E4D-41A5-BF65-375CB40E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1020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读取同一视频的完整序列</a:t>
            </a:r>
          </a:p>
          <a:p xmlns:a="http://schemas.openxmlformats.org/drawingml/2006/main">
            <a:pPr algn="l">
              <a:defRPr sz="202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包括过去与未来，属于离线识别</a:t>
            </a:r>
          </a:p>
        </p:txBody>
      </p:sp>
      <p:sp>
        <p:nvSpPr>
          <p:cNvPr id="27" name="A  标准化与交叉拟合">
            <a:extLst xmlns:a="http://schemas.openxmlformats.org/drawingml/2006/main">
              <a:ext uri="{FF2B5EF4-FFF2-40B4-BE49-F238E27FC236}">
                <a16:creationId xmlns:a16="http://schemas.microsoft.com/office/drawing/2014/main" id="{8322E2F8-6549-4663-91E8-B0F6BD81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0"/>
            <a:ext cx="3409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A  标准化与交叉拟合</a:t>
            </a:r>
          </a:p>
        </p:txBody>
      </p:sp>
      <p:sp>
        <p:nvSpPr>
          <p:cNvPr id="28" name="训练输入来自未见过该视频的头&#10;推理加载全部训练视频拟合的头">
            <a:extLst xmlns:a="http://schemas.openxmlformats.org/drawingml/2006/main">
              <a:ext uri="{FF2B5EF4-FFF2-40B4-BE49-F238E27FC236}">
                <a16:creationId xmlns:a16="http://schemas.microsoft.com/office/drawing/2014/main" id="{E47F8A05-C36A-41EF-B933-BA5FC60B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86625"/>
            <a:ext cx="3457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训练输入来自未见过该视频的头</a:t>
            </a:r>
          </a:p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推理加载全部训练视频拟合的头</a:t>
            </a:r>
          </a:p>
        </p:txBody>
      </p:sp>
      <p:sp>
        <p:nvSpPr>
          <p:cNvPr id="29" name="B  51 维组合输入">
            <a:extLst xmlns:a="http://schemas.openxmlformats.org/drawingml/2006/main">
              <a:ext uri="{FF2B5EF4-FFF2-40B4-BE49-F238E27FC236}">
                <a16:creationId xmlns:a16="http://schemas.microsoft.com/office/drawing/2014/main" id="{81D451A2-66DA-4A01-9280-CF242CF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858000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B  51 维组合输入</a:t>
            </a:r>
          </a:p>
        </p:txBody>
      </p:sp>
      <p:sp>
        <p:nvSpPr>
          <p:cNvPr id="30" name="类别证据、视觉低维表示&#10;与可观测时间信息共同输入">
            <a:extLst xmlns:a="http://schemas.openxmlformats.org/drawingml/2006/main">
              <a:ext uri="{FF2B5EF4-FFF2-40B4-BE49-F238E27FC236}">
                <a16:creationId xmlns:a16="http://schemas.microsoft.com/office/drawing/2014/main" id="{424B64DE-2CFA-4FC7-90E9-3679FE4A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286625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类别证据、视觉低维表示</a:t>
            </a:r>
          </a:p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与可观测时间信息共同输入</a:t>
            </a:r>
          </a:p>
        </p:txBody>
      </p:sp>
      <p:sp>
        <p:nvSpPr>
          <p:cNvPr id="31" name="C  TCN 加全局注意力">
            <a:extLst xmlns:a="http://schemas.openxmlformats.org/drawingml/2006/main">
              <a:ext uri="{FF2B5EF4-FFF2-40B4-BE49-F238E27FC236}">
                <a16:creationId xmlns:a16="http://schemas.microsoft.com/office/drawing/2014/main" id="{0D11A5E9-40B9-4B69-BA1D-5ACF06F3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85800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C  TCN 加全局注意力</a:t>
            </a:r>
          </a:p>
        </p:txBody>
      </p:sp>
      <p:sp>
        <p:nvSpPr>
          <p:cNvPr id="32" name="保持两级细化结构&#10;在预测级加入 1/16 分辨率注意力">
            <a:extLst xmlns:a="http://schemas.openxmlformats.org/drawingml/2006/main">
              <a:ext uri="{FF2B5EF4-FFF2-40B4-BE49-F238E27FC236}">
                <a16:creationId xmlns:a16="http://schemas.microsoft.com/office/drawing/2014/main" id="{1CE2575D-894F-449E-8160-EE8EA76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286625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保持两级细化结构</a:t>
            </a:r>
          </a:p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在预测级加入 1/16 分辨率注意力</a:t>
            </a:r>
          </a:p>
        </p:txBody>
      </p:sp>
      <p:sp>
        <p:nvSpPr>
          <p:cNvPr id="33" name="D  网络后的硬规则">
            <a:extLst xmlns:a="http://schemas.openxmlformats.org/drawingml/2006/main">
              <a:ext uri="{FF2B5EF4-FFF2-40B4-BE49-F238E27FC236}">
                <a16:creationId xmlns:a16="http://schemas.microsoft.com/office/drawing/2014/main" id="{8FFA1CC4-785D-4CFB-B782-6B2EE93E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858000"/>
            <a:ext cx="320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D  网络后的硬规则</a:t>
            </a:r>
          </a:p>
        </p:txBody>
      </p:sp>
      <p:sp>
        <p:nvSpPr>
          <p:cNvPr id="34" name="从训练标签读出规则&#10;精确搜索满足规则的最佳序列">
            <a:extLst xmlns:a="http://schemas.openxmlformats.org/drawingml/2006/main">
              <a:ext uri="{FF2B5EF4-FFF2-40B4-BE49-F238E27FC236}">
                <a16:creationId xmlns:a16="http://schemas.microsoft.com/office/drawing/2014/main" id="{DEF08044-99E0-4DD5-B818-6B92648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286625"/>
            <a:ext cx="320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从训练标签读出规则</a:t>
            </a:r>
          </a:p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精确搜索满足规则的最佳序列</a:t>
            </a:r>
          </a:p>
        </p:txBody>
      </p:sp>
    </p:spTree>
    <p:extLst>
      <p:ext uri="{BB962C8B-B14F-4D97-AF65-F5344CB8AC3E}">
        <p14:creationId xmlns:p14="http://schemas.microsoft.com/office/powerpoint/2010/main" val="1173345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视觉特征与 51 维输入">
            <a:extLst xmlns:a="http://schemas.openxmlformats.org/drawingml/2006/main">
              <a:ext uri="{FF2B5EF4-FFF2-40B4-BE49-F238E27FC236}">
                <a16:creationId xmlns:a16="http://schemas.microsoft.com/office/drawing/2014/main" id="{DD32BD20-768C-49C1-988C-3A87470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428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视觉特征与 51 维输入</a:t>
            </a:r>
          </a:p>
        </p:txBody>
      </p:sp>
      <p:sp>
        <p:nvSpPr>
          <p:cNvPr id="2" name="采用最后一层 CLS 与全局 patch 均值，图像编码器使用 timm 原生实现">
            <a:extLst xmlns:a="http://schemas.openxmlformats.org/drawingml/2006/main">
              <a:ext uri="{FF2B5EF4-FFF2-40B4-BE49-F238E27FC236}">
                <a16:creationId xmlns:a16="http://schemas.microsoft.com/office/drawing/2014/main" id="{607C09F3-7CFE-433F-BFE0-7CE12B9C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424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采用最后一层 CLS 与全局 patch 均值，图像编码器使用 timm 原生实现</a:t>
            </a:r>
          </a:p>
        </p:txBody>
      </p:sp>
      <p:sp>
        <p:nvSpPr>
          <p:cNvPr id="3" name="2 / 7">
            <a:extLst xmlns:a="http://schemas.openxmlformats.org/drawingml/2006/main">
              <a:ext uri="{FF2B5EF4-FFF2-40B4-BE49-F238E27FC236}">
                <a16:creationId xmlns:a16="http://schemas.microsoft.com/office/drawing/2014/main" id="{1CD60AA1-7810-4DE5-9CD1-C1F27738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2 / 7</a:t>
            </a:r>
          </a:p>
        </p:txBody>
      </p:sp>
      <p:sp>
        <p:nvSpPr>
          <p:cNvPr id="4" name="每张输入图像">
            <a:extLst xmlns:a="http://schemas.openxmlformats.org/drawingml/2006/main">
              <a:ext uri="{FF2B5EF4-FFF2-40B4-BE49-F238E27FC236}">
                <a16:creationId xmlns:a16="http://schemas.microsoft.com/office/drawing/2014/main" id="{BE9C2877-9AE8-4294-8727-66989F2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7145">
            <a:solidFill>
              <a:srgbClr val="737D84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7D84"/>
                </a:solidFill>
                <a:latin typeface="Microsoft YaHei"/>
                <a:ea typeface="Microsoft YaHei"/>
                <a:cs typeface="Microsoft YaHei"/>
              </a:rPr>
              <a:t>每张输入图像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RGB 336 × 336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双三次缩放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均值 / 标准差归一化</a:t>
            </a:r>
          </a:p>
        </p:txBody>
      </p:sp>
      <p:sp>
        <p:nvSpPr>
          <p:cNvPr id="5" name="Patch embedding">
            <a:extLst xmlns:a="http://schemas.openxmlformats.org/drawingml/2006/main">
              <a:ext uri="{FF2B5EF4-FFF2-40B4-BE49-F238E27FC236}">
                <a16:creationId xmlns:a16="http://schemas.microsoft.com/office/drawing/2014/main" id="{59F72755-78D2-4A68-8F5D-85984D42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Patch embedding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14 × 14 像素 / patch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共 576 个 patches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追加 1 个 CLS token</a:t>
            </a:r>
          </a:p>
        </p:txBody>
      </p:sp>
      <p:sp>
        <p:nvSpPr>
          <p:cNvPr id="6" name="ViT-B/14">
            <a:extLst xmlns:a="http://schemas.openxmlformats.org/drawingml/2006/main">
              <a:ext uri="{FF2B5EF4-FFF2-40B4-BE49-F238E27FC236}">
                <a16:creationId xmlns:a16="http://schemas.microsoft.com/office/drawing/2014/main" id="{095F772F-7B7B-44A1-93EA-3BC92E5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00250"/>
            <a:ext cx="3305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ViT-B/14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12 个 Transformer block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维度 768，12 个注意力头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全程冻结，无 register token</a:t>
            </a:r>
          </a:p>
        </p:txBody>
      </p:sp>
      <p:sp>
        <p:nvSpPr>
          <p:cNvPr id="7" name="最后一层 token">
            <a:extLst xmlns:a="http://schemas.openxmlformats.org/drawingml/2006/main">
              <a:ext uri="{FF2B5EF4-FFF2-40B4-BE49-F238E27FC236}">
                <a16:creationId xmlns:a16="http://schemas.microsoft.com/office/drawing/2014/main" id="{D8F34B29-704E-4928-8074-91A2596A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00250"/>
            <a:ext cx="2428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最后一层 token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[N, 577, 768]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经过最终归一化</a:t>
            </a:r>
          </a:p>
        </p:txBody>
      </p:sp>
      <p:sp>
        <p:nvSpPr>
          <p:cNvPr id="8" name="特征读出">
            <a:extLst xmlns:a="http://schemas.openxmlformats.org/drawingml/2006/main">
              <a:ext uri="{FF2B5EF4-FFF2-40B4-BE49-F238E27FC236}">
                <a16:creationId xmlns:a16="http://schemas.microsoft.com/office/drawing/2014/main" id="{70A46C53-F171-41E1-93EE-D2DF147B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000250"/>
            <a:ext cx="2343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特征读出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CLS 768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patch 平均 768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拼接为 [N, 1536]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76500" y="29051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467350" y="29051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63050" y="2905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2001500" y="2905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13" name="A  按视频标准化后的特征 z">
            <a:extLst xmlns:a="http://schemas.openxmlformats.org/drawingml/2006/main">
              <a:ext uri="{FF2B5EF4-FFF2-40B4-BE49-F238E27FC236}">
                <a16:creationId xmlns:a16="http://schemas.microsoft.com/office/drawing/2014/main" id="{137E8C6F-D0C6-4907-97AF-2B605949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10075"/>
            <a:ext cx="4600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A  按视频标准化后的特征 z</a:t>
            </a:r>
          </a:p>
        </p:txBody>
      </p:sp>
      <p:sp>
        <p:nvSpPr>
          <p:cNvPr id="14" name="z = (f − μ视频) / σ视频">
            <a:extLst xmlns:a="http://schemas.openxmlformats.org/drawingml/2006/main">
              <a:ext uri="{FF2B5EF4-FFF2-40B4-BE49-F238E27FC236}">
                <a16:creationId xmlns:a16="http://schemas.microsoft.com/office/drawing/2014/main" id="{2A302213-2757-496E-BAE9-E5E6ED5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10150"/>
            <a:ext cx="4410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z = (f − μ视频) / σ视频</a:t>
            </a:r>
          </a:p>
        </p:txBody>
      </p:sp>
      <p:sp>
        <p:nvSpPr>
          <p:cNvPr id="15" name="每个视频使用自身无标签统计。&#10;训练与推理采用相同处理。&#10;PCA 的投影参数仅由训练侧拟合。">
            <a:extLst xmlns:a="http://schemas.openxmlformats.org/drawingml/2006/main">
              <a:ext uri="{FF2B5EF4-FFF2-40B4-BE49-F238E27FC236}">
                <a16:creationId xmlns:a16="http://schemas.microsoft.com/office/drawing/2014/main" id="{0602A954-F578-4DA6-9C70-BB771610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05475"/>
            <a:ext cx="4457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每个视频使用自身无标签统计。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训练与推理采用相同处理。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PCA 的投影参数仅由训练侧拟合。</a:t>
            </a:r>
          </a:p>
        </p:txBody>
      </p:sp>
      <p:sp>
        <p:nvSpPr>
          <p:cNvPr id="16" name="阶段证据 13 维">
            <a:extLst xmlns:a="http://schemas.openxmlformats.org/drawingml/2006/main">
              <a:ext uri="{FF2B5EF4-FFF2-40B4-BE49-F238E27FC236}">
                <a16:creationId xmlns:a16="http://schemas.microsoft.com/office/drawing/2014/main" id="{67F2616A-7AD3-452D-954C-4EC3BE1A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71975"/>
            <a:ext cx="41814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阶段证据 13 维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Dropout 0.1 + Linear(1536, 13)</a:t>
            </a:r>
          </a:p>
        </p:txBody>
      </p:sp>
      <p:sp>
        <p:nvSpPr>
          <p:cNvPr id="17" name="视觉表示 32 维">
            <a:extLst xmlns:a="http://schemas.openxmlformats.org/drawingml/2006/main">
              <a:ext uri="{FF2B5EF4-FFF2-40B4-BE49-F238E27FC236}">
                <a16:creationId xmlns:a16="http://schemas.microsoft.com/office/drawing/2014/main" id="{6531D2F7-B972-46F7-A91A-B79667A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610225"/>
            <a:ext cx="41814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视觉表示 32 维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PCA 投影后按特征值标准化</a:t>
            </a:r>
          </a:p>
        </p:txBody>
      </p:sp>
      <p:sp>
        <p:nvSpPr>
          <p:cNvPr id="18" name="可观测标志 6 维">
            <a:extLst xmlns:a="http://schemas.openxmlformats.org/drawingml/2006/main">
              <a:ext uri="{FF2B5EF4-FFF2-40B4-BE49-F238E27FC236}">
                <a16:creationId xmlns:a16="http://schemas.microsoft.com/office/drawing/2014/main" id="{C84FBCF5-1A6A-412F-BCDF-2FBE064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848475"/>
            <a:ext cx="41814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可观测标志 6 维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缺帧、长间隙、间隙后、进度与时间</a:t>
            </a:r>
          </a:p>
        </p:txBody>
      </p:sp>
      <p:sp>
        <p:nvSpPr>
          <p:cNvPr id="19" name="B  沿通道拼接">
            <a:extLst xmlns:a="http://schemas.openxmlformats.org/drawingml/2006/main">
              <a:ext uri="{FF2B5EF4-FFF2-40B4-BE49-F238E27FC236}">
                <a16:creationId xmlns:a16="http://schemas.microsoft.com/office/drawing/2014/main" id="{04B871D7-7A61-4777-A6B9-39039821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410200"/>
            <a:ext cx="375285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B  沿通道拼接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[51, T]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13 + 32 + 6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缺帧秒的证据与 PCA 填零</a:t>
            </a:r>
          </a:p>
        </p:txBody>
      </p: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629775" y="4838700"/>
            <a:ext cx="3248025" cy="571500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629775" y="6076950"/>
            <a:ext cx="1371600" cy="3190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8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9629775" y="7315200"/>
            <a:ext cx="3248025" cy="295275"/>
          </a:xfrm>
          <a:prstGeom xmlns:a="http://schemas.openxmlformats.org/drawingml/2006/main" prst="bentConnector4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23" name="旧单帧基线：仅 CLS 768 维，接 Linear(768, 13)，独立于当前时序路径">
            <a:extLst xmlns:a="http://schemas.openxmlformats.org/drawingml/2006/main">
              <a:ext uri="{FF2B5EF4-FFF2-40B4-BE49-F238E27FC236}">
                <a16:creationId xmlns:a16="http://schemas.microsoft.com/office/drawing/2014/main" id="{73ECA4A5-6C95-4534-A3B4-81B6C564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048625"/>
            <a:ext cx="1285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旧单帧基线：仅 CLS 768 维，接 Linear(768, 13)，独立于当前时序路径</a:t>
            </a:r>
          </a:p>
        </p:txBody>
      </p:sp>
    </p:spTree>
    <p:extLst>
      <p:ext uri="{BB962C8B-B14F-4D97-AF65-F5344CB8AC3E}">
        <p14:creationId xmlns:p14="http://schemas.microsoft.com/office/powerpoint/2010/main" val="940761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两级时序网络内部结构">
            <a:extLst xmlns:a="http://schemas.openxmlformats.org/drawingml/2006/main">
              <a:ext uri="{FF2B5EF4-FFF2-40B4-BE49-F238E27FC236}">
                <a16:creationId xmlns:a16="http://schemas.microsoft.com/office/drawing/2014/main" id="{68392C82-3B1E-4ED8-841C-3265393B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428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两级时序网络内部结构</a:t>
            </a:r>
          </a:p>
        </p:txBody>
      </p:sp>
      <p:sp>
        <p:nvSpPr>
          <p:cNvPr id="2" name="每层使用双侧 padding，预测级汇聚全视频上下文，细化级只读取第一级概率">
            <a:extLst xmlns:a="http://schemas.openxmlformats.org/drawingml/2006/main">
              <a:ext uri="{FF2B5EF4-FFF2-40B4-BE49-F238E27FC236}">
                <a16:creationId xmlns:a16="http://schemas.microsoft.com/office/drawing/2014/main" id="{16F34B95-04E2-401B-95B2-EC44B267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424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每层使用双侧 padding，预测级汇聚全视频上下文，细化级只读取第一级概率</a:t>
            </a:r>
          </a:p>
        </p:txBody>
      </p:sp>
      <p:sp>
        <p:nvSpPr>
          <p:cNvPr id="3" name="3 / 7">
            <a:extLst xmlns:a="http://schemas.openxmlformats.org/drawingml/2006/main">
              <a:ext uri="{FF2B5EF4-FFF2-40B4-BE49-F238E27FC236}">
                <a16:creationId xmlns:a16="http://schemas.microsoft.com/office/drawing/2014/main" id="{D03ACE38-096C-4B51-AEBC-1B05285E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3 / 7</a:t>
            </a:r>
          </a:p>
        </p:txBody>
      </p:sp>
      <p:sp>
        <p:nvSpPr>
          <p:cNvPr id="4" name="预测级">
            <a:extLst xmlns:a="http://schemas.openxmlformats.org/drawingml/2006/main">
              <a:ext uri="{FF2B5EF4-FFF2-40B4-BE49-F238E27FC236}">
                <a16:creationId xmlns:a16="http://schemas.microsoft.com/office/drawing/2014/main" id="{454B8E2F-6DBC-45BF-B694-A3FDC75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预测级</a:t>
            </a:r>
          </a:p>
        </p:txBody>
      </p:sp>
      <p:sp>
        <p:nvSpPr>
          <p:cNvPr id="5" name="输入">
            <a:extLst xmlns:a="http://schemas.openxmlformats.org/drawingml/2006/main">
              <a:ext uri="{FF2B5EF4-FFF2-40B4-BE49-F238E27FC236}">
                <a16:creationId xmlns:a16="http://schemas.microsoft.com/office/drawing/2014/main" id="{3A9F3B5A-881B-47AF-B435-D00C89CA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62175"/>
            <a:ext cx="1657350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[51, T]</a:t>
            </a:r>
          </a:p>
          <a:p xmlns:a="http://schemas.openxmlformats.org/drawingml/2006/main">
            <a:pPr algn="ctr">
              <a:spcAft>
                <a:spcPts val="350"/>
              </a:spcAft>
              <a:defRPr sz="1650"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失活率 0.15</a:t>
            </a:r>
          </a:p>
        </p:txBody>
      </p:sp>
      <p:sp>
        <p:nvSpPr>
          <p:cNvPr id="6" name="1 × 1 Conv">
            <a:extLst xmlns:a="http://schemas.openxmlformats.org/drawingml/2006/main">
              <a:ext uri="{FF2B5EF4-FFF2-40B4-BE49-F238E27FC236}">
                <a16:creationId xmlns:a16="http://schemas.microsoft.com/office/drawing/2014/main" id="{9B51AE21-1E28-467D-B9D4-B5224F6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62175"/>
            <a:ext cx="1885950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1 × 1 Conv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51 → 64</a:t>
            </a:r>
          </a:p>
        </p:txBody>
      </p:sp>
      <p:sp>
        <p:nvSpPr>
          <p:cNvPr id="7" name="10 个残差膨胀块">
            <a:extLst xmlns:a="http://schemas.openxmlformats.org/drawingml/2006/main">
              <a:ext uri="{FF2B5EF4-FFF2-40B4-BE49-F238E27FC236}">
                <a16:creationId xmlns:a16="http://schemas.microsoft.com/office/drawing/2014/main" id="{550F5A66-E418-44CF-BC88-0EF450FB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62175"/>
            <a:ext cx="3105150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10 个残差膨胀块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64 通道，kernel = 3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d = 1, 2, …, 512</a:t>
            </a:r>
          </a:p>
        </p:txBody>
      </p:sp>
      <p:sp>
        <p:nvSpPr>
          <p:cNvPr id="8" name="＋">
            <a:extLst xmlns:a="http://schemas.openxmlformats.org/drawingml/2006/main">
              <a:ext uri="{FF2B5EF4-FFF2-40B4-BE49-F238E27FC236}">
                <a16:creationId xmlns:a16="http://schemas.microsoft.com/office/drawing/2014/main" id="{CFB5BD50-D66D-4017-A732-6C6B7364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333625"/>
            <a:ext cx="571500" cy="7048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2400"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9" name="LN + Conv1×1">
            <a:extLst xmlns:a="http://schemas.openxmlformats.org/drawingml/2006/main">
              <a:ext uri="{FF2B5EF4-FFF2-40B4-BE49-F238E27FC236}">
                <a16:creationId xmlns:a16="http://schemas.microsoft.com/office/drawing/2014/main" id="{C9FB7169-15E9-43A5-B3A9-D016115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2162175"/>
            <a:ext cx="231457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LN + Conv1×1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64 → 13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第一级 logits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43125" y="2719388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10050" y="271938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677150" y="2686050"/>
            <a:ext cx="3867150" cy="33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2115800" y="2686050"/>
            <a:ext cx="333375" cy="33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14" name="平均池化">
            <a:extLst xmlns:a="http://schemas.openxmlformats.org/drawingml/2006/main">
              <a:ext uri="{FF2B5EF4-FFF2-40B4-BE49-F238E27FC236}">
                <a16:creationId xmlns:a16="http://schemas.microsoft.com/office/drawing/2014/main" id="{22A73EC6-F731-4311-9666-EE30437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22288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平均池化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T → ceil(T/16)</a:t>
            </a:r>
          </a:p>
        </p:txBody>
      </p:sp>
      <p:sp>
        <p:nvSpPr>
          <p:cNvPr id="15" name="C  自注意力 + MLP">
            <a:extLst xmlns:a="http://schemas.openxmlformats.org/drawingml/2006/main">
              <a:ext uri="{FF2B5EF4-FFF2-40B4-BE49-F238E27FC236}">
                <a16:creationId xmlns:a16="http://schemas.microsoft.com/office/drawing/2014/main" id="{677A5D65-5631-48AE-AA76-E4B4FAD2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43325"/>
            <a:ext cx="30956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C  自注意力 + MLP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 层，4 头，64 通道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带符号相对位置偏置</a:t>
            </a:r>
          </a:p>
        </p:txBody>
      </p:sp>
      <p:sp>
        <p:nvSpPr>
          <p:cNvPr id="16" name="线性插值">
            <a:extLst xmlns:a="http://schemas.openxmlformats.org/drawingml/2006/main">
              <a:ext uri="{FF2B5EF4-FFF2-40B4-BE49-F238E27FC236}">
                <a16:creationId xmlns:a16="http://schemas.microsoft.com/office/drawing/2014/main" id="{12E2598D-18FA-44BB-BB7C-F2732906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905250"/>
            <a:ext cx="26384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线性插值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恢复为 [64, T]</a:t>
            </a:r>
          </a:p>
        </p:txBody>
      </p:sp>
      <p:cxnSp>
        <p:nvCxnSpPr>
          <p:cNvPr id="48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124575" y="3276600"/>
            <a:ext cx="1009650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48650" y="4371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1725275" y="4371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6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11830050" y="3038475"/>
            <a:ext cx="1614488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21" name="主支路保持逐秒分辨率&#10;仅注意力支路做池化">
            <a:extLst xmlns:a="http://schemas.openxmlformats.org/drawingml/2006/main">
              <a:ext uri="{FF2B5EF4-FFF2-40B4-BE49-F238E27FC236}">
                <a16:creationId xmlns:a16="http://schemas.microsoft.com/office/drawing/2014/main" id="{31C9540E-102E-4B51-A939-E9605551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主支路保持逐秒分辨率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仅注意力支路做池化</a:t>
            </a:r>
          </a:p>
        </p:txBody>
      </p:sp>
      <p:sp>
        <p:nvSpPr>
          <p:cNvPr id="22" name="细化级">
            <a:extLst xmlns:a="http://schemas.openxmlformats.org/drawingml/2006/main">
              <a:ext uri="{FF2B5EF4-FFF2-40B4-BE49-F238E27FC236}">
                <a16:creationId xmlns:a16="http://schemas.microsoft.com/office/drawing/2014/main" id="{970CDB4F-9B63-40C1-B93E-39BD59E0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72100"/>
            <a:ext cx="190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细化级</a:t>
            </a:r>
          </a:p>
        </p:txBody>
      </p:sp>
      <p:sp>
        <p:nvSpPr>
          <p:cNvPr id="23" name="第一级 softmax">
            <a:extLst xmlns:a="http://schemas.openxmlformats.org/drawingml/2006/main">
              <a:ext uri="{FF2B5EF4-FFF2-40B4-BE49-F238E27FC236}">
                <a16:creationId xmlns:a16="http://schemas.microsoft.com/office/drawing/2014/main" id="{1D6800D4-6B7F-4637-B16D-80363F1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000750"/>
            <a:ext cx="25336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第一级 softmax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[13, T]</a:t>
            </a:r>
          </a:p>
        </p:txBody>
      </p:sp>
      <p:sp>
        <p:nvSpPr>
          <p:cNvPr id="24" name="1 × 1 Conv">
            <a:extLst xmlns:a="http://schemas.openxmlformats.org/drawingml/2006/main">
              <a:ext uri="{FF2B5EF4-FFF2-40B4-BE49-F238E27FC236}">
                <a16:creationId xmlns:a16="http://schemas.microsoft.com/office/drawing/2014/main" id="{BA621C6A-1400-4021-9A8C-24CA912D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00750"/>
            <a:ext cx="23812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1 × 1 Conv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13 → 48</a:t>
            </a:r>
          </a:p>
        </p:txBody>
      </p:sp>
      <p:sp>
        <p:nvSpPr>
          <p:cNvPr id="25" name="10 个残差膨胀块">
            <a:extLst xmlns:a="http://schemas.openxmlformats.org/drawingml/2006/main">
              <a:ext uri="{FF2B5EF4-FFF2-40B4-BE49-F238E27FC236}">
                <a16:creationId xmlns:a16="http://schemas.microsoft.com/office/drawing/2014/main" id="{5A2757B4-F114-4299-97BA-D12DAF35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000750"/>
            <a:ext cx="401002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10 个残差膨胀块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48 通道，d = 1 … 512</a:t>
            </a:r>
          </a:p>
        </p:txBody>
      </p:sp>
      <p:sp>
        <p:nvSpPr>
          <p:cNvPr id="26" name="LN + 1 × 1 Conv">
            <a:extLst xmlns:a="http://schemas.openxmlformats.org/drawingml/2006/main">
              <a:ext uri="{FF2B5EF4-FFF2-40B4-BE49-F238E27FC236}">
                <a16:creationId xmlns:a16="http://schemas.microsoft.com/office/drawing/2014/main" id="{F5975522-60D2-4E6E-93C8-E67A99E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000750"/>
            <a:ext cx="404812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LN + 1 × 1 Conv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48 → 13，最终 logits</a:t>
            </a:r>
          </a:p>
        </p:txBody>
      </p: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19425" y="652938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10250" y="65293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0258425" y="65293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30" name="残差块：通道 LN、膨胀 Conv、GELU、1×1 Conv、Dropout 0.3，再加回输">
            <a:extLst xmlns:a="http://schemas.openxmlformats.org/drawingml/2006/main">
              <a:ext uri="{FF2B5EF4-FFF2-40B4-BE49-F238E27FC236}">
                <a16:creationId xmlns:a16="http://schemas.microsoft.com/office/drawing/2014/main" id="{DEA43289-4B70-46B8-A613-2B64F3C6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372350"/>
            <a:ext cx="1427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残差块：通道 LN、膨胀 Conv、GELU、1×1 Conv、Dropout 0.3，再加回输入</a:t>
            </a:r>
          </a:p>
        </p:txBody>
      </p:sp>
      <p:sp>
        <p:nvSpPr>
          <p:cNvPr id="31" name="两个级分别训练：掩码 CE（标签平滑 0.05） + 0.15 × 截断对数概率平滑损失">
            <a:extLst xmlns:a="http://schemas.openxmlformats.org/drawingml/2006/main">
              <a:ext uri="{FF2B5EF4-FFF2-40B4-BE49-F238E27FC236}">
                <a16:creationId xmlns:a16="http://schemas.microsoft.com/office/drawing/2014/main" id="{B0FA2CE0-75DC-466D-9AA4-5AC24640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88670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两个级分别训练：掩码 CE（标签平滑 0.05） + 0.15 × 截断对数概率平滑损失</a:t>
            </a:r>
          </a:p>
        </p:txBody>
      </p:sp>
    </p:spTree>
    <p:extLst>
      <p:ext uri="{BB962C8B-B14F-4D97-AF65-F5344CB8AC3E}">
        <p14:creationId xmlns:p14="http://schemas.microsoft.com/office/powerpoint/2010/main" val="1672693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训练与推理的数据路径">
            <a:extLst xmlns:a="http://schemas.openxmlformats.org/drawingml/2006/main">
              <a:ext uri="{FF2B5EF4-FFF2-40B4-BE49-F238E27FC236}">
                <a16:creationId xmlns:a16="http://schemas.microsoft.com/office/drawing/2014/main" id="{7A29D80D-8D68-4C65-9017-0A198FC4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428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训练与推理的数据路径</a:t>
            </a:r>
          </a:p>
        </p:txBody>
      </p:sp>
      <p:sp>
        <p:nvSpPr>
          <p:cNvPr id="2" name="交叉拟合用于生成时序训练输入，推理加载一个线性头及五个时序网络">
            <a:extLst xmlns:a="http://schemas.openxmlformats.org/drawingml/2006/main">
              <a:ext uri="{FF2B5EF4-FFF2-40B4-BE49-F238E27FC236}">
                <a16:creationId xmlns:a16="http://schemas.microsoft.com/office/drawing/2014/main" id="{E9B937F1-DEF2-4B19-8D71-42B2293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424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交叉拟合用于生成时序训练输入，推理加载一个线性头及五个时序网络</a:t>
            </a:r>
          </a:p>
        </p:txBody>
      </p:sp>
      <p:sp>
        <p:nvSpPr>
          <p:cNvPr id="3" name="4 / 7">
            <a:extLst xmlns:a="http://schemas.openxmlformats.org/drawingml/2006/main">
              <a:ext uri="{FF2B5EF4-FFF2-40B4-BE49-F238E27FC236}">
                <a16:creationId xmlns:a16="http://schemas.microsoft.com/office/drawing/2014/main" id="{AE709DD5-AC9C-43B6-86BF-762E69E3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4 / 7</a:t>
            </a:r>
          </a:p>
        </p:txBody>
      </p:sp>
      <p:sp>
        <p:nvSpPr>
          <p:cNvPr id="4" name="外层四折开发评估，每折按整台手术分组">
            <a:extLst xmlns:a="http://schemas.openxmlformats.org/drawingml/2006/main">
              <a:ext uri="{FF2B5EF4-FFF2-40B4-BE49-F238E27FC236}">
                <a16:creationId xmlns:a16="http://schemas.microsoft.com/office/drawing/2014/main" id="{1D449835-B360-4821-B704-85AB249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外层四折开发评估，每折按整台手术分组</a:t>
            </a:r>
          </a:p>
        </p:txBody>
      </p:sp>
      <p:sp>
        <p:nvSpPr>
          <p:cNvPr id="5" name="9 个训练视频">
            <a:extLst xmlns:a="http://schemas.openxmlformats.org/drawingml/2006/main">
              <a:ext uri="{FF2B5EF4-FFF2-40B4-BE49-F238E27FC236}">
                <a16:creationId xmlns:a16="http://schemas.microsoft.com/office/drawing/2014/main" id="{5CADABAB-15E8-42EA-9C4A-D227184E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2209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7145">
            <a:solidFill>
              <a:srgbClr val="737D84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37D84"/>
                </a:solidFill>
                <a:latin typeface="Microsoft YaHei"/>
                <a:ea typeface="Microsoft YaHei"/>
                <a:cs typeface="Microsoft YaHei"/>
              </a:rPr>
              <a:t>9 个训练视频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冻结 token</a:t>
            </a:r>
          </a:p>
        </p:txBody>
      </p:sp>
      <p:sp>
        <p:nvSpPr>
          <p:cNvPr id="6" name="视频标准化">
            <a:extLst xmlns:a="http://schemas.openxmlformats.org/drawingml/2006/main">
              <a:ext uri="{FF2B5EF4-FFF2-40B4-BE49-F238E27FC236}">
                <a16:creationId xmlns:a16="http://schemas.microsoft.com/office/drawing/2014/main" id="{848F8F47-53D9-4950-A18C-EA27FD3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00300"/>
            <a:ext cx="2305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视频标准化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各自的无标签统计</a:t>
            </a:r>
          </a:p>
        </p:txBody>
      </p:sp>
      <p:sp>
        <p:nvSpPr>
          <p:cNvPr id="7" name="A  留一视频交叉拟合">
            <a:extLst xmlns:a="http://schemas.openxmlformats.org/drawingml/2006/main">
              <a:ext uri="{FF2B5EF4-FFF2-40B4-BE49-F238E27FC236}">
                <a16:creationId xmlns:a16="http://schemas.microsoft.com/office/drawing/2014/main" id="{BC4B37B9-BE76-478B-AC6A-AA3DC52C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3619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A  留一视频交叉拟合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8 台拟合头，预测剩下 1 台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循环得到 9 台视频外概率</a:t>
            </a:r>
          </a:p>
        </p:txBody>
      </p:sp>
      <p:sp>
        <p:nvSpPr>
          <p:cNvPr id="8" name="51 维训练序列">
            <a:extLst xmlns:a="http://schemas.openxmlformats.org/drawingml/2006/main">
              <a:ext uri="{FF2B5EF4-FFF2-40B4-BE49-F238E27FC236}">
                <a16:creationId xmlns:a16="http://schemas.microsoft.com/office/drawing/2014/main" id="{9F75AA73-CC20-4FDB-8D81-038AA14F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03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51 维训练序列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PCA 仅用这 9 台拟合</a:t>
            </a:r>
          </a:p>
        </p:txBody>
      </p:sp>
      <p:sp>
        <p:nvSpPr>
          <p:cNvPr id="9" name="拟合 5 个 TCN">
            <a:extLst xmlns:a="http://schemas.openxmlformats.org/drawingml/2006/main">
              <a:ext uri="{FF2B5EF4-FFF2-40B4-BE49-F238E27FC236}">
                <a16:creationId xmlns:a16="http://schemas.microsoft.com/office/drawing/2014/main" id="{E9AEBF44-F463-4DBE-A434-B97184EF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247900"/>
            <a:ext cx="21240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拟合 5 个 TCN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固定选定轮数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序列输入增广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86050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400675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9750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2220575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14" name="9 台内部再做 3 折：重新拟合头、PCA 与 TCN，以视频外帧准确率选择公共轮数">
            <a:extLst xmlns:a="http://schemas.openxmlformats.org/drawingml/2006/main">
              <a:ext uri="{FF2B5EF4-FFF2-40B4-BE49-F238E27FC236}">
                <a16:creationId xmlns:a16="http://schemas.microsoft.com/office/drawing/2014/main" id="{143D7E10-FC81-475A-8A47-1F824C6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86225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9 台内部再做 3 折：重新拟合头、PCA 与 TCN，以视频外帧准确率选择公共轮数</a:t>
            </a:r>
          </a:p>
        </p:txBody>
      </p:sp>
      <p:sp>
        <p:nvSpPr>
          <p:cNvPr id="15" name="候选轮数为 10、20、30、40、50、60。交叉拟合头固定训练 5 轮。">
            <a:extLst xmlns:a="http://schemas.openxmlformats.org/drawingml/2006/main">
              <a:ext uri="{FF2B5EF4-FFF2-40B4-BE49-F238E27FC236}">
                <a16:creationId xmlns:a16="http://schemas.microsoft.com/office/drawing/2014/main" id="{E2FFA7D2-A22F-4089-BCF7-24093AA8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00575"/>
            <a:ext cx="1190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候选轮数为 10、20、30、40、50、60。交叉拟合头固定训练 5 轮。</a:t>
            </a:r>
          </a:p>
        </p:txBody>
      </p:sp>
      <p:sp>
        <p:nvSpPr>
          <p:cNvPr id="16" name="3 个留出视频">
            <a:extLst xmlns:a="http://schemas.openxmlformats.org/drawingml/2006/main">
              <a:ext uri="{FF2B5EF4-FFF2-40B4-BE49-F238E27FC236}">
                <a16:creationId xmlns:a16="http://schemas.microsoft.com/office/drawing/2014/main" id="{F115F013-B668-41FD-8A9C-7CF04DAF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62625"/>
            <a:ext cx="2209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7145">
            <a:solidFill>
              <a:srgbClr val="737D84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37D84"/>
                </a:solidFill>
                <a:latin typeface="Microsoft YaHei"/>
                <a:ea typeface="Microsoft YaHei"/>
                <a:cs typeface="Microsoft YaHei"/>
              </a:rPr>
              <a:t>3 个留出视频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冻结 token</a:t>
            </a:r>
          </a:p>
        </p:txBody>
      </p:sp>
      <p:sp>
        <p:nvSpPr>
          <p:cNvPr id="17" name="视频标准化">
            <a:extLst xmlns:a="http://schemas.openxmlformats.org/drawingml/2006/main">
              <a:ext uri="{FF2B5EF4-FFF2-40B4-BE49-F238E27FC236}">
                <a16:creationId xmlns:a16="http://schemas.microsoft.com/office/drawing/2014/main" id="{AE80D3A2-B7EF-4A2A-975C-82BB3F22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62625"/>
            <a:ext cx="2305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视频标准化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各自的无标签统计</a:t>
            </a:r>
          </a:p>
        </p:txBody>
      </p:sp>
      <p:sp>
        <p:nvSpPr>
          <p:cNvPr id="18" name="全部训练侧拟合的头">
            <a:extLst xmlns:a="http://schemas.openxmlformats.org/drawingml/2006/main">
              <a:ext uri="{FF2B5EF4-FFF2-40B4-BE49-F238E27FC236}">
                <a16:creationId xmlns:a16="http://schemas.microsoft.com/office/drawing/2014/main" id="{62777AC6-E9AE-4645-BFFD-4B466A2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0225"/>
            <a:ext cx="3619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全部训练侧拟合的头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9 台拟合，预测这 3 台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推理无需循环交叉拟合</a:t>
            </a:r>
          </a:p>
        </p:txBody>
      </p:sp>
      <p:sp>
        <p:nvSpPr>
          <p:cNvPr id="19" name="51 维验证序列">
            <a:extLst xmlns:a="http://schemas.openxmlformats.org/drawingml/2006/main">
              <a:ext uri="{FF2B5EF4-FFF2-40B4-BE49-F238E27FC236}">
                <a16:creationId xmlns:a16="http://schemas.microsoft.com/office/drawing/2014/main" id="{AA2195AF-EB04-4EDD-8E24-3345FB2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76262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51 维验证序列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复用训练侧 PCA</a:t>
            </a:r>
          </a:p>
        </p:txBody>
      </p:sp>
      <p:sp>
        <p:nvSpPr>
          <p:cNvPr id="20" name="5 个 TCN 集成">
            <a:extLst xmlns:a="http://schemas.openxmlformats.org/drawingml/2006/main">
              <a:ext uri="{FF2B5EF4-FFF2-40B4-BE49-F238E27FC236}">
                <a16:creationId xmlns:a16="http://schemas.microsoft.com/office/drawing/2014/main" id="{5DD8EB2B-CCBC-4682-8666-02246E4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610225"/>
            <a:ext cx="21240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23618A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5 个 TCN 集成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复用训练参数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再执行训练侧规则</a:t>
            </a:r>
          </a:p>
        </p:txBody>
      </p:sp>
      <p:cxnSp>
        <p:nvCxnSpPr>
          <p:cNvPr id="4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686050" y="63436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400675" y="63436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29750" y="63436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2220575" y="63436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2582525" y="3714750"/>
            <a:ext cx="1109663" cy="1895475"/>
          </a:xfrm>
          <a:prstGeom xmlns:a="http://schemas.openxmlformats.org/drawingml/2006/main" prst="bentConnector4">
            <a:avLst/>
          </a:prstGeom>
          <a:ln xmlns:a="http://schemas.openxmlformats.org/drawingml/2006/main" w="21908">
            <a:solidFill>
              <a:srgbClr val="23618A"/>
            </a:solidFill>
            <a:prstDash val="dash"/>
            <a:tailEnd type="triangle" w="sm" len="sm"/>
          </a:ln>
        </p:spPr>
      </p:cxnSp>
      <p:sp>
        <p:nvSpPr>
          <p:cNvPr id="26" name="参数复用">
            <a:extLst xmlns:a="http://schemas.openxmlformats.org/drawingml/2006/main">
              <a:ext uri="{FF2B5EF4-FFF2-40B4-BE49-F238E27FC236}">
                <a16:creationId xmlns:a16="http://schemas.microsoft.com/office/drawing/2014/main" id="{74642ACA-F68F-443F-9FA7-EA8F4BC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48577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参数复用</a:t>
            </a:r>
          </a:p>
        </p:txBody>
      </p:sp>
      <p:sp>
        <p:nvSpPr>
          <p:cNvPr id="27" name="最终提交：用全部 12 台标签视频拟合。时序训练采用 11 台拟合头、1 台生成概率的交叉拟合输">
            <a:extLst xmlns:a="http://schemas.openxmlformats.org/drawingml/2006/main">
              <a:ext uri="{FF2B5EF4-FFF2-40B4-BE49-F238E27FC236}">
                <a16:creationId xmlns:a16="http://schemas.microsoft.com/office/drawing/2014/main" id="{4CD28F13-1E34-4D07-A044-C504FE05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77125"/>
            <a:ext cx="1419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最终提交：用全部 12 台标签视频拟合。时序训练采用 11 台拟合头、1 台生成概率的交叉拟合输入。</a:t>
            </a:r>
          </a:p>
        </p:txBody>
      </p:sp>
      <p:sp>
        <p:nvSpPr>
          <p:cNvPr id="28" name="留出标签只参与开发评分，开发交叉验证成绩不能称为独立最终测试成绩">
            <a:extLst xmlns:a="http://schemas.openxmlformats.org/drawingml/2006/main">
              <a:ext uri="{FF2B5EF4-FFF2-40B4-BE49-F238E27FC236}">
                <a16:creationId xmlns:a16="http://schemas.microsoft.com/office/drawing/2014/main" id="{0F8D31F7-4A06-4EC4-9785-4E67221D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010525"/>
            <a:ext cx="1295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留出标签只参与开发评分，开发交叉验证成绩不能称为独立最终测试成绩</a:t>
            </a:r>
          </a:p>
        </p:txBody>
      </p:sp>
    </p:spTree>
    <p:extLst>
      <p:ext uri="{BB962C8B-B14F-4D97-AF65-F5344CB8AC3E}">
        <p14:creationId xmlns:p14="http://schemas.microsoft.com/office/powerpoint/2010/main" val="1964159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参考算法与当前设计的区别">
            <a:extLst xmlns:a="http://schemas.openxmlformats.org/drawingml/2006/main">
              <a:ext uri="{FF2B5EF4-FFF2-40B4-BE49-F238E27FC236}">
                <a16:creationId xmlns:a16="http://schemas.microsoft.com/office/drawing/2014/main" id="{C90EF993-2DD6-43F8-A48B-06877B73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428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参考算法与当前设计的区别</a:t>
            </a:r>
          </a:p>
        </p:txBody>
      </p:sp>
      <p:sp>
        <p:nvSpPr>
          <p:cNvPr id="2" name="A–D 对应总览图标记，区分继承的机制与本任务中的修改、组合及训练协议">
            <a:extLst xmlns:a="http://schemas.openxmlformats.org/drawingml/2006/main">
              <a:ext uri="{FF2B5EF4-FFF2-40B4-BE49-F238E27FC236}">
                <a16:creationId xmlns:a16="http://schemas.microsoft.com/office/drawing/2014/main" id="{1C598966-B8C5-4213-930B-285035F6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424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A–D 对应总览图标记，区分继承的机制与本任务中的修改、组合及训练协议</a:t>
            </a:r>
          </a:p>
        </p:txBody>
      </p:sp>
      <p:sp>
        <p:nvSpPr>
          <p:cNvPr id="3" name="5 / 7">
            <a:extLst xmlns:a="http://schemas.openxmlformats.org/drawingml/2006/main">
              <a:ext uri="{FF2B5EF4-FFF2-40B4-BE49-F238E27FC236}">
                <a16:creationId xmlns:a16="http://schemas.microsoft.com/office/drawing/2014/main" id="{AE9EE742-81A4-4341-A78B-C9FF74B5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5 / 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76250" y="1771650"/>
          <a:ext xmlns:a="http://schemas.openxmlformats.org/drawingml/2006/main" cx="14277975" cy="5781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029200"/>
                <a:gridCol w="6581775"/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参考算法</a:t>
                      </a:r>
                    </a:p>
                  </a:txBody>
                  <a:tcPr marL="161925" marR="161925" marT="76200" marB="76200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文献中的相关设计</a:t>
                      </a:r>
                    </a:p>
                  </a:txBody>
                  <a:tcPr marL="161925" marR="161925" marT="76200" marB="76200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当前代码中的对应与差异</a:t>
                      </a:r>
                    </a:p>
                  </a:txBody>
                  <a:tcPr marL="161925" marR="161925" marT="76200" marB="76200" anchor="ctr">
                    <a:solidFill>
                      <a:srgbClr val="173042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SurgeNetDINO</a:t>
                      </a:r>
                    </a:p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MIDL 2026</a:t>
                      </a:r>
                    </a:p>
                  </a:txBody>
                  <a:tcPr marL="161925" marR="161925" marT="76200" marB="76200" anchor="ctr"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手术领域 DINO 预训练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阶段识别先微调主干，再训练因果 MS-TCN</a:t>
                      </a:r>
                    </a:p>
                  </a:txBody>
                  <a:tcPr marL="161925" marR="1619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 SurgeNetXL 权重，主干全程冻结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采用离线 TCN 与全视频注意力（C）</a:t>
                      </a:r>
                    </a:p>
                  </a:txBody>
                  <a:tcPr marL="161925" marR="161925" marT="76200" marB="76200" anchor="ctr">
                    <a:solidFill>
                      <a:srgbClr val="FFF3E9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DINOv2</a:t>
                      </a:r>
                    </a:p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 / 2024</a:t>
                      </a:r>
                    </a:p>
                  </a:txBody>
                  <a:tcPr marL="161925" marR="161925" marT="76200" marB="76200" anchor="ctr"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ViT 表征与线性探测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CLS 拼接 patch 均值是探测选项</a:t>
                      </a:r>
                    </a:p>
                  </a:txBody>
                  <a:tcPr marL="161925" marR="1619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沿用最后一层 CLS + patch 均值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添加视频标准化、交叉拟合头与输入融合（A、B）</a:t>
                      </a:r>
                    </a:p>
                  </a:txBody>
                  <a:tcPr marL="161925" marR="161925" marT="76200" marB="76200" anchor="ctr">
                    <a:solidFill>
                      <a:srgbClr val="FFF3E9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MS-TCN</a:t>
                      </a:r>
                    </a:p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CVPR 2019</a:t>
                      </a:r>
                    </a:p>
                  </a:txBody>
                  <a:tcPr marL="161925" marR="161925" marT="76200" marB="76200" anchor="ctr"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多级概率细化，膨胀残差卷积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逐级 CE + 截断对数概率平滑损失</a:t>
                      </a:r>
                    </a:p>
                  </a:txBody>
                  <a:tcPr marL="161925" marR="1619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保留两级细化与平滑项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级各 64 通道改为 2 级 64 / 48 通道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 LN、GELU 与全局注意力（C）</a:t>
                      </a:r>
                    </a:p>
                  </a:txBody>
                  <a:tcPr marL="161925" marR="161925" marT="76200" marB="76200" anchor="ctr">
                    <a:solidFill>
                      <a:srgbClr val="FFF3E9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TeCNO</a:t>
                      </a:r>
                    </a:p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MICCAI 2020</a:t>
                      </a:r>
                    </a:p>
                  </a:txBody>
                  <a:tcPr marL="161925" marR="161925" marT="76200" marB="76200" anchor="ctr"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监督训练 ResNet50 特征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两级因果 TCN，逐级加权 CE</a:t>
                      </a:r>
                    </a:p>
                  </a:txBody>
                  <a:tcPr marL="161925" marR="1619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DINO 与组合后的 51 维输入（A、B）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双侧卷积及全局注意力，读取未来（C）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随后执行硬约束解码（D）</a:t>
                      </a:r>
                    </a:p>
                  </a:txBody>
                  <a:tcPr marL="161925" marR="161925" marT="76200" marB="76200" anchor="ctr">
                    <a:solidFill>
                      <a:srgbClr val="FFF3E9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TUNeS</a:t>
                      </a:r>
                    </a:p>
                    <a:p>
                      <a:r>
                        <a:rPr sz="1800" b="1">
                          <a:solidFill>
                            <a:srgbClr val="2361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 / 2025</a:t>
                      </a:r>
                    </a:p>
                  </a:txBody>
                  <a:tcPr marL="161925" marR="161925" marT="76200" marB="76200" anchor="ctr"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 U-Net 与瓶颈自注意力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CNN 配合 LSTM 学习时序上下文</a:t>
                      </a:r>
                    </a:p>
                  </a:txBody>
                  <a:tcPr marL="161925" marR="1619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借鉴低分辨率注意力的思路（C）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采用池化 / 插值残差支路，无 U-Net 路径</a:t>
                      </a:r>
                    </a:p>
                    <a:p>
                      <a:r>
                        <a:rPr sz="1800">
                          <a:solidFill>
                            <a:srgbClr val="1730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不含 CNN-LSTM 主干训练或多尺度输出</a:t>
                      </a:r>
                    </a:p>
                  </a:txBody>
                  <a:tcPr marL="161925" marR="161925" marT="76200" marB="76200" anchor="ctr">
                    <a:solidFill>
                      <a:srgbClr val="FFF3E9"/>
                    </a:solidFill>
                  </a:tcPr>
                </a:tc>
              </a:tr>
            </a:tbl>
          </a:graphicData>
        </a:graphic>
      </p:graphicFrame>
      <p:sp>
        <p:nvSpPr>
          <p:cNvPr id="5" name="设计差异是本任务的实现选择与组合，不等同于已经证明的新算法贡献">
            <a:extLst xmlns:a="http://schemas.openxmlformats.org/drawingml/2006/main">
              <a:ext uri="{FF2B5EF4-FFF2-40B4-BE49-F238E27FC236}">
                <a16:creationId xmlns:a16="http://schemas.microsoft.com/office/drawing/2014/main" id="{67FF6714-C8BE-4E50-AE06-AB6764F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848600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设计差异是本任务的实现选择与组合，不等同于已经证明的新算法贡献</a:t>
            </a:r>
          </a:p>
        </p:txBody>
      </p:sp>
    </p:spTree>
    <p:extLst>
      <p:ext uri="{BB962C8B-B14F-4D97-AF65-F5344CB8AC3E}">
        <p14:creationId xmlns:p14="http://schemas.microsoft.com/office/powerpoint/2010/main" val="412605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约束解码与输出分支">
            <a:extLst xmlns:a="http://schemas.openxmlformats.org/drawingml/2006/main">
              <a:ext uri="{FF2B5EF4-FFF2-40B4-BE49-F238E27FC236}">
                <a16:creationId xmlns:a16="http://schemas.microsoft.com/office/drawing/2014/main" id="{8EC38F86-1221-423B-90C1-1C9B837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428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约束解码与输出分支</a:t>
            </a:r>
          </a:p>
        </p:txBody>
      </p:sp>
      <p:sp>
        <p:nvSpPr>
          <p:cNvPr id="2" name="神经网络始终输出 13 类，体外阶段 x 来自单独的像素黑段检测">
            <a:extLst xmlns:a="http://schemas.openxmlformats.org/drawingml/2006/main">
              <a:ext uri="{FF2B5EF4-FFF2-40B4-BE49-F238E27FC236}">
                <a16:creationId xmlns:a16="http://schemas.microsoft.com/office/drawing/2014/main" id="{9B60E4EF-0D64-497B-994D-89E434F5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424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神经网络始终输出 13 类，体外阶段 x 来自单独的像素黑段检测</a:t>
            </a:r>
          </a:p>
        </p:txBody>
      </p:sp>
      <p:sp>
        <p:nvSpPr>
          <p:cNvPr id="3" name="6 / 7">
            <a:extLst xmlns:a="http://schemas.openxmlformats.org/drawingml/2006/main">
              <a:ext uri="{FF2B5EF4-FFF2-40B4-BE49-F238E27FC236}">
                <a16:creationId xmlns:a16="http://schemas.microsoft.com/office/drawing/2014/main" id="{92AD1299-6FD8-4703-8FD1-AC15D18D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6 / 7</a:t>
            </a:r>
          </a:p>
        </p:txBody>
      </p:sp>
      <p:sp>
        <p:nvSpPr>
          <p:cNvPr id="4" name="集成后的对数概率">
            <a:extLst xmlns:a="http://schemas.openxmlformats.org/drawingml/2006/main">
              <a:ext uri="{FF2B5EF4-FFF2-40B4-BE49-F238E27FC236}">
                <a16:creationId xmlns:a16="http://schemas.microsoft.com/office/drawing/2014/main" id="{05F4E77E-4C5D-4CBF-ADB7-03410734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2457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17145">
            <a:solidFill>
              <a:srgbClr val="2F6F59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集成后的对数概率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每个有效帧 13 类</a:t>
            </a:r>
          </a:p>
        </p:txBody>
      </p:sp>
      <p:sp>
        <p:nvSpPr>
          <p:cNvPr id="5" name="D  精确 Viterbi 搜索">
            <a:extLst xmlns:a="http://schemas.openxmlformats.org/drawingml/2006/main">
              <a:ext uri="{FF2B5EF4-FFF2-40B4-BE49-F238E27FC236}">
                <a16:creationId xmlns:a16="http://schemas.microsoft.com/office/drawing/2014/main" id="{EFB678F1-CC40-4245-A253-D194A17D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19325"/>
            <a:ext cx="4419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D  精确 Viterbi 搜索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最大化有效帧的对数概率之和</a:t>
            </a:r>
          </a:p>
          <a:p xmlns:a="http://schemas.openxmlformats.org/drawingml/2006/main">
            <a:pPr algn="ctr">
              <a:spcAft>
                <a:spcPts val="350"/>
              </a:spcAft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满足先后、单段与最短块长规则</a:t>
            </a:r>
          </a:p>
        </p:txBody>
      </p:sp>
      <p:sp>
        <p:nvSpPr>
          <p:cNvPr id="6" name="有效帧阶段">
            <a:extLst xmlns:a="http://schemas.openxmlformats.org/drawingml/2006/main">
              <a:ext uri="{FF2B5EF4-FFF2-40B4-BE49-F238E27FC236}">
                <a16:creationId xmlns:a16="http://schemas.microsoft.com/office/drawing/2014/main" id="{42C3E4C8-19DE-4F4B-A902-4713B5CE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43150"/>
            <a:ext cx="2590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17145">
            <a:solidFill>
              <a:srgbClr val="2F6F59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有效帧阶段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13 类阶段编号</a:t>
            </a:r>
          </a:p>
        </p:txBody>
      </p:sp>
      <p:sp>
        <p:nvSpPr>
          <p:cNvPr id="7" name="Basic 导出">
            <a:extLst xmlns:a="http://schemas.openxmlformats.org/drawingml/2006/main">
              <a:ext uri="{FF2B5EF4-FFF2-40B4-BE49-F238E27FC236}">
                <a16:creationId xmlns:a16="http://schemas.microsoft.com/office/drawing/2014/main" id="{491CE7A6-82BD-49C3-9AAB-CD32B1F2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2343150"/>
            <a:ext cx="28765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17145">
            <a:solidFill>
              <a:srgbClr val="2F6F59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Basic 导出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按模板输出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submission.csv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33700" y="292417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915275" y="29241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096625" y="29241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11" name="规则来源：训练视频标签">
            <a:extLst xmlns:a="http://schemas.openxmlformats.org/drawingml/2006/main">
              <a:ext uri="{FF2B5EF4-FFF2-40B4-BE49-F238E27FC236}">
                <a16:creationId xmlns:a16="http://schemas.microsoft.com/office/drawing/2014/main" id="{EBD9C6EF-6F1D-4A2C-A45E-EF6D1500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0075"/>
            <a:ext cx="64960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7145">
            <a:solidFill>
              <a:srgbClr val="A8521B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21B"/>
                </a:solidFill>
                <a:latin typeface="Microsoft YaHei"/>
                <a:ea typeface="Microsoft YaHei"/>
                <a:cs typeface="Microsoft YaHei"/>
              </a:rPr>
              <a:t>规则来源：训练视频标签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所有训练视频共同成立的先后规则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离开后不能返回的单段规则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每个阶段最短的已观测块长</a:t>
            </a:r>
          </a:p>
        </p:txBody>
      </p:sp>
      <p:cxnSp>
        <p:nvCxnSpPr>
          <p:cNvPr id="34" name=""/>
          <p:cNvCxnSpPr>
            <a:stCxn xmlns:a="http://schemas.openxmlformats.org/drawingml/2006/main" id="11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724275" y="3629025"/>
            <a:ext cx="198120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A8521B"/>
            </a:solidFill>
            <a:prstDash val="dash"/>
            <a:tailEnd type="triangle" w="sm" len="sm"/>
          </a:ln>
        </p:spPr>
      </p:cxnSp>
      <p:sp>
        <p:nvSpPr>
          <p:cNvPr id="13" name="Advanced 边界校正">
            <a:extLst xmlns:a="http://schemas.openxmlformats.org/drawingml/2006/main">
              <a:ext uri="{FF2B5EF4-FFF2-40B4-BE49-F238E27FC236}">
                <a16:creationId xmlns:a16="http://schemas.microsoft.com/office/drawing/2014/main" id="{1C9DD3A7-1513-42B8-B6CD-D97FDD7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19575"/>
            <a:ext cx="2590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17145">
            <a:solidFill>
              <a:srgbClr val="2F6F59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Advanced 边界校正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局部后验变化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只调整现有边界</a:t>
            </a:r>
          </a:p>
        </p:txBody>
      </p:sp>
      <p:sp>
        <p:nvSpPr>
          <p:cNvPr id="14" name="恢复至 30 fps 时间轴">
            <a:extLst xmlns:a="http://schemas.openxmlformats.org/drawingml/2006/main">
              <a:ext uri="{FF2B5EF4-FFF2-40B4-BE49-F238E27FC236}">
                <a16:creationId xmlns:a16="http://schemas.microsoft.com/office/drawing/2014/main" id="{C92E63B4-1357-4AF3-BB81-CBEB579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4219575"/>
            <a:ext cx="2876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17145">
            <a:solidFill>
              <a:srgbClr val="2F6F59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恢复至 30 fps 时间轴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取最近的 1 fps 阶段预测</a:t>
            </a:r>
          </a:p>
        </p:txBody>
      </p: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801225" y="350520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096625" y="48387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17" name="像素黑段扫描">
            <a:extLst xmlns:a="http://schemas.openxmlformats.org/drawingml/2006/main">
              <a:ext uri="{FF2B5EF4-FFF2-40B4-BE49-F238E27FC236}">
                <a16:creationId xmlns:a16="http://schemas.microsoft.com/office/drawing/2014/main" id="{1EAD7ED7-32F8-4452-9B63-0017AD4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6124575"/>
            <a:ext cx="2590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7145">
            <a:solidFill>
              <a:srgbClr val="737D84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37D84"/>
                </a:solidFill>
                <a:latin typeface="Microsoft YaHei"/>
                <a:ea typeface="Microsoft YaHei"/>
                <a:cs typeface="Microsoft YaHei"/>
              </a:rPr>
              <a:t>像素黑段扫描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独立获得 x 区间</a:t>
            </a:r>
          </a:p>
          <a:p xmlns:a="http://schemas.openxmlformats.org/drawingml/2006/main">
            <a:pPr algn="ctr">
              <a:spcAft>
                <a:spcPts val="350"/>
              </a:spcAft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不借用阶段标注</a:t>
            </a:r>
          </a:p>
        </p:txBody>
      </p:sp>
      <p:sp>
        <p:nvSpPr>
          <p:cNvPr id="18" name="覆盖 x 并输出分段">
            <a:extLst xmlns:a="http://schemas.openxmlformats.org/drawingml/2006/main">
              <a:ext uri="{FF2B5EF4-FFF2-40B4-BE49-F238E27FC236}">
                <a16:creationId xmlns:a16="http://schemas.microsoft.com/office/drawing/2014/main" id="{2074D8D3-845A-4C6D-8D85-991EB6C1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124575"/>
            <a:ext cx="2876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17145">
            <a:solidFill>
              <a:srgbClr val="2F6F59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F59"/>
                </a:solidFill>
                <a:latin typeface="Microsoft YaHei"/>
                <a:ea typeface="Microsoft YaHei"/>
                <a:cs typeface="Microsoft YaHei"/>
              </a:rPr>
              <a:t>覆盖 x 并输出分段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段起始帧与阶段编号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打包 submission.zip</a:t>
            </a:r>
          </a:p>
        </p:txBody>
      </p:sp>
      <p:cxnSp>
        <p:nvCxnSpPr>
          <p:cNvPr id="41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3335000" y="54578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1096625" y="67437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1717D"/>
            </a:solidFill>
            <a:prstDash val="solid"/>
            <a:tailEnd type="triangle" w="sm" len="sm"/>
          </a:ln>
        </p:spPr>
      </p:cxnSp>
      <p:sp>
        <p:nvSpPr>
          <p:cNvPr id="21" name="可选运动输入：仅接入 cv --motion 分支">
            <a:extLst xmlns:a="http://schemas.openxmlformats.org/drawingml/2006/main">
              <a:ext uri="{FF2B5EF4-FFF2-40B4-BE49-F238E27FC236}">
                <a16:creationId xmlns:a16="http://schemas.microsoft.com/office/drawing/2014/main" id="{BCB677FE-D602-47C6-A661-D267F86C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64960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7145">
            <a:solidFill>
              <a:srgbClr val="737D84"/>
            </a:solidFill>
            <a:prstDash val="dash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7D84"/>
                </a:solidFill>
                <a:latin typeface="Microsoft YaHei"/>
                <a:ea typeface="Microsoft YaHei"/>
                <a:cs typeface="Microsoft YaHei"/>
              </a:rPr>
              <a:t>可选运动输入：仅接入 cv --motion 分支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原始 30 fps 视频的每秒 16 维运动特征，51 → 67 维</a:t>
            </a:r>
          </a:p>
          <a:p xmlns:a="http://schemas.openxmlformats.org/drawingml/2006/main">
            <a:pPr algn="ctr">
              <a:spcAft>
                <a:spcPts val="350"/>
              </a:spcAft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当前 fit-final / predict 未接入该输入，默认提交仍为 51 维</a:t>
            </a:r>
          </a:p>
        </p:txBody>
      </p:sp>
      <p:sp>
        <p:nvSpPr>
          <p:cNvPr id="22" name="顺序规则不要求所有类别按数字单调出现，也不学习转移概率或时长分布">
            <a:extLst xmlns:a="http://schemas.openxmlformats.org/drawingml/2006/main">
              <a:ext uri="{FF2B5EF4-FFF2-40B4-BE49-F238E27FC236}">
                <a16:creationId xmlns:a16="http://schemas.microsoft.com/office/drawing/2014/main" id="{CB6C8E59-E72F-4FB7-BEA8-3055CA92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91475"/>
            <a:ext cx="1304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顺序规则不要求所有类别按数字单调出现，也不学习转移概率或时长分布</a:t>
            </a:r>
          </a:p>
        </p:txBody>
      </p:sp>
    </p:spTree>
    <p:extLst>
      <p:ext uri="{BB962C8B-B14F-4D97-AF65-F5344CB8AC3E}">
        <p14:creationId xmlns:p14="http://schemas.microsoft.com/office/powerpoint/2010/main" val="1409448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文献与代码索引">
            <a:extLst xmlns:a="http://schemas.openxmlformats.org/drawingml/2006/main">
              <a:ext uri="{FF2B5EF4-FFF2-40B4-BE49-F238E27FC236}">
                <a16:creationId xmlns:a16="http://schemas.microsoft.com/office/drawing/2014/main" id="{70D16BC4-854B-47C9-942E-0C71091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428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文献与代码索引</a:t>
            </a:r>
          </a:p>
        </p:txBody>
      </p:sp>
      <p:sp>
        <p:nvSpPr>
          <p:cNvPr id="2" name="核对日期 2026-10-07，参数来自 configs/temporal.toml，图按当前工">
            <a:extLst xmlns:a="http://schemas.openxmlformats.org/drawingml/2006/main">
              <a:ext uri="{FF2B5EF4-FFF2-40B4-BE49-F238E27FC236}">
                <a16:creationId xmlns:a16="http://schemas.microsoft.com/office/drawing/2014/main" id="{D03CB20B-BB60-46B6-8C72-1798444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424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核对日期 2026-10-07，参数来自 configs/temporal.toml，图按当前工作区实现绘制</a:t>
            </a:r>
          </a:p>
        </p:txBody>
      </p:sp>
      <p:sp>
        <p:nvSpPr>
          <p:cNvPr id="3" name="7 / 7">
            <a:extLst xmlns:a="http://schemas.openxmlformats.org/drawingml/2006/main">
              <a:ext uri="{FF2B5EF4-FFF2-40B4-BE49-F238E27FC236}">
                <a16:creationId xmlns:a16="http://schemas.microsoft.com/office/drawing/2014/main" id="{9C7FA3BB-9536-41EC-8216-FE40459B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  <p:sp>
        <p:nvSpPr>
          <p:cNvPr id="4" name="参考文献">
            <a:extLst xmlns:a="http://schemas.openxmlformats.org/drawingml/2006/main">
              <a:ext uri="{FF2B5EF4-FFF2-40B4-BE49-F238E27FC236}">
                <a16:creationId xmlns:a16="http://schemas.microsoft.com/office/drawing/2014/main" id="{EF80240A-B1EF-4AC1-896F-A8A522E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8117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5" name="代码入口（均位于 surgenet_dino/）">
            <a:extLst xmlns:a="http://schemas.openxmlformats.org/drawingml/2006/main">
              <a:ext uri="{FF2B5EF4-FFF2-40B4-BE49-F238E27FC236}">
                <a16:creationId xmlns:a16="http://schemas.microsoft.com/office/drawing/2014/main" id="{506CA88F-59F4-44D2-A968-18132C72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81175"/>
            <a:ext cx="6438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代码入口（均位于 surgenet_dino/）</a:t>
            </a:r>
          </a:p>
        </p:txBody>
      </p:sp>
      <p:sp>
        <p:nvSpPr>
          <p:cNvPr id="6" name="R1  SurgeNetDINO · MIDL 2026">
            <a:extLst xmlns:a="http://schemas.openxmlformats.org/drawingml/2006/main">
              <a:ext uri="{FF2B5EF4-FFF2-40B4-BE49-F238E27FC236}">
                <a16:creationId xmlns:a16="http://schemas.microsoft.com/office/drawing/2014/main" id="{CCDEBDE6-5B3B-4AE4-AEE3-979B8076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90775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d522cd9311420b"/>
              </a:rPr>
              <a:t>R1  SurgeNetDINO · MIDL 2026</a:t>
            </a:r>
          </a:p>
        </p:txBody>
      </p:sp>
      <p:sp>
        <p:nvSpPr>
          <p:cNvPr id="7" name="Towards Effective Surgical Representation&#10;Learni">
            <a:extLst xmlns:a="http://schemas.openxmlformats.org/drawingml/2006/main">
              <a:ext uri="{FF2B5EF4-FFF2-40B4-BE49-F238E27FC236}">
                <a16:creationId xmlns:a16="http://schemas.microsoft.com/office/drawing/2014/main" id="{2018E774-35B5-4EBF-A53F-8A171252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Towards Effective Surgical Representation</a:t>
            </a:r>
          </a:p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Learning with DINO Models</a:t>
            </a:r>
          </a:p>
        </p:txBody>
      </p:sp>
      <p:sp>
        <p:nvSpPr>
          <p:cNvPr id="8" name="阶段识别方案见 §3.4.2">
            <a:extLst xmlns:a="http://schemas.openxmlformats.org/drawingml/2006/main">
              <a:ext uri="{FF2B5EF4-FFF2-40B4-BE49-F238E27FC236}">
                <a16:creationId xmlns:a16="http://schemas.microsoft.com/office/drawing/2014/main" id="{30B6CD8C-6D66-4FA0-B8B9-5B3C9D1C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阶段识别方案见 §3.4.2</a:t>
            </a:r>
          </a:p>
        </p:txBody>
      </p:sp>
      <p:sp>
        <p:nvSpPr>
          <p:cNvPr id="9" name="R2  DINOv2 · arXiv 2023 / 2024">
            <a:extLst xmlns:a="http://schemas.openxmlformats.org/drawingml/2006/main">
              <a:ext uri="{FF2B5EF4-FFF2-40B4-BE49-F238E27FC236}">
                <a16:creationId xmlns:a16="http://schemas.microsoft.com/office/drawing/2014/main" id="{774E4F3D-D61F-4CA6-A7A8-25CFF797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28c91ab7234383"/>
              </a:rPr>
              <a:t>R2  DINOv2 · arXiv 2023 / 2024</a:t>
            </a:r>
          </a:p>
        </p:txBody>
      </p:sp>
      <p:sp>
        <p:nvSpPr>
          <p:cNvPr id="10" name="Learning Robust Visual Features&#10;without Supervis">
            <a:extLst xmlns:a="http://schemas.openxmlformats.org/drawingml/2006/main">
              <a:ext uri="{FF2B5EF4-FFF2-40B4-BE49-F238E27FC236}">
                <a16:creationId xmlns:a16="http://schemas.microsoft.com/office/drawing/2014/main" id="{03D71958-A029-42E5-8224-9947BEEA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38575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Learning Robust Visual Features</a:t>
            </a:r>
          </a:p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without Supervision</a:t>
            </a:r>
          </a:p>
        </p:txBody>
      </p:sp>
      <p:sp>
        <p:nvSpPr>
          <p:cNvPr id="11" name="线性探测与 token 拼接见 Appendix B.3">
            <a:extLst xmlns:a="http://schemas.openxmlformats.org/drawingml/2006/main">
              <a:ext uri="{FF2B5EF4-FFF2-40B4-BE49-F238E27FC236}">
                <a16:creationId xmlns:a16="http://schemas.microsoft.com/office/drawing/2014/main" id="{195DA3B4-F7AC-4399-8E81-329BEF3F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1482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线性探测与 token 拼接见 Appendix B.3</a:t>
            </a:r>
          </a:p>
        </p:txBody>
      </p:sp>
      <p:sp>
        <p:nvSpPr>
          <p:cNvPr id="12" name="R3  MS-TCN · CVPR 2019">
            <a:extLst xmlns:a="http://schemas.openxmlformats.org/drawingml/2006/main">
              <a:ext uri="{FF2B5EF4-FFF2-40B4-BE49-F238E27FC236}">
                <a16:creationId xmlns:a16="http://schemas.microsoft.com/office/drawing/2014/main" id="{5DD4EA85-E386-4D25-9CEC-B3A7686D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3425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7d9158e64149a9"/>
              </a:rPr>
              <a:t>R3  MS-TCN · CVPR 2019</a:t>
            </a:r>
          </a:p>
        </p:txBody>
      </p:sp>
      <p:sp>
        <p:nvSpPr>
          <p:cNvPr id="13" name="Multi-Stage Temporal Convolutional Network&#10;for A">
            <a:extLst xmlns:a="http://schemas.openxmlformats.org/drawingml/2006/main">
              <a:ext uri="{FF2B5EF4-FFF2-40B4-BE49-F238E27FC236}">
                <a16:creationId xmlns:a16="http://schemas.microsoft.com/office/drawing/2014/main" id="{78BAF816-2F65-4BCD-BD77-3F50EA08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4900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Multi-Stage Temporal Convolutional Network</a:t>
            </a:r>
          </a:p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for Action Segmentation</a:t>
            </a:r>
          </a:p>
        </p:txBody>
      </p:sp>
      <p:sp>
        <p:nvSpPr>
          <p:cNvPr id="14" name="残差块、多级细化及平滑损失见 §3">
            <a:extLst xmlns:a="http://schemas.openxmlformats.org/drawingml/2006/main">
              <a:ext uri="{FF2B5EF4-FFF2-40B4-BE49-F238E27FC236}">
                <a16:creationId xmlns:a16="http://schemas.microsoft.com/office/drawing/2014/main" id="{F4E2347C-A414-4270-B985-0B52F5C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残差块、多级细化及平滑损失见 §3</a:t>
            </a:r>
          </a:p>
        </p:txBody>
      </p:sp>
      <p:sp>
        <p:nvSpPr>
          <p:cNvPr id="15" name="R4  TeCNO · MICCAI 2020">
            <a:extLst xmlns:a="http://schemas.openxmlformats.org/drawingml/2006/main">
              <a:ext uri="{FF2B5EF4-FFF2-40B4-BE49-F238E27FC236}">
                <a16:creationId xmlns:a16="http://schemas.microsoft.com/office/drawing/2014/main" id="{7F72AC8A-02BD-4DF0-9E13-D891FE4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ed6485538004d73"/>
              </a:rPr>
              <a:t>R4  TeCNO · MICCAI 2020</a:t>
            </a:r>
          </a:p>
        </p:txBody>
      </p:sp>
      <p:sp>
        <p:nvSpPr>
          <p:cNvPr id="16" name="Surgical Phase Recognition with&#10;Multi-Stage Temp">
            <a:extLst xmlns:a="http://schemas.openxmlformats.org/drawingml/2006/main">
              <a:ext uri="{FF2B5EF4-FFF2-40B4-BE49-F238E27FC236}">
                <a16:creationId xmlns:a16="http://schemas.microsoft.com/office/drawing/2014/main" id="{E60FE325-973E-43C1-8865-01341528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91225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Surgical Phase Recognition with</a:t>
            </a:r>
          </a:p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Multi-Stage Temporal Convolutional Networks</a:t>
            </a:r>
          </a:p>
        </p:txBody>
      </p:sp>
      <p:sp>
        <p:nvSpPr>
          <p:cNvPr id="17" name="因果 TCN 与训练设置见 §2">
            <a:extLst xmlns:a="http://schemas.openxmlformats.org/drawingml/2006/main">
              <a:ext uri="{FF2B5EF4-FFF2-40B4-BE49-F238E27FC236}">
                <a16:creationId xmlns:a16="http://schemas.microsoft.com/office/drawing/2014/main" id="{53EF1806-BB5D-49DD-8060-C2449649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674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因果 TCN 与训练设置见 §2</a:t>
            </a:r>
          </a:p>
        </p:txBody>
      </p:sp>
      <p:sp>
        <p:nvSpPr>
          <p:cNvPr id="18" name="R5  TUNeS · 2023 / TBME 2025">
            <a:extLst xmlns:a="http://schemas.openxmlformats.org/drawingml/2006/main">
              <a:ext uri="{FF2B5EF4-FFF2-40B4-BE49-F238E27FC236}">
                <a16:creationId xmlns:a16="http://schemas.microsoft.com/office/drawing/2014/main" id="{55B4BE74-CCA1-47EE-B356-4D04B208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96075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18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c0b0f5f6c34413"/>
              </a:rPr>
              <a:t>R5  TUNeS · 2023 / TBME 2025</a:t>
            </a:r>
          </a:p>
        </p:txBody>
      </p:sp>
      <p:sp>
        <p:nvSpPr>
          <p:cNvPr id="19" name="A Temporal U-Net with Self-Attention&#10;for Video-b">
            <a:extLst xmlns:a="http://schemas.openxmlformats.org/drawingml/2006/main">
              <a:ext uri="{FF2B5EF4-FFF2-40B4-BE49-F238E27FC236}">
                <a16:creationId xmlns:a16="http://schemas.microsoft.com/office/drawing/2014/main" id="{06B90E4D-278F-44E9-8217-CA617269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67550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A Temporal U-Net with Self-Attention</a:t>
            </a:r>
          </a:p>
          <a:p xmlns:a="http://schemas.openxmlformats.org/drawingml/2006/main">
            <a:pPr algn="l">
              <a:def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for Video-based Surgical Phase Recognition</a:t>
            </a:r>
          </a:p>
        </p:txBody>
      </p:sp>
      <p:sp>
        <p:nvSpPr>
          <p:cNvPr id="20" name="结构核对 arXiv v2 §IV-B">
            <a:extLst xmlns:a="http://schemas.openxmlformats.org/drawingml/2006/main">
              <a:ext uri="{FF2B5EF4-FFF2-40B4-BE49-F238E27FC236}">
                <a16:creationId xmlns:a16="http://schemas.microsoft.com/office/drawing/2014/main" id="{2A6916CF-38D7-4127-9DB2-11C6A48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54380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结构核对 arXiv v2 §IV-B</a:t>
            </a:r>
          </a:p>
        </p:txBody>
      </p:sp>
      <p:sp>
        <p:nvSpPr>
          <p:cNvPr id="21" name="冻结图像表征">
            <a:extLst xmlns:a="http://schemas.openxmlformats.org/drawingml/2006/main">
              <a:ext uri="{FF2B5EF4-FFF2-40B4-BE49-F238E27FC236}">
                <a16:creationId xmlns:a16="http://schemas.microsoft.com/office/drawing/2014/main" id="{C8E3D52B-92FB-4805-9F15-076B365B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冻结图像表征</a:t>
            </a:r>
          </a:p>
        </p:txBody>
      </p:sp>
      <p:sp>
        <p:nvSpPr>
          <p:cNvPr id="22" name="temporal/tokens.py:42">
            <a:extLst xmlns:a="http://schemas.openxmlformats.org/drawingml/2006/main">
              <a:ext uri="{FF2B5EF4-FFF2-40B4-BE49-F238E27FC236}">
                <a16:creationId xmlns:a16="http://schemas.microsoft.com/office/drawing/2014/main" id="{4E98BC07-996C-4B67-BDD1-5432DEDA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52725"/>
            <a:ext cx="643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temporal/tokens.py:42</a:t>
            </a:r>
          </a:p>
        </p:txBody>
      </p:sp>
      <p:sp>
        <p:nvSpPr>
          <p:cNvPr id="23" name="视频标准化与交叉拟合">
            <a:extLst xmlns:a="http://schemas.openxmlformats.org/drawingml/2006/main">
              <a:ext uri="{FF2B5EF4-FFF2-40B4-BE49-F238E27FC236}">
                <a16:creationId xmlns:a16="http://schemas.microsoft.com/office/drawing/2014/main" id="{DD32F27C-BCE3-4B91-8855-C5BFF0BE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视频标准化与交叉拟合</a:t>
            </a:r>
          </a:p>
        </p:txBody>
      </p:sp>
      <p:sp>
        <p:nvSpPr>
          <p:cNvPr id="24" name="temporal/emissions.py:16, 96">
            <a:extLst xmlns:a="http://schemas.openxmlformats.org/drawingml/2006/main">
              <a:ext uri="{FF2B5EF4-FFF2-40B4-BE49-F238E27FC236}">
                <a16:creationId xmlns:a16="http://schemas.microsoft.com/office/drawing/2014/main" id="{535997DF-D207-4071-9BEE-8E795084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643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temporal/emissions.py:16, 96</a:t>
            </a:r>
          </a:p>
        </p:txBody>
      </p:sp>
      <p:sp>
        <p:nvSpPr>
          <p:cNvPr id="25" name="51 维输入构造">
            <a:extLst xmlns:a="http://schemas.openxmlformats.org/drawingml/2006/main">
              <a:ext uri="{FF2B5EF4-FFF2-40B4-BE49-F238E27FC236}">
                <a16:creationId xmlns:a16="http://schemas.microsoft.com/office/drawing/2014/main" id="{DE4E9B6E-2163-44C0-AFD3-CEBF727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52875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51 维输入构造</a:t>
            </a:r>
          </a:p>
        </p:txBody>
      </p:sp>
      <p:sp>
        <p:nvSpPr>
          <p:cNvPr id="26" name="temporal/tcn.py:158">
            <a:extLst xmlns:a="http://schemas.openxmlformats.org/drawingml/2006/main">
              <a:ext uri="{FF2B5EF4-FFF2-40B4-BE49-F238E27FC236}">
                <a16:creationId xmlns:a16="http://schemas.microsoft.com/office/drawing/2014/main" id="{F9547AC8-8913-42FF-BAE8-FAF84D6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643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temporal/tcn.py:158</a:t>
            </a:r>
          </a:p>
        </p:txBody>
      </p:sp>
      <p:sp>
        <p:nvSpPr>
          <p:cNvPr id="27" name="两级网络、损失与集成">
            <a:extLst xmlns:a="http://schemas.openxmlformats.org/drawingml/2006/main">
              <a:ext uri="{FF2B5EF4-FFF2-40B4-BE49-F238E27FC236}">
                <a16:creationId xmlns:a16="http://schemas.microsoft.com/office/drawing/2014/main" id="{77C0F0DF-06A3-4B87-B617-724F888F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14875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两级网络、损失与集成</a:t>
            </a:r>
          </a:p>
        </p:txBody>
      </p:sp>
      <p:sp>
        <p:nvSpPr>
          <p:cNvPr id="28" name="temporal/tcn.py:131, 240, 257">
            <a:extLst xmlns:a="http://schemas.openxmlformats.org/drawingml/2006/main">
              <a:ext uri="{FF2B5EF4-FFF2-40B4-BE49-F238E27FC236}">
                <a16:creationId xmlns:a16="http://schemas.microsoft.com/office/drawing/2014/main" id="{F3A7F03D-C51C-4076-9C78-E9F2DCB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38725"/>
            <a:ext cx="643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temporal/tcn.py:131, 240, 257</a:t>
            </a:r>
          </a:p>
        </p:txBody>
      </p:sp>
      <p:sp>
        <p:nvSpPr>
          <p:cNvPr id="29" name="规则读取与精确解码">
            <a:extLst xmlns:a="http://schemas.openxmlformats.org/drawingml/2006/main">
              <a:ext uri="{FF2B5EF4-FFF2-40B4-BE49-F238E27FC236}">
                <a16:creationId xmlns:a16="http://schemas.microsoft.com/office/drawing/2014/main" id="{B40C821B-DD61-4E02-8BD6-3AE36C4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76875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规则读取与精确解码</a:t>
            </a:r>
          </a:p>
        </p:txBody>
      </p:sp>
      <p:sp>
        <p:nvSpPr>
          <p:cNvPr id="30" name="temporal/constraints.py:39, 62">
            <a:extLst xmlns:a="http://schemas.openxmlformats.org/drawingml/2006/main">
              <a:ext uri="{FF2B5EF4-FFF2-40B4-BE49-F238E27FC236}">
                <a16:creationId xmlns:a16="http://schemas.microsoft.com/office/drawing/2014/main" id="{3DA9766A-9AA1-438F-807E-78B228E0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00725"/>
            <a:ext cx="643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temporal/constraints.py:39, 62</a:t>
            </a:r>
          </a:p>
        </p:txBody>
      </p:sp>
      <p:sp>
        <p:nvSpPr>
          <p:cNvPr id="31" name="最终拟合与推理">
            <a:extLst xmlns:a="http://schemas.openxmlformats.org/drawingml/2006/main">
              <a:ext uri="{FF2B5EF4-FFF2-40B4-BE49-F238E27FC236}">
                <a16:creationId xmlns:a16="http://schemas.microsoft.com/office/drawing/2014/main" id="{8D5283A1-2C54-4750-8C4D-5EE786A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38875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最终拟合与推理</a:t>
            </a:r>
          </a:p>
        </p:txBody>
      </p:sp>
      <p:sp>
        <p:nvSpPr>
          <p:cNvPr id="32" name="temporal/submission.py:93, 184">
            <a:extLst xmlns:a="http://schemas.openxmlformats.org/drawingml/2006/main">
              <a:ext uri="{FF2B5EF4-FFF2-40B4-BE49-F238E27FC236}">
                <a16:creationId xmlns:a16="http://schemas.microsoft.com/office/drawing/2014/main" id="{E190D322-8256-4A58-82F2-ECD5E695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62725"/>
            <a:ext cx="643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temporal/submission.py:93, 184</a:t>
            </a:r>
          </a:p>
        </p:txBody>
      </p:sp>
      <p:sp>
        <p:nvSpPr>
          <p:cNvPr id="33" name="Advanced 边界与分段导出">
            <a:extLst xmlns:a="http://schemas.openxmlformats.org/drawingml/2006/main">
              <a:ext uri="{FF2B5EF4-FFF2-40B4-BE49-F238E27FC236}">
                <a16:creationId xmlns:a16="http://schemas.microsoft.com/office/drawing/2014/main" id="{22D99615-D0BF-4596-B91D-55245ED8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000875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42"/>
                </a:solidFill>
                <a:latin typeface="Microsoft YaHei"/>
                <a:ea typeface="Microsoft YaHei"/>
                <a:cs typeface="Microsoft YaHei"/>
              </a:rPr>
              <a:t>Advanced 边界与分段导出</a:t>
            </a:r>
          </a:p>
        </p:txBody>
      </p:sp>
      <p:sp>
        <p:nvSpPr>
          <p:cNvPr id="34" name="temporal/boundary.py:8&#10;temporal/submission.py:22">
            <a:extLst xmlns:a="http://schemas.openxmlformats.org/drawingml/2006/main">
              <a:ext uri="{FF2B5EF4-FFF2-40B4-BE49-F238E27FC236}">
                <a16:creationId xmlns:a16="http://schemas.microsoft.com/office/drawing/2014/main" id="{500DCBA7-58D4-4A62-99F1-C6CD8CE5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324725"/>
            <a:ext cx="643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temporal/boundary.py:8</a:t>
            </a:r>
          </a:p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temporal/submission.py:224</a:t>
            </a:r>
          </a:p>
        </p:txBody>
      </p:sp>
      <p:sp>
        <p:nvSpPr>
          <p:cNvPr id="35" name="正文页备注附有对应代码位置、完整文献链接及实现细节">
            <a:extLst xmlns:a="http://schemas.openxmlformats.org/drawingml/2006/main">
              <a:ext uri="{FF2B5EF4-FFF2-40B4-BE49-F238E27FC236}">
                <a16:creationId xmlns:a16="http://schemas.microsoft.com/office/drawing/2014/main" id="{C6C62C90-2631-4F25-8507-82306FC6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9152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17D"/>
                </a:solidFill>
                <a:latin typeface="Microsoft YaHei"/>
                <a:ea typeface="Microsoft YaHei"/>
                <a:cs typeface="Microsoft YaHei"/>
              </a:rPr>
              <a:t>正文页备注附有对应代码位置、完整文献链接及实现细节</a:t>
            </a:r>
          </a:p>
        </p:txBody>
      </p:sp>
    </p:spTree>
    <p:extLst>
      <p:ext uri="{BB962C8B-B14F-4D97-AF65-F5344CB8AC3E}">
        <p14:creationId xmlns:p14="http://schemas.microsoft.com/office/powerpoint/2010/main" val="620015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2026-10-07T04:24:10.6430000Z</dcterms:created>
  <dcterms:modified xsi:type="dcterms:W3CDTF">2026-10-07T04:24:10.6430000Z</dcterms:modified>
</coreProperties>
</file>